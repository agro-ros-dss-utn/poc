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92" r:id="rId8"/>
    <p:sldId id="293"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9" r:id="rId35"/>
    <p:sldId id="288" r:id="rId36"/>
    <p:sldId id="290" r:id="rId37"/>
    <p:sldId id="291"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 de desarrolladores que lo usan</c:v>
                </c:pt>
              </c:strCache>
            </c:strRef>
          </c:tx>
          <c:spPr>
            <a:solidFill>
              <a:srgbClr val="42B883"/>
            </a:solidFill>
            <a:effectLst/>
          </c:spPr>
          <c:invertIfNegative val="0"/>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React</c:v>
                </c:pt>
                <c:pt idx="1">
                  <c:v>Angular</c:v>
                </c:pt>
                <c:pt idx="2">
                  <c:v>Vue.js</c:v>
                </c:pt>
                <c:pt idx="3">
                  <c:v>Svelte</c:v>
                </c:pt>
              </c:strCache>
            </c:strRef>
          </c:cat>
          <c:val>
            <c:numRef>
              <c:f>Sheet1!$B$2:$B$5</c:f>
              <c:numCache>
                <c:formatCode>General</c:formatCode>
                <c:ptCount val="4"/>
                <c:pt idx="0">
                  <c:v>44.7</c:v>
                </c:pt>
                <c:pt idx="1">
                  <c:v>18.2</c:v>
                </c:pt>
                <c:pt idx="2">
                  <c:v>17.600000000000001</c:v>
                </c:pt>
                <c:pt idx="3">
                  <c:v>7.2</c:v>
                </c:pt>
              </c:numCache>
            </c:numRef>
          </c:val>
          <c:extLst>
            <c:ext xmlns:c16="http://schemas.microsoft.com/office/drawing/2014/chart" uri="{C3380CC4-5D6E-409C-BE32-E72D297353CC}">
              <c16:uniqueId val="{00000000-DD06-491F-9D36-1DF483258D5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9525" cap="flat">
              <a:solidFill>
                <a:srgbClr val="E3E9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majorUnit val="1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Tamaño runtime aprox. (KB, minificado + gzip)</c:v>
                </c:pt>
              </c:strCache>
            </c:strRef>
          </c:tx>
          <c:spPr>
            <a:solidFill>
              <a:srgbClr val="42B883"/>
            </a:solidFill>
            <a:effectLst/>
          </c:spPr>
          <c:invertIfNegative val="0"/>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Vue 3 (VDOM)</c:v>
                </c:pt>
                <c:pt idx="1">
                  <c:v>Vue 3.6 Vapor</c:v>
                </c:pt>
                <c:pt idx="2">
                  <c:v>React + ReactDOM</c:v>
                </c:pt>
              </c:strCache>
            </c:strRef>
          </c:cat>
          <c:val>
            <c:numRef>
              <c:f>Sheet1!$B$2:$B$4</c:f>
              <c:numCache>
                <c:formatCode>General</c:formatCode>
                <c:ptCount val="3"/>
                <c:pt idx="0">
                  <c:v>34</c:v>
                </c:pt>
                <c:pt idx="1">
                  <c:v>10</c:v>
                </c:pt>
                <c:pt idx="2">
                  <c:v>45</c:v>
                </c:pt>
              </c:numCache>
            </c:numRef>
          </c:val>
          <c:extLst>
            <c:ext xmlns:c16="http://schemas.microsoft.com/office/drawing/2014/chart" uri="{C3380CC4-5D6E-409C-BE32-E72D297353CC}">
              <c16:uniqueId val="{00000000-75CC-477F-BC1B-DDC121F938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Millones de descargas / semana</c:v>
                </c:pt>
              </c:strCache>
            </c:strRef>
          </c:tx>
          <c:spPr>
            <a:solidFill>
              <a:srgbClr val="61DAFB"/>
            </a:solidFill>
            <a:effectLst/>
          </c:spPr>
          <c:invertIfNegative val="0"/>
          <c:dPt>
            <c:idx val="0"/>
            <c:invertIfNegative val="0"/>
            <c:bubble3D val="0"/>
            <c:extLst>
              <c:ext xmlns:c16="http://schemas.microsoft.com/office/drawing/2014/chart" uri="{C3380CC4-5D6E-409C-BE32-E72D297353CC}">
                <c16:uniqueId val="{00000001-D2A0-4BB3-81FB-72B5A5F2607C}"/>
              </c:ext>
            </c:extLst>
          </c:dPt>
          <c:dPt>
            <c:idx val="1"/>
            <c:invertIfNegative val="0"/>
            <c:bubble3D val="0"/>
            <c:extLst>
              <c:ext xmlns:c16="http://schemas.microsoft.com/office/drawing/2014/chart" uri="{C3380CC4-5D6E-409C-BE32-E72D297353CC}">
                <c16:uniqueId val="{00000003-D2A0-4BB3-81FB-72B5A5F2607C}"/>
              </c:ext>
            </c:extLst>
          </c:dPt>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React</c:v>
                </c:pt>
                <c:pt idx="1">
                  <c:v>Vue.js</c:v>
                </c:pt>
              </c:strCache>
            </c:strRef>
          </c:cat>
          <c:val>
            <c:numRef>
              <c:f>Sheet1!$B$2:$B$3</c:f>
              <c:numCache>
                <c:formatCode>General</c:formatCode>
                <c:ptCount val="2"/>
                <c:pt idx="0">
                  <c:v>85</c:v>
                </c:pt>
                <c:pt idx="1">
                  <c:v>8.6999999999999993</c:v>
                </c:pt>
              </c:numCache>
            </c:numRef>
          </c:val>
          <c:extLst>
            <c:ext xmlns:c16="http://schemas.microsoft.com/office/drawing/2014/chart" uri="{C3380CC4-5D6E-409C-BE32-E72D297353CC}">
              <c16:uniqueId val="{00000004-D2A0-4BB3-81FB-72B5A5F260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148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Presenta el recorrido completo: 4 bloques de aprox. 10 min, uno por integrante. Aclarar que al final hay conclusión general conjunta con el grupo de React y espacio de preguntas.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Mateo explica el objetivo declarado en el TP: dar una propuesta clara de qué se compara y con qué fin, siguiendo el punto 1 de la consigna (Definir una propuesta).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Contexto general antes de entrar en Vue puntualmente: por qué existen los frameworks de frontend y qué necesidad cubren.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Fuente: Stack Overflow Developer Survey 2025, vía compilación histórica de gist.github.com/tkrotoff. Aclarar que es la última edición publicada al momento de esta PoC.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Recorrido histórico: Evan You crea Vue en 2014 mientras trabajaba en Google con AngularJS, buscando algo más liviano. Vue 2 en 2016 lo consolida. Vue 3 en 2020 es una reescritura completa. Vue 2 llega a EOL en 2023. Vue 3.6 en 2026 introduce Vapor Mode, que se detalla en el bloque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BFA4F-75D0-F18D-294E-25654357D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EA570-2CC6-0C3B-AE58-FEB91C9784F0}"/>
              </a:ext>
            </a:extLst>
          </p:cNvPr>
          <p:cNvSpPr>
            <a:spLocks noGrp="1" noRot="1" noChangeAspect="1"/>
          </p:cNvSpPr>
          <p:nvPr>
            <p:ph type="sldImg"/>
          </p:nvPr>
        </p:nvSpPr>
        <p:spPr/>
        <p:txBody>
          <a:bodyPr/>
          <a:lstStyle/>
          <a:p>
            <a:endParaRPr lang="es-AR"/>
          </a:p>
        </p:txBody>
      </p:sp>
      <p:sp>
        <p:nvSpPr>
          <p:cNvPr id="3" name="Notes Placeholder 2">
            <a:extLst>
              <a:ext uri="{FF2B5EF4-FFF2-40B4-BE49-F238E27FC236}">
                <a16:creationId xmlns:a16="http://schemas.microsoft.com/office/drawing/2014/main" id="{570206D8-06A6-75E7-79F3-BED5D4D370A4}"/>
              </a:ext>
            </a:extLst>
          </p:cNvPr>
          <p:cNvSpPr>
            <a:spLocks noGrp="1"/>
          </p:cNvSpPr>
          <p:nvPr>
            <p:ph type="body" idx="1"/>
          </p:nvPr>
        </p:nvSpPr>
        <p:spPr/>
        <p:txBody>
          <a:bodyPr/>
          <a:lstStyle/>
          <a:p>
            <a:r>
              <a:rPr lang="en-US" dirty="0"/>
              <a:t>Recorrido histórico: Evan You crea Vue en 2014 mientras trabajaba en Google con AngularJS, buscando algo más liviano. Vue 2 en 2016 lo consolida. Vue 3 en 2020 es una reescritura completa. Vue 2 llega a EOL en 2023. Vue 3.6 en 2026 introduce Vapor Mode, que se detalla en el bloque 3.</a:t>
            </a:r>
          </a:p>
        </p:txBody>
      </p:sp>
      <p:sp>
        <p:nvSpPr>
          <p:cNvPr id="4" name="Slide Number Placeholder 3">
            <a:extLst>
              <a:ext uri="{FF2B5EF4-FFF2-40B4-BE49-F238E27FC236}">
                <a16:creationId xmlns:a16="http://schemas.microsoft.com/office/drawing/2014/main" id="{E27F3E26-F1E2-E517-0896-9036163D19F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96977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Concepto clave: 'progressive framework'. A diferencia de Angular (todo o nada) o de React (requiere decisiones de ecosistema desde el día 1), Vue permite empezar chico y escalar. Mismo conocimiento de base sirve en los 4 escenarios.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Mostrar el ejemplo mínimo de Vue: al hacer click, 'count' cambia y Vue actualiza automáticamente el texto del botón, sin manipular el DOM manualmente. Este es el ejemplo oficial de la documentación de vuejs.org.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Esto responde al punto 2 de la consigna del TP: 'Establecer características de evaluación', combinando aspectos técnicos y de proceso de desarrollo (documentación, comunidad, oferta/demanda de desarrolladores, soporte).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Manuel explica el motor de reactividad: ref para primitivos, reactive para objetos, computed para valores derivados con cache, watch para efectos secundarios. Vue usa Proxies de JS para interceptar lecturas/escrituras.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Ejemplo realista: lista de tareas con v-for, v-model de dos vías en el checkbox, binding de clase condicional y manejo de evento de click. Comparar mentalmente con el equivalente JSX de React (.map + onChange + onClick) que </a:t>
            </a:r>
            <a:r>
              <a:rPr lang="en-US" dirty="0" err="1"/>
              <a:t>mostrará</a:t>
            </a:r>
            <a:r>
              <a:rPr lang="en-US" dirty="0"/>
              <a:t> Victoria más adelante.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Los SFC son el formato recomendado para proyectos con build tool (Vite). Un archivo, un componente: JS, HTML y CSS conviven pero están claramente separados — a diferencia de React, donde JSX mezcla marcado y lógica en el mismo bloque.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Punto importante para la comparación con React: Composition API es conceptualmente similar a los Hooks de React (useState, useEffect) — ambos ecosistemas convergieron hacia lógica basada en funciones componibles.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Comunicación entre componentes: props bajan datos, eventos suben notificaciones ('one-way data flow'), slots permiten inyectar contenido HTML arbitrario dentro de un componente hijo.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Los lifecycle hooks permiten ejecutar código en momentos clave de la vida del componente. onMounted es el más usado en la práctica, típicamente para llamadas a APIs.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Antes de Vue 3, el soporte de TS era limitado (Vue 2 estaba escrito en JS puro). Desde la reescritura, Vue tiene paridad razonable con React + TS, aunque React sigue siendo el estándar de facto en proyectos TS grandes.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es uno de los puntos fuertes de Vue frente a React: el 'core team' mantiene router, estado global y meta-framework de forma oficial, mientras que en React esas piezas son de terceros (React Router, Redux/Zustand, Next.js de Vercel).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Vite (francés: 'rápido') fue creado por el mismo Evan You. Reemplazó a Webpack como estándar del ecosistema Vue y hoy es usado también por muchos proyectos React. Es una de las mejores cartas de presentación del ecosistema Vue.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Nuxt es mantenido por un equipo cercano al core de Vue. Punto de comparación directo con Next.js — vale la pena mencionarlo para tender puente hacia el bloque de comparación de Victoria.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fue el modelo de Vue desde la v2 hasta la v3.5. React funciona de forma conceptualmente similar (Virtual DOM + diffing), aunque con heurísticas distintas. En la próxima slide, Marco presenta el cambio de paradigma que trae Vue 3.6.</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es el punto más 'de actualidad' de toda la charla: Vue 3.6 está en beta durante 2026. Vapor Mode es opt-in y coexiste con el modelo VDOM tradicional. Fuente: benchmarks de la beta de Vue 3.6 reportados en cobertura técnica de junio 2026.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Detalle técnico opcional según el tiempo disponible: se puede simplificar si el bloque va ajustado de tiempo. Lo importante para la comparación con React es que Vue está invirtiendo fuerte en rendimiento en 2026, cerrando la brecha con frameworks 'sin VDOM' como Solid y Svelte.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Aclarar en voz alta que estas cifras son aproximadas / reportadas por terceros, no medidas por el grupo — mantiene la honestidad académica del informe.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Tabla resumen — Victoria puede recorrerla fila por fila brevemente o dejarla como referencia visual mientras profundiza en 2-3 puntos clave en voz alta (curva de aprendizaje y ecosistema son los más relevantes para la audiencia).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Consenso general de la industria (y de los artículos consultados): Vue es más accesible para equipos nuevos o mixtos; React recompensa a equipos con más experiencia y necesidades de escala/flexibilidad.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React domina en volumen absoluto de comunidad y mercado laboral. Vue mantiene una base fiel y estable, con fuerte presencia en Asia (China especialmente) y creciente en Europa. Fuente: artículos de cobertura técnica 2026 citando npm trends y Stack Overflow 2025.</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Ejemplos ilustrativos citados en cobertura técnica reciente, no verificados exhaustivamente por el grupo caso por caso — presentarlos como referencia de tendencia, no como dato absoluto verificado en la fuente primaria de cada empresa.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Cerrar este punto con honestidad: no es 'cuál es mejor' en abstracto, sino 'cuál conviene según el objetivo' (aprender rápido vs. maximizar empleabilidad inmediata).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Resumen honesto antes de la conclusión general — evitar sonar como 'vendiendo' Vue; el objetivo de la PoC es evidencia, no promoción.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Segunda demo, opcional si hay tiempo: abrir demo/buscador_filtro.html y escribir en el buscador (por ejemplo 'router') para mostrar cómo la lista se filtra sola en cada tecleo, y después tocar un chip de categoría para mostrar que ambos filtros se combinan en el mismo computed(). También existe la versión en componentes separados (demo/buscador-filtro/, proyecto Vite) para mostrar cómo se organiza en carpetas un proyecto Vue real.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Cierre del bloque de Victoria antes de pasar a la conclusión CONJUNTA con el grupo de React (que sigue el guion general de la PoC) y al espacio de preguntas.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Cierre del bloque Vue. A continuación, según el cronograma del TP, sigue la conclusión general conjunta con el grupo de React y el espacio de preguntas compartido.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6.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5.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16202A"/>
          </a:solidFill>
          <a:ln/>
        </p:spPr>
        <p:txBody>
          <a:bodyPr/>
          <a:lstStyle/>
          <a:p>
            <a:endParaRPr lang="es-AR"/>
          </a:p>
        </p:txBody>
      </p:sp>
      <p:sp>
        <p:nvSpPr>
          <p:cNvPr id="3" name="Shape 1"/>
          <p:cNvSpPr/>
          <p:nvPr/>
        </p:nvSpPr>
        <p:spPr>
          <a:xfrm>
            <a:off x="10607040" y="4206240"/>
            <a:ext cx="2926080" cy="2926080"/>
          </a:xfrm>
          <a:prstGeom prst="ellipse">
            <a:avLst/>
          </a:prstGeom>
          <a:solidFill>
            <a:srgbClr val="16202A"/>
          </a:solidFill>
          <a:ln/>
        </p:spPr>
        <p:txBody>
          <a:bodyPr/>
          <a:lstStyle/>
          <a:p>
            <a:endParaRPr lang="es-AR"/>
          </a:p>
        </p:txBody>
      </p:sp>
      <p:pic>
        <p:nvPicPr>
          <p:cNvPr id="4" name="Image 0" descr="/home/claude/vue-poc/assets/icons/vue_white.png"/>
          <p:cNvPicPr>
            <a:picLocks noChangeAspect="1"/>
          </p:cNvPicPr>
          <p:nvPr/>
        </p:nvPicPr>
        <p:blipFill>
          <a:blip r:embed="rId3"/>
          <a:stretch>
            <a:fillRect/>
          </a:stretch>
        </p:blipFill>
        <p:spPr>
          <a:xfrm>
            <a:off x="548640" y="685800"/>
            <a:ext cx="777240" cy="777240"/>
          </a:xfrm>
          <a:prstGeom prst="rect">
            <a:avLst/>
          </a:prstGeom>
        </p:spPr>
      </p:pic>
      <p:sp>
        <p:nvSpPr>
          <p:cNvPr id="5" name="Text 2"/>
          <p:cNvSpPr txBox="1"/>
          <p:nvPr/>
        </p:nvSpPr>
        <p:spPr>
          <a:xfrm>
            <a:off x="1508760" y="713232"/>
            <a:ext cx="8229600" cy="365760"/>
          </a:xfrm>
          <a:prstGeom prst="rect">
            <a:avLst/>
          </a:prstGeom>
          <a:noFill/>
          <a:ln/>
        </p:spPr>
        <p:txBody>
          <a:bodyPr wrap="square" lIns="0" tIns="0" rIns="0" bIns="0" rtlCol="0" anchor="ctr"/>
          <a:lstStyle/>
          <a:p>
            <a:pPr marL="0" indent="0">
              <a:buNone/>
            </a:pPr>
            <a:r>
              <a:rPr lang="en-US" sz="1300" b="1" kern="0" spc="200" dirty="0">
                <a:solidFill>
                  <a:srgbClr val="42B883"/>
                </a:solidFill>
                <a:latin typeface="Calibri" pitchFamily="34" charset="0"/>
                <a:ea typeface="Calibri" pitchFamily="34" charset="-122"/>
                <a:cs typeface="Calibri" pitchFamily="34" charset="-120"/>
              </a:rPr>
              <a:t>PRUEBA DE CONCEPTO  ·  DESARROLLO DE SOFTWARE</a:t>
            </a:r>
            <a:endParaRPr lang="en-US" sz="1300" dirty="0"/>
          </a:p>
        </p:txBody>
      </p:sp>
      <p:sp>
        <p:nvSpPr>
          <p:cNvPr id="6" name="Text 3"/>
          <p:cNvSpPr txBox="1"/>
          <p:nvPr/>
        </p:nvSpPr>
        <p:spPr>
          <a:xfrm>
            <a:off x="708660" y="1490472"/>
            <a:ext cx="9144000" cy="137160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Vue.js</a:t>
            </a:r>
            <a:endParaRPr lang="en-US" sz="6800" dirty="0"/>
          </a:p>
        </p:txBody>
      </p:sp>
      <p:sp>
        <p:nvSpPr>
          <p:cNvPr id="7" name="Text 4"/>
          <p:cNvSpPr txBox="1"/>
          <p:nvPr/>
        </p:nvSpPr>
        <p:spPr>
          <a:xfrm>
            <a:off x="369055" y="2957507"/>
            <a:ext cx="11453890" cy="640080"/>
          </a:xfrm>
          <a:prstGeom prst="rect">
            <a:avLst/>
          </a:prstGeom>
          <a:noFill/>
          <a:ln/>
        </p:spPr>
        <p:txBody>
          <a:bodyPr wrap="square" lIns="0" tIns="0" rIns="0" bIns="0" rtlCol="0" anchor="ctr"/>
          <a:lstStyle/>
          <a:p>
            <a:pPr marL="0" indent="0">
              <a:buNone/>
            </a:pPr>
            <a:r>
              <a:rPr lang="en-US" sz="2400" dirty="0">
                <a:solidFill>
                  <a:srgbClr val="C9D6D3"/>
                </a:solidFill>
                <a:latin typeface="Calibri" pitchFamily="34" charset="0"/>
                <a:ea typeface="Calibri" pitchFamily="34" charset="-122"/>
                <a:cs typeface="Calibri" pitchFamily="34" charset="-120"/>
              </a:rPr>
              <a:t>Un framework progresivo para interfaces modernas — evaluado en comparación con React</a:t>
            </a:r>
            <a:endParaRPr lang="en-US" sz="2400" dirty="0"/>
          </a:p>
        </p:txBody>
      </p:sp>
      <p:pic>
        <p:nvPicPr>
          <p:cNvPr id="8" name="Image 1" descr="/home/claude/vue-poc/assets/icons/react.png"/>
          <p:cNvPicPr>
            <a:picLocks noChangeAspect="1"/>
          </p:cNvPicPr>
          <p:nvPr/>
        </p:nvPicPr>
        <p:blipFill>
          <a:blip r:embed="rId4"/>
          <a:stretch>
            <a:fillRect/>
          </a:stretch>
        </p:blipFill>
        <p:spPr>
          <a:xfrm>
            <a:off x="548640" y="3847482"/>
            <a:ext cx="678798" cy="678798"/>
          </a:xfrm>
          <a:prstGeom prst="rect">
            <a:avLst/>
          </a:prstGeom>
        </p:spPr>
      </p:pic>
      <p:sp>
        <p:nvSpPr>
          <p:cNvPr id="9" name="Text 5"/>
          <p:cNvSpPr txBox="1"/>
          <p:nvPr/>
        </p:nvSpPr>
        <p:spPr>
          <a:xfrm>
            <a:off x="1383545" y="4000500"/>
            <a:ext cx="2076347" cy="365760"/>
          </a:xfrm>
          <a:prstGeom prst="rect">
            <a:avLst/>
          </a:prstGeom>
          <a:noFill/>
          <a:ln/>
        </p:spPr>
        <p:txBody>
          <a:bodyPr wrap="square" lIns="0" tIns="0" rIns="0" bIns="0" rtlCol="0" anchor="ctr"/>
          <a:lstStyle/>
          <a:p>
            <a:pPr marL="0" indent="0">
              <a:buNone/>
            </a:pPr>
            <a:r>
              <a:rPr lang="en-US" dirty="0">
                <a:solidFill>
                  <a:srgbClr val="8FA3A0"/>
                </a:solidFill>
                <a:latin typeface="Calibri" pitchFamily="34" charset="0"/>
                <a:ea typeface="Calibri" pitchFamily="34" charset="-122"/>
                <a:cs typeface="Calibri" pitchFamily="34" charset="-120"/>
              </a:rPr>
              <a:t>Vue.js  vs  React</a:t>
            </a:r>
            <a:endParaRPr lang="en-US" dirty="0"/>
          </a:p>
        </p:txBody>
      </p:sp>
      <p:sp>
        <p:nvSpPr>
          <p:cNvPr id="10" name="Text 6"/>
          <p:cNvSpPr txBox="1"/>
          <p:nvPr/>
        </p:nvSpPr>
        <p:spPr>
          <a:xfrm>
            <a:off x="548640" y="5074920"/>
            <a:ext cx="3657600" cy="274320"/>
          </a:xfrm>
          <a:prstGeom prst="rect">
            <a:avLst/>
          </a:prstGeom>
          <a:noFill/>
          <a:ln/>
        </p:spPr>
        <p:txBody>
          <a:bodyPr wrap="square" lIns="0" tIns="0" rIns="0" bIns="0" rtlCol="0" anchor="ctr"/>
          <a:lstStyle/>
          <a:p>
            <a:pPr marL="0" indent="0">
              <a:buNone/>
            </a:pPr>
            <a:r>
              <a:rPr lang="en-US" sz="1200" b="1" kern="0" spc="200" dirty="0">
                <a:solidFill>
                  <a:srgbClr val="42B883"/>
                </a:solidFill>
                <a:latin typeface="Calibri" pitchFamily="34" charset="0"/>
                <a:ea typeface="Calibri" pitchFamily="34" charset="-122"/>
                <a:cs typeface="Calibri" pitchFamily="34" charset="-120"/>
              </a:rPr>
              <a:t>INTEGRANTES</a:t>
            </a:r>
            <a:endParaRPr lang="en-US" sz="1200" dirty="0"/>
          </a:p>
        </p:txBody>
      </p:sp>
      <p:sp>
        <p:nvSpPr>
          <p:cNvPr id="11" name="Text 7"/>
          <p:cNvSpPr txBox="1"/>
          <p:nvPr/>
        </p:nvSpPr>
        <p:spPr>
          <a:xfrm>
            <a:off x="548640" y="5440680"/>
            <a:ext cx="3154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Mateo Jager</a:t>
            </a:r>
            <a:endParaRPr lang="en-US" sz="1600" dirty="0"/>
          </a:p>
        </p:txBody>
      </p:sp>
      <p:sp>
        <p:nvSpPr>
          <p:cNvPr id="12" name="Text 8"/>
          <p:cNvSpPr txBox="1"/>
          <p:nvPr/>
        </p:nvSpPr>
        <p:spPr>
          <a:xfrm>
            <a:off x="3794760" y="5440680"/>
            <a:ext cx="3154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Manuel Fernandez Gonzalez</a:t>
            </a:r>
            <a:endParaRPr lang="en-US" sz="1600" dirty="0"/>
          </a:p>
        </p:txBody>
      </p:sp>
      <p:sp>
        <p:nvSpPr>
          <p:cNvPr id="13" name="Text 9"/>
          <p:cNvSpPr txBox="1"/>
          <p:nvPr/>
        </p:nvSpPr>
        <p:spPr>
          <a:xfrm>
            <a:off x="548640" y="5824728"/>
            <a:ext cx="3154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Marco Torrezan</a:t>
            </a:r>
            <a:endParaRPr lang="en-US" sz="1600" dirty="0"/>
          </a:p>
        </p:txBody>
      </p:sp>
      <p:sp>
        <p:nvSpPr>
          <p:cNvPr id="14" name="Text 10"/>
          <p:cNvSpPr txBox="1"/>
          <p:nvPr/>
        </p:nvSpPr>
        <p:spPr>
          <a:xfrm>
            <a:off x="3794760" y="5824728"/>
            <a:ext cx="315468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Victoria Oertlin Merini</a:t>
            </a:r>
            <a:endParaRPr lang="en-US" sz="1600" dirty="0"/>
          </a:p>
        </p:txBody>
      </p:sp>
      <p:sp>
        <p:nvSpPr>
          <p:cNvPr id="15" name="Text 11"/>
          <p:cNvSpPr txBox="1"/>
          <p:nvPr/>
        </p:nvSpPr>
        <p:spPr>
          <a:xfrm>
            <a:off x="8092440" y="5074920"/>
            <a:ext cx="3566160" cy="274320"/>
          </a:xfrm>
          <a:prstGeom prst="rect">
            <a:avLst/>
          </a:prstGeom>
          <a:noFill/>
          <a:ln/>
        </p:spPr>
        <p:txBody>
          <a:bodyPr wrap="square" lIns="0" tIns="0" rIns="0" bIns="0" rtlCol="0" anchor="ctr"/>
          <a:lstStyle/>
          <a:p>
            <a:pPr marL="0" indent="0">
              <a:buNone/>
            </a:pPr>
            <a:r>
              <a:rPr lang="en-US" sz="1200" b="1" kern="0" spc="200" dirty="0">
                <a:solidFill>
                  <a:srgbClr val="42B883"/>
                </a:solidFill>
                <a:latin typeface="Calibri" pitchFamily="34" charset="0"/>
                <a:ea typeface="Calibri" pitchFamily="34" charset="-122"/>
                <a:cs typeface="Calibri" pitchFamily="34" charset="-120"/>
              </a:rPr>
              <a:t>CÁTEDRA</a:t>
            </a:r>
            <a:endParaRPr lang="en-US" sz="1200" dirty="0"/>
          </a:p>
        </p:txBody>
      </p:sp>
      <p:sp>
        <p:nvSpPr>
          <p:cNvPr id="16" name="Text 12"/>
          <p:cNvSpPr txBox="1"/>
          <p:nvPr/>
        </p:nvSpPr>
        <p:spPr>
          <a:xfrm>
            <a:off x="8092440" y="5394960"/>
            <a:ext cx="3566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 302 · ISI</a:t>
            </a:r>
            <a:endParaRPr lang="en-US" sz="1300" dirty="0"/>
          </a:p>
        </p:txBody>
      </p:sp>
      <p:sp>
        <p:nvSpPr>
          <p:cNvPr id="17" name="Text 13"/>
          <p:cNvSpPr txBox="1"/>
          <p:nvPr/>
        </p:nvSpPr>
        <p:spPr>
          <a:xfrm>
            <a:off x="8092440" y="5715000"/>
            <a:ext cx="3566160" cy="594360"/>
          </a:xfrm>
          <a:prstGeom prst="rect">
            <a:avLst/>
          </a:prstGeom>
          <a:noFill/>
          <a:ln/>
        </p:spPr>
        <p:txBody>
          <a:bodyPr wrap="square" lIns="0" tIns="0" rIns="0" bIns="0" rtlCol="0" anchor="ctr"/>
          <a:lstStyle/>
          <a:p>
            <a:pPr marL="0" indent="0">
              <a:buNone/>
            </a:pPr>
            <a:r>
              <a:rPr lang="en-US" sz="1150" dirty="0">
                <a:solidFill>
                  <a:srgbClr val="C9D6D3"/>
                </a:solidFill>
                <a:latin typeface="Calibri" pitchFamily="34" charset="0"/>
                <a:ea typeface="Calibri" pitchFamily="34" charset="-122"/>
                <a:cs typeface="Calibri" pitchFamily="34" charset="-120"/>
              </a:rPr>
              <a:t>Prof. Mario Bressano</a:t>
            </a:r>
            <a:endParaRPr lang="en-US" sz="1150" dirty="0"/>
          </a:p>
          <a:p>
            <a:pPr marL="0" indent="0">
              <a:buNone/>
            </a:pPr>
            <a:r>
              <a:rPr lang="en-US" sz="1150" dirty="0">
                <a:solidFill>
                  <a:srgbClr val="C9D6D3"/>
                </a:solidFill>
                <a:latin typeface="Calibri" pitchFamily="34" charset="0"/>
                <a:ea typeface="Calibri" pitchFamily="34" charset="-122"/>
                <a:cs typeface="Calibri" pitchFamily="34" charset="-120"/>
              </a:rPr>
              <a:t>Prof. Gabriel Golzman</a:t>
            </a:r>
            <a:endParaRPr lang="en-US" sz="1150" dirty="0"/>
          </a:p>
        </p:txBody>
      </p:sp>
      <p:sp>
        <p:nvSpPr>
          <p:cNvPr id="18" name="Text 14"/>
          <p:cNvSpPr txBox="1"/>
          <p:nvPr/>
        </p:nvSpPr>
        <p:spPr>
          <a:xfrm>
            <a:off x="8092440" y="6355080"/>
            <a:ext cx="3566160" cy="274320"/>
          </a:xfrm>
          <a:prstGeom prst="rect">
            <a:avLst/>
          </a:prstGeom>
          <a:noFill/>
          <a:ln/>
        </p:spPr>
        <p:txBody>
          <a:bodyPr wrap="square" lIns="0" tIns="0" rIns="0" bIns="0" rtlCol="0" anchor="ctr"/>
          <a:lstStyle/>
          <a:p>
            <a:pPr marL="0" indent="0">
              <a:buNone/>
            </a:pPr>
            <a:r>
              <a:rPr lang="en-US" sz="1050" i="1" dirty="0">
                <a:solidFill>
                  <a:srgbClr val="8FA3A0"/>
                </a:solidFill>
                <a:latin typeface="Calibri" pitchFamily="34" charset="0"/>
                <a:ea typeface="Calibri" pitchFamily="34" charset="-122"/>
                <a:cs typeface="Calibri" pitchFamily="34" charset="-120"/>
              </a:rPr>
              <a:t>Septiembre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RECORRIDO DE LA PRESENTACIÓN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Agenda — 4 </a:t>
            </a:r>
            <a:r>
              <a:rPr lang="en-US" sz="3000" b="1" dirty="0" err="1">
                <a:solidFill>
                  <a:srgbClr val="1E2A33"/>
                </a:solidFill>
                <a:latin typeface="Cambria" pitchFamily="34" charset="0"/>
                <a:ea typeface="Cambria" pitchFamily="34" charset="-122"/>
                <a:cs typeface="Cambria" pitchFamily="34" charset="-120"/>
              </a:rPr>
              <a:t>bloques</a:t>
            </a:r>
            <a:endParaRPr lang="en-US" sz="3000" dirty="0"/>
          </a:p>
        </p:txBody>
      </p:sp>
      <p:sp>
        <p:nvSpPr>
          <p:cNvPr id="4" name="Shape 2"/>
          <p:cNvSpPr/>
          <p:nvPr/>
        </p:nvSpPr>
        <p:spPr>
          <a:xfrm>
            <a:off x="548640" y="1655885"/>
            <a:ext cx="822960" cy="822960"/>
          </a:xfrm>
          <a:prstGeom prst="ellipse">
            <a:avLst/>
          </a:prstGeom>
          <a:solidFill>
            <a:srgbClr val="42B883"/>
          </a:solidFill>
          <a:ln/>
        </p:spPr>
        <p:txBody>
          <a:bodyPr/>
          <a:lstStyle/>
          <a:p>
            <a:endParaRPr lang="es-AR"/>
          </a:p>
        </p:txBody>
      </p:sp>
      <p:pic>
        <p:nvPicPr>
          <p:cNvPr id="5" name="Image 0" descr="/home/claude/vue-poc/assets/icons/book_w.png"/>
          <p:cNvPicPr>
            <a:picLocks noChangeAspect="1"/>
          </p:cNvPicPr>
          <p:nvPr/>
        </p:nvPicPr>
        <p:blipFill>
          <a:blip r:embed="rId3"/>
          <a:stretch>
            <a:fillRect/>
          </a:stretch>
        </p:blipFill>
        <p:spPr>
          <a:xfrm>
            <a:off x="663854" y="1771099"/>
            <a:ext cx="592531" cy="592531"/>
          </a:xfrm>
          <a:prstGeom prst="rect">
            <a:avLst/>
          </a:prstGeom>
        </p:spPr>
      </p:pic>
      <p:sp>
        <p:nvSpPr>
          <p:cNvPr id="6" name="Text 3"/>
          <p:cNvSpPr txBox="1"/>
          <p:nvPr/>
        </p:nvSpPr>
        <p:spPr>
          <a:xfrm>
            <a:off x="1600200" y="1564445"/>
            <a:ext cx="480527" cy="1005840"/>
          </a:xfrm>
          <a:prstGeom prst="rect">
            <a:avLst/>
          </a:prstGeom>
          <a:noFill/>
          <a:ln/>
        </p:spPr>
        <p:txBody>
          <a:bodyPr wrap="square" lIns="0" tIns="0" rIns="0" bIns="0" rtlCol="0" anchor="ctr"/>
          <a:lstStyle/>
          <a:p>
            <a:pPr marL="0" indent="0">
              <a:buNone/>
            </a:pPr>
            <a:r>
              <a:rPr lang="en-US" sz="2600" b="1" dirty="0">
                <a:latin typeface="Cambria" pitchFamily="34" charset="0"/>
                <a:ea typeface="Cambria" pitchFamily="34" charset="-122"/>
                <a:cs typeface="Cambria" pitchFamily="34" charset="-120"/>
              </a:rPr>
              <a:t>01</a:t>
            </a:r>
            <a:endParaRPr lang="en-US" sz="2600" dirty="0"/>
          </a:p>
        </p:txBody>
      </p:sp>
      <p:sp>
        <p:nvSpPr>
          <p:cNvPr id="7" name="Text 4"/>
          <p:cNvSpPr txBox="1"/>
          <p:nvPr/>
        </p:nvSpPr>
        <p:spPr>
          <a:xfrm>
            <a:off x="2423160" y="1691640"/>
            <a:ext cx="5760720" cy="411480"/>
          </a:xfrm>
          <a:prstGeom prst="rect">
            <a:avLst/>
          </a:prstGeom>
          <a:noFill/>
          <a:ln/>
        </p:spPr>
        <p:txBody>
          <a:bodyPr wrap="square" lIns="0" tIns="0" rIns="0" bIns="0" rtlCol="0" anchor="ctr"/>
          <a:lstStyle/>
          <a:p>
            <a:pPr marL="0" indent="0">
              <a:buNone/>
            </a:pPr>
            <a:r>
              <a:rPr lang="en-US" sz="3200" b="1" dirty="0">
                <a:solidFill>
                  <a:srgbClr val="1E2A33"/>
                </a:solidFill>
                <a:latin typeface="Calibri" pitchFamily="34" charset="0"/>
                <a:ea typeface="Calibri" pitchFamily="34" charset="-122"/>
                <a:cs typeface="Calibri" pitchFamily="34" charset="-120"/>
              </a:rPr>
              <a:t>Fundamentos y contexto</a:t>
            </a:r>
            <a:endParaRPr lang="en-US" sz="3200" dirty="0"/>
          </a:p>
        </p:txBody>
      </p:sp>
      <p:sp>
        <p:nvSpPr>
          <p:cNvPr id="8" name="Text 5"/>
          <p:cNvSpPr txBox="1"/>
          <p:nvPr/>
        </p:nvSpPr>
        <p:spPr>
          <a:xfrm>
            <a:off x="2423160" y="2075688"/>
            <a:ext cx="7988166"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Qué es Vue, historia, filosofía "progressive framework" y objetivo de la PoC.</a:t>
            </a:r>
            <a:endParaRPr lang="en-US" dirty="0"/>
          </a:p>
        </p:txBody>
      </p:sp>
      <p:sp>
        <p:nvSpPr>
          <p:cNvPr id="12" name="Shape 9"/>
          <p:cNvSpPr/>
          <p:nvPr/>
        </p:nvSpPr>
        <p:spPr>
          <a:xfrm>
            <a:off x="548640" y="2916936"/>
            <a:ext cx="822960" cy="822960"/>
          </a:xfrm>
          <a:prstGeom prst="ellipse">
            <a:avLst/>
          </a:prstGeom>
          <a:solidFill>
            <a:srgbClr val="42B883"/>
          </a:solidFill>
          <a:ln/>
        </p:spPr>
        <p:txBody>
          <a:bodyPr/>
          <a:lstStyle/>
          <a:p>
            <a:endParaRPr lang="es-AR"/>
          </a:p>
        </p:txBody>
      </p:sp>
      <p:pic>
        <p:nvPicPr>
          <p:cNvPr id="13" name="Image 1" descr="/home/claude/vue-poc/assets/icons/code_w.png"/>
          <p:cNvPicPr>
            <a:picLocks noChangeAspect="1"/>
          </p:cNvPicPr>
          <p:nvPr/>
        </p:nvPicPr>
        <p:blipFill>
          <a:blip r:embed="rId4"/>
          <a:stretch>
            <a:fillRect/>
          </a:stretch>
        </p:blipFill>
        <p:spPr>
          <a:xfrm>
            <a:off x="663854" y="3032150"/>
            <a:ext cx="592531" cy="592531"/>
          </a:xfrm>
          <a:prstGeom prst="rect">
            <a:avLst/>
          </a:prstGeom>
        </p:spPr>
      </p:pic>
      <p:sp>
        <p:nvSpPr>
          <p:cNvPr id="14" name="Text 10"/>
          <p:cNvSpPr txBox="1"/>
          <p:nvPr/>
        </p:nvSpPr>
        <p:spPr>
          <a:xfrm>
            <a:off x="1600200" y="2825496"/>
            <a:ext cx="480527" cy="1005840"/>
          </a:xfrm>
          <a:prstGeom prst="rect">
            <a:avLst/>
          </a:prstGeom>
          <a:noFill/>
          <a:ln/>
        </p:spPr>
        <p:txBody>
          <a:bodyPr wrap="square" lIns="0" tIns="0" rIns="0" bIns="0" rtlCol="0" anchor="ctr"/>
          <a:lstStyle/>
          <a:p>
            <a:pPr marL="0" indent="0">
              <a:buNone/>
            </a:pPr>
            <a:r>
              <a:rPr lang="en-US" sz="2600" b="1" dirty="0">
                <a:latin typeface="Cambria" pitchFamily="34" charset="0"/>
                <a:ea typeface="Cambria" pitchFamily="34" charset="-122"/>
                <a:cs typeface="Cambria" pitchFamily="34" charset="-120"/>
              </a:rPr>
              <a:t>02</a:t>
            </a:r>
            <a:endParaRPr lang="en-US" sz="2600" dirty="0"/>
          </a:p>
        </p:txBody>
      </p:sp>
      <p:sp>
        <p:nvSpPr>
          <p:cNvPr id="15" name="Text 11"/>
          <p:cNvSpPr txBox="1"/>
          <p:nvPr/>
        </p:nvSpPr>
        <p:spPr>
          <a:xfrm>
            <a:off x="2423160" y="2862072"/>
            <a:ext cx="5760720" cy="411480"/>
          </a:xfrm>
          <a:prstGeom prst="rect">
            <a:avLst/>
          </a:prstGeom>
          <a:noFill/>
          <a:ln/>
        </p:spPr>
        <p:txBody>
          <a:bodyPr wrap="square" lIns="0" tIns="0" rIns="0" bIns="0" rtlCol="0" anchor="ctr"/>
          <a:lstStyle/>
          <a:p>
            <a:pPr marL="0" indent="0">
              <a:buNone/>
            </a:pPr>
            <a:r>
              <a:rPr lang="en-US" sz="3200" b="1" dirty="0">
                <a:solidFill>
                  <a:srgbClr val="1E2A33"/>
                </a:solidFill>
                <a:latin typeface="Calibri" pitchFamily="34" charset="0"/>
                <a:ea typeface="Calibri" pitchFamily="34" charset="-122"/>
                <a:cs typeface="Calibri" pitchFamily="34" charset="-120"/>
              </a:rPr>
              <a:t>Arquitectura técnica</a:t>
            </a:r>
            <a:endParaRPr lang="en-US" sz="3200" dirty="0"/>
          </a:p>
        </p:txBody>
      </p:sp>
      <p:sp>
        <p:nvSpPr>
          <p:cNvPr id="16" name="Text 12"/>
          <p:cNvSpPr txBox="1"/>
          <p:nvPr/>
        </p:nvSpPr>
        <p:spPr>
          <a:xfrm>
            <a:off x="2423160" y="3246120"/>
            <a:ext cx="8549640"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Reactividad, sintaxis de templates, componentes, Options vs Composition API</a:t>
            </a:r>
            <a:r>
              <a:rPr lang="en-US" sz="2000" dirty="0">
                <a:solidFill>
                  <a:srgbClr val="5B6B73"/>
                </a:solidFill>
                <a:latin typeface="Calibri" pitchFamily="34" charset="0"/>
                <a:ea typeface="Calibri" pitchFamily="34" charset="-122"/>
                <a:cs typeface="Calibri" pitchFamily="34" charset="-120"/>
              </a:rPr>
              <a:t>.</a:t>
            </a:r>
            <a:endParaRPr lang="en-US" sz="2000" dirty="0"/>
          </a:p>
        </p:txBody>
      </p:sp>
      <p:sp>
        <p:nvSpPr>
          <p:cNvPr id="20" name="Shape 16"/>
          <p:cNvSpPr/>
          <p:nvPr/>
        </p:nvSpPr>
        <p:spPr>
          <a:xfrm>
            <a:off x="548640" y="4096512"/>
            <a:ext cx="822960" cy="822960"/>
          </a:xfrm>
          <a:prstGeom prst="ellipse">
            <a:avLst/>
          </a:prstGeom>
          <a:solidFill>
            <a:srgbClr val="42B883"/>
          </a:solidFill>
          <a:ln/>
        </p:spPr>
        <p:txBody>
          <a:bodyPr/>
          <a:lstStyle/>
          <a:p>
            <a:endParaRPr lang="es-AR"/>
          </a:p>
        </p:txBody>
      </p:sp>
      <p:pic>
        <p:nvPicPr>
          <p:cNvPr id="21" name="Image 2" descr="/home/claude/vue-poc/assets/icons/gears_w.png"/>
          <p:cNvPicPr>
            <a:picLocks noChangeAspect="1"/>
          </p:cNvPicPr>
          <p:nvPr/>
        </p:nvPicPr>
        <p:blipFill>
          <a:blip r:embed="rId5"/>
          <a:stretch>
            <a:fillRect/>
          </a:stretch>
        </p:blipFill>
        <p:spPr>
          <a:xfrm>
            <a:off x="663854" y="4211726"/>
            <a:ext cx="592531" cy="592531"/>
          </a:xfrm>
          <a:prstGeom prst="rect">
            <a:avLst/>
          </a:prstGeom>
        </p:spPr>
      </p:pic>
      <p:sp>
        <p:nvSpPr>
          <p:cNvPr id="22" name="Text 17"/>
          <p:cNvSpPr txBox="1"/>
          <p:nvPr/>
        </p:nvSpPr>
        <p:spPr>
          <a:xfrm>
            <a:off x="1600200" y="4005072"/>
            <a:ext cx="480527" cy="1005840"/>
          </a:xfrm>
          <a:prstGeom prst="rect">
            <a:avLst/>
          </a:prstGeom>
          <a:noFill/>
          <a:ln/>
        </p:spPr>
        <p:txBody>
          <a:bodyPr wrap="square" lIns="0" tIns="0" rIns="0" bIns="0" rtlCol="0" anchor="ctr"/>
          <a:lstStyle/>
          <a:p>
            <a:pPr marL="0" indent="0">
              <a:buNone/>
            </a:pPr>
            <a:r>
              <a:rPr lang="en-US" sz="2600" b="1" dirty="0">
                <a:latin typeface="Cambria" pitchFamily="34" charset="0"/>
                <a:ea typeface="Cambria" pitchFamily="34" charset="-122"/>
                <a:cs typeface="Cambria" pitchFamily="34" charset="-120"/>
              </a:rPr>
              <a:t>03</a:t>
            </a:r>
            <a:endParaRPr lang="en-US" sz="2600" dirty="0"/>
          </a:p>
        </p:txBody>
      </p:sp>
      <p:sp>
        <p:nvSpPr>
          <p:cNvPr id="23" name="Text 18"/>
          <p:cNvSpPr txBox="1"/>
          <p:nvPr/>
        </p:nvSpPr>
        <p:spPr>
          <a:xfrm>
            <a:off x="2423160" y="4032504"/>
            <a:ext cx="5760720" cy="411480"/>
          </a:xfrm>
          <a:prstGeom prst="rect">
            <a:avLst/>
          </a:prstGeom>
          <a:noFill/>
          <a:ln/>
        </p:spPr>
        <p:txBody>
          <a:bodyPr wrap="square" lIns="0" tIns="0" rIns="0" bIns="0" rtlCol="0" anchor="ctr"/>
          <a:lstStyle/>
          <a:p>
            <a:pPr marL="0" indent="0">
              <a:buNone/>
            </a:pPr>
            <a:r>
              <a:rPr lang="en-US" sz="3600" b="1" dirty="0">
                <a:solidFill>
                  <a:srgbClr val="1E2A33"/>
                </a:solidFill>
                <a:latin typeface="Calibri" pitchFamily="34" charset="0"/>
                <a:ea typeface="Calibri" pitchFamily="34" charset="-122"/>
                <a:cs typeface="Calibri" pitchFamily="34" charset="-120"/>
              </a:rPr>
              <a:t>Ecosistema y rendimiento</a:t>
            </a:r>
            <a:endParaRPr lang="en-US" sz="3600" dirty="0"/>
          </a:p>
        </p:txBody>
      </p:sp>
      <p:sp>
        <p:nvSpPr>
          <p:cNvPr id="24" name="Text 19"/>
          <p:cNvSpPr txBox="1"/>
          <p:nvPr/>
        </p:nvSpPr>
        <p:spPr>
          <a:xfrm>
            <a:off x="2423159" y="4416552"/>
            <a:ext cx="7153977"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Vite, Pinia, Nuxt, y las novedades de rendimiento de Vue 3.6 (Vapor Mode).</a:t>
            </a:r>
            <a:endParaRPr lang="en-US" dirty="0"/>
          </a:p>
        </p:txBody>
      </p:sp>
      <p:sp>
        <p:nvSpPr>
          <p:cNvPr id="28" name="Shape 23"/>
          <p:cNvSpPr/>
          <p:nvPr/>
        </p:nvSpPr>
        <p:spPr>
          <a:xfrm>
            <a:off x="548640" y="5212901"/>
            <a:ext cx="822960" cy="822960"/>
          </a:xfrm>
          <a:prstGeom prst="ellipse">
            <a:avLst/>
          </a:prstGeom>
          <a:solidFill>
            <a:srgbClr val="42B883"/>
          </a:solidFill>
          <a:ln/>
        </p:spPr>
        <p:txBody>
          <a:bodyPr/>
          <a:lstStyle/>
          <a:p>
            <a:endParaRPr lang="es-AR"/>
          </a:p>
        </p:txBody>
      </p:sp>
      <p:pic>
        <p:nvPicPr>
          <p:cNvPr id="29" name="Image 3" descr="/home/claude/vue-poc/assets/icons/scale_w.png"/>
          <p:cNvPicPr>
            <a:picLocks noChangeAspect="1"/>
          </p:cNvPicPr>
          <p:nvPr/>
        </p:nvPicPr>
        <p:blipFill>
          <a:blip r:embed="rId6"/>
          <a:stretch>
            <a:fillRect/>
          </a:stretch>
        </p:blipFill>
        <p:spPr>
          <a:xfrm>
            <a:off x="663854" y="5328115"/>
            <a:ext cx="592531" cy="592531"/>
          </a:xfrm>
          <a:prstGeom prst="rect">
            <a:avLst/>
          </a:prstGeom>
        </p:spPr>
      </p:pic>
      <p:sp>
        <p:nvSpPr>
          <p:cNvPr id="30" name="Text 24"/>
          <p:cNvSpPr txBox="1"/>
          <p:nvPr/>
        </p:nvSpPr>
        <p:spPr>
          <a:xfrm>
            <a:off x="1600200" y="5121461"/>
            <a:ext cx="480527" cy="1005840"/>
          </a:xfrm>
          <a:prstGeom prst="rect">
            <a:avLst/>
          </a:prstGeom>
          <a:noFill/>
          <a:ln/>
        </p:spPr>
        <p:txBody>
          <a:bodyPr wrap="square" lIns="0" tIns="0" rIns="0" bIns="0" rtlCol="0" anchor="ctr"/>
          <a:lstStyle/>
          <a:p>
            <a:pPr marL="0" indent="0">
              <a:buNone/>
            </a:pPr>
            <a:r>
              <a:rPr lang="en-US" sz="2600" b="1" dirty="0">
                <a:latin typeface="Cambria" pitchFamily="34" charset="0"/>
                <a:ea typeface="Cambria" pitchFamily="34" charset="-122"/>
                <a:cs typeface="Cambria" pitchFamily="34" charset="-120"/>
              </a:rPr>
              <a:t>04</a:t>
            </a:r>
            <a:endParaRPr lang="en-US" sz="2600" dirty="0"/>
          </a:p>
        </p:txBody>
      </p:sp>
      <p:sp>
        <p:nvSpPr>
          <p:cNvPr id="31" name="Text 25"/>
          <p:cNvSpPr txBox="1"/>
          <p:nvPr/>
        </p:nvSpPr>
        <p:spPr>
          <a:xfrm>
            <a:off x="2423160" y="5202936"/>
            <a:ext cx="5760720" cy="411480"/>
          </a:xfrm>
          <a:prstGeom prst="rect">
            <a:avLst/>
          </a:prstGeom>
          <a:noFill/>
          <a:ln/>
        </p:spPr>
        <p:txBody>
          <a:bodyPr wrap="square" lIns="0" tIns="0" rIns="0" bIns="0" rtlCol="0" anchor="ctr"/>
          <a:lstStyle/>
          <a:p>
            <a:pPr marL="0" indent="0">
              <a:buNone/>
            </a:pPr>
            <a:r>
              <a:rPr lang="en-US" sz="3200" b="1" dirty="0">
                <a:solidFill>
                  <a:srgbClr val="1E2A33"/>
                </a:solidFill>
                <a:latin typeface="Calibri" pitchFamily="34" charset="0"/>
                <a:ea typeface="Calibri" pitchFamily="34" charset="-122"/>
                <a:cs typeface="Calibri" pitchFamily="34" charset="-120"/>
              </a:rPr>
              <a:t>Vue vs React, adopción y demo</a:t>
            </a:r>
            <a:endParaRPr lang="en-US" sz="3200" dirty="0"/>
          </a:p>
        </p:txBody>
      </p:sp>
      <p:sp>
        <p:nvSpPr>
          <p:cNvPr id="32" name="Text 26"/>
          <p:cNvSpPr txBox="1"/>
          <p:nvPr/>
        </p:nvSpPr>
        <p:spPr>
          <a:xfrm>
            <a:off x="2423160" y="5586984"/>
            <a:ext cx="7226166"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Comparación directa, casos reales, mercado laboral, demo y conclusiones.</a:t>
            </a:r>
            <a:endParaRPr lang="en-US" dirty="0"/>
          </a:p>
        </p:txBody>
      </p:sp>
      <p:sp>
        <p:nvSpPr>
          <p:cNvPr id="37" name="Text 3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Introducción</a:t>
            </a:r>
            <a:endParaRPr lang="en-US" sz="1000" dirty="0"/>
          </a:p>
        </p:txBody>
      </p:sp>
      <p:sp>
        <p:nvSpPr>
          <p:cNvPr id="38" name="Text 31"/>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39" name="Text 32"/>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4000" b="1" dirty="0">
                <a:solidFill>
                  <a:srgbClr val="1E2A33"/>
                </a:solidFill>
                <a:latin typeface="Cambria" pitchFamily="34" charset="0"/>
                <a:ea typeface="Cambria" pitchFamily="34" charset="-122"/>
                <a:cs typeface="Cambria" pitchFamily="34" charset="-120"/>
              </a:rPr>
              <a:t>Objetivo de la POC</a:t>
            </a:r>
            <a:endParaRPr lang="en-US" sz="4000" dirty="0"/>
          </a:p>
        </p:txBody>
      </p:sp>
      <p:sp>
        <p:nvSpPr>
          <p:cNvPr id="4" name="Text 2"/>
          <p:cNvSpPr txBox="1"/>
          <p:nvPr/>
        </p:nvSpPr>
        <p:spPr>
          <a:xfrm>
            <a:off x="603690" y="1312079"/>
            <a:ext cx="9948300" cy="137160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Investigar y evaluar Vue.js como alternativa de framework de frontend, comparándolo directamente con React, para determinar en qué escenarios conviene elegir uno u otro.</a:t>
            </a:r>
            <a:endParaRPr lang="en-US" sz="2000" dirty="0"/>
          </a:p>
        </p:txBody>
      </p:sp>
      <p:sp>
        <p:nvSpPr>
          <p:cNvPr id="5" name="Shape 3"/>
          <p:cNvSpPr/>
          <p:nvPr/>
        </p:nvSpPr>
        <p:spPr>
          <a:xfrm>
            <a:off x="548640" y="2761488"/>
            <a:ext cx="949390" cy="951256"/>
          </a:xfrm>
          <a:prstGeom prst="ellipse">
            <a:avLst/>
          </a:prstGeom>
          <a:solidFill>
            <a:srgbClr val="42B883"/>
          </a:solidFill>
          <a:ln/>
        </p:spPr>
        <p:txBody>
          <a:bodyPr/>
          <a:lstStyle/>
          <a:p>
            <a:endParaRPr lang="es-AR"/>
          </a:p>
        </p:txBody>
      </p:sp>
      <p:pic>
        <p:nvPicPr>
          <p:cNvPr id="6" name="Image 0" descr="/home/claude/vue-poc/assets/icons/puzzle_w.png"/>
          <p:cNvPicPr>
            <a:picLocks noChangeAspect="1"/>
          </p:cNvPicPr>
          <p:nvPr/>
        </p:nvPicPr>
        <p:blipFill>
          <a:blip r:embed="rId3"/>
          <a:stretch>
            <a:fillRect/>
          </a:stretch>
        </p:blipFill>
        <p:spPr>
          <a:xfrm>
            <a:off x="764857" y="2867177"/>
            <a:ext cx="684904" cy="684904"/>
          </a:xfrm>
          <a:prstGeom prst="rect">
            <a:avLst/>
          </a:prstGeom>
        </p:spPr>
      </p:pic>
      <p:sp>
        <p:nvSpPr>
          <p:cNvPr id="7" name="Text 4"/>
          <p:cNvSpPr txBox="1"/>
          <p:nvPr/>
        </p:nvSpPr>
        <p:spPr>
          <a:xfrm>
            <a:off x="1615288" y="2835143"/>
            <a:ext cx="9875520" cy="320040"/>
          </a:xfrm>
          <a:prstGeom prst="rect">
            <a:avLst/>
          </a:prstGeom>
          <a:noFill/>
          <a:ln/>
        </p:spPr>
        <p:txBody>
          <a:bodyPr wrap="square" lIns="0" tIns="0" rIns="0" bIns="0" rtlCol="0" anchor="ctr"/>
          <a:lstStyle/>
          <a:p>
            <a:pPr marL="0" indent="0">
              <a:buNone/>
            </a:pPr>
            <a:r>
              <a:rPr lang="en-US" sz="2800" b="1" dirty="0">
                <a:solidFill>
                  <a:srgbClr val="1E2A33"/>
                </a:solidFill>
                <a:latin typeface="Calibri" pitchFamily="34" charset="0"/>
                <a:ea typeface="Calibri" pitchFamily="34" charset="-122"/>
                <a:cs typeface="Calibri" pitchFamily="34" charset="-120"/>
              </a:rPr>
              <a:t>¿Qué comparamos?</a:t>
            </a:r>
            <a:endParaRPr lang="en-US" sz="2800" dirty="0"/>
          </a:p>
        </p:txBody>
      </p:sp>
      <p:sp>
        <p:nvSpPr>
          <p:cNvPr id="8" name="Text 5"/>
          <p:cNvSpPr txBox="1"/>
          <p:nvPr/>
        </p:nvSpPr>
        <p:spPr>
          <a:xfrm>
            <a:off x="1635597" y="3184538"/>
            <a:ext cx="9875520" cy="45720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Curva de aprendizaje, arquitectura, rendimiento, ecosistema y adopción real en la industria</a:t>
            </a:r>
            <a:r>
              <a:rPr lang="en-US" sz="1250" dirty="0">
                <a:solidFill>
                  <a:srgbClr val="5B6B73"/>
                </a:solidFill>
                <a:latin typeface="Calibri" pitchFamily="34" charset="0"/>
                <a:ea typeface="Calibri" pitchFamily="34" charset="-122"/>
                <a:cs typeface="Calibri" pitchFamily="34" charset="-120"/>
              </a:rPr>
              <a:t>.</a:t>
            </a:r>
            <a:endParaRPr lang="en-US" sz="1250" dirty="0"/>
          </a:p>
        </p:txBody>
      </p:sp>
      <p:sp>
        <p:nvSpPr>
          <p:cNvPr id="9" name="Shape 6"/>
          <p:cNvSpPr/>
          <p:nvPr/>
        </p:nvSpPr>
        <p:spPr>
          <a:xfrm>
            <a:off x="548640" y="3892228"/>
            <a:ext cx="949390" cy="951256"/>
          </a:xfrm>
          <a:prstGeom prst="ellipse">
            <a:avLst/>
          </a:prstGeom>
          <a:solidFill>
            <a:srgbClr val="42B883"/>
          </a:solidFill>
          <a:ln/>
        </p:spPr>
        <p:txBody>
          <a:bodyPr/>
          <a:lstStyle/>
          <a:p>
            <a:endParaRPr lang="es-AR"/>
          </a:p>
        </p:txBody>
      </p:sp>
      <p:pic>
        <p:nvPicPr>
          <p:cNvPr id="10" name="Image 1" descr="/home/claude/vue-poc/assets/icons/bulb_w.png"/>
          <p:cNvPicPr>
            <a:picLocks noChangeAspect="1"/>
          </p:cNvPicPr>
          <p:nvPr/>
        </p:nvPicPr>
        <p:blipFill>
          <a:blip r:embed="rId4"/>
          <a:stretch>
            <a:fillRect/>
          </a:stretch>
        </p:blipFill>
        <p:spPr>
          <a:xfrm>
            <a:off x="680883" y="4025404"/>
            <a:ext cx="684904" cy="684904"/>
          </a:xfrm>
          <a:prstGeom prst="rect">
            <a:avLst/>
          </a:prstGeom>
        </p:spPr>
      </p:pic>
      <p:sp>
        <p:nvSpPr>
          <p:cNvPr id="11" name="Text 7"/>
          <p:cNvSpPr txBox="1"/>
          <p:nvPr/>
        </p:nvSpPr>
        <p:spPr>
          <a:xfrm>
            <a:off x="1615288" y="4078224"/>
            <a:ext cx="9875520" cy="320040"/>
          </a:xfrm>
          <a:prstGeom prst="rect">
            <a:avLst/>
          </a:prstGeom>
          <a:noFill/>
          <a:ln/>
        </p:spPr>
        <p:txBody>
          <a:bodyPr wrap="square" lIns="0" tIns="0" rIns="0" bIns="0" rtlCol="0" anchor="ctr"/>
          <a:lstStyle/>
          <a:p>
            <a:pPr marL="0" indent="0">
              <a:buNone/>
            </a:pPr>
            <a:r>
              <a:rPr lang="en-US" sz="2800" b="1" dirty="0">
                <a:solidFill>
                  <a:srgbClr val="1E2A33"/>
                </a:solidFill>
                <a:latin typeface="Calibri" pitchFamily="34" charset="0"/>
                <a:ea typeface="Calibri" pitchFamily="34" charset="-122"/>
                <a:cs typeface="Calibri" pitchFamily="34" charset="-120"/>
              </a:rPr>
              <a:t>¿Para qué?</a:t>
            </a:r>
            <a:endParaRPr lang="en-US" sz="2800" dirty="0"/>
          </a:p>
        </p:txBody>
      </p:sp>
      <p:sp>
        <p:nvSpPr>
          <p:cNvPr id="12" name="Text 8"/>
          <p:cNvSpPr txBox="1"/>
          <p:nvPr/>
        </p:nvSpPr>
        <p:spPr>
          <a:xfrm>
            <a:off x="1635597" y="4398264"/>
            <a:ext cx="9875520" cy="45720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Dar evidencia concreta —no solo teórica— antes de invertir tiempo en adoptar una tecnología.</a:t>
            </a:r>
            <a:endParaRPr lang="en-US" dirty="0"/>
          </a:p>
        </p:txBody>
      </p:sp>
      <p:sp>
        <p:nvSpPr>
          <p:cNvPr id="13" name="Shape 9"/>
          <p:cNvSpPr/>
          <p:nvPr/>
        </p:nvSpPr>
        <p:spPr>
          <a:xfrm>
            <a:off x="548640" y="5094104"/>
            <a:ext cx="949390" cy="951256"/>
          </a:xfrm>
          <a:prstGeom prst="ellipse">
            <a:avLst/>
          </a:prstGeom>
          <a:solidFill>
            <a:srgbClr val="42B883"/>
          </a:solidFill>
          <a:ln/>
        </p:spPr>
        <p:txBody>
          <a:bodyPr/>
          <a:lstStyle/>
          <a:p>
            <a:endParaRPr lang="es-AR"/>
          </a:p>
        </p:txBody>
      </p:sp>
      <p:pic>
        <p:nvPicPr>
          <p:cNvPr id="14" name="Image 2" descr="/home/claude/vue-poc/assets/icons/scale_w.png"/>
          <p:cNvPicPr>
            <a:picLocks noChangeAspect="1"/>
          </p:cNvPicPr>
          <p:nvPr/>
        </p:nvPicPr>
        <p:blipFill>
          <a:blip r:embed="rId5"/>
          <a:stretch>
            <a:fillRect/>
          </a:stretch>
        </p:blipFill>
        <p:spPr>
          <a:xfrm>
            <a:off x="680883" y="5196358"/>
            <a:ext cx="684904" cy="684904"/>
          </a:xfrm>
          <a:prstGeom prst="rect">
            <a:avLst/>
          </a:prstGeom>
        </p:spPr>
      </p:pic>
      <p:sp>
        <p:nvSpPr>
          <p:cNvPr id="15" name="Text 10"/>
          <p:cNvSpPr txBox="1"/>
          <p:nvPr/>
        </p:nvSpPr>
        <p:spPr>
          <a:xfrm>
            <a:off x="1635597" y="5150125"/>
            <a:ext cx="9875520" cy="320040"/>
          </a:xfrm>
          <a:prstGeom prst="rect">
            <a:avLst/>
          </a:prstGeom>
          <a:noFill/>
          <a:ln/>
        </p:spPr>
        <p:txBody>
          <a:bodyPr wrap="square" lIns="0" tIns="0" rIns="0" bIns="0" rtlCol="0" anchor="ctr"/>
          <a:lstStyle/>
          <a:p>
            <a:pPr marL="0" indent="0">
              <a:buNone/>
            </a:pPr>
            <a:r>
              <a:rPr lang="en-US" sz="2800" b="1" dirty="0">
                <a:solidFill>
                  <a:srgbClr val="1E2A33"/>
                </a:solidFill>
                <a:latin typeface="Calibri" pitchFamily="34" charset="0"/>
                <a:ea typeface="Calibri" pitchFamily="34" charset="-122"/>
                <a:cs typeface="Calibri" pitchFamily="34" charset="-120"/>
              </a:rPr>
              <a:t>¿Cómo?</a:t>
            </a:r>
            <a:endParaRPr lang="en-US" sz="2800" dirty="0"/>
          </a:p>
        </p:txBody>
      </p:sp>
      <p:sp>
        <p:nvSpPr>
          <p:cNvPr id="16" name="Text 11"/>
          <p:cNvSpPr txBox="1"/>
          <p:nvPr/>
        </p:nvSpPr>
        <p:spPr>
          <a:xfrm>
            <a:off x="1635597" y="5457792"/>
            <a:ext cx="9875520" cy="45720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Investigación conjunta con el grupo de React + implementación de un proyecto equivalente en ambas</a:t>
            </a:r>
            <a:r>
              <a:rPr lang="en-US" sz="1250" dirty="0">
                <a:solidFill>
                  <a:srgbClr val="5B6B73"/>
                </a:solidFill>
                <a:latin typeface="Calibri" pitchFamily="34" charset="0"/>
                <a:ea typeface="Calibri" pitchFamily="34" charset="-122"/>
                <a:cs typeface="Calibri" pitchFamily="34" charset="-120"/>
              </a:rPr>
              <a:t>.</a:t>
            </a:r>
            <a:endParaRPr lang="en-US" sz="125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5"/>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¿Qué es un framework de frontend?</a:t>
            </a:r>
            <a:endParaRPr lang="en-US" sz="3000" dirty="0"/>
          </a:p>
        </p:txBody>
      </p:sp>
      <p:sp>
        <p:nvSpPr>
          <p:cNvPr id="4" name="Text 2"/>
          <p:cNvSpPr txBox="1"/>
          <p:nvPr/>
        </p:nvSpPr>
        <p:spPr>
          <a:xfrm>
            <a:off x="548640" y="1600200"/>
            <a:ext cx="5394960" cy="173736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Un conjunto de herramientas, convenciones y patrones que estructuran cómo se construye la interfaz de una aplicación web: manejo de estado, actualización del DOM, ruteo y organización en componentes.</a:t>
            </a:r>
            <a:endParaRPr lang="en-US" dirty="0"/>
          </a:p>
        </p:txBody>
      </p:sp>
      <p:sp>
        <p:nvSpPr>
          <p:cNvPr id="5" name="Text 3"/>
          <p:cNvSpPr txBox="1"/>
          <p:nvPr/>
        </p:nvSpPr>
        <p:spPr>
          <a:xfrm>
            <a:off x="548640" y="3474720"/>
            <a:ext cx="5394960" cy="36576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¿Qué problema resuelven?</a:t>
            </a:r>
            <a:endParaRPr lang="en-US" sz="2000" dirty="0"/>
          </a:p>
        </p:txBody>
      </p:sp>
      <p:sp>
        <p:nvSpPr>
          <p:cNvPr id="6" name="Text 4"/>
          <p:cNvSpPr txBox="1"/>
          <p:nvPr/>
        </p:nvSpPr>
        <p:spPr>
          <a:xfrm>
            <a:off x="533400" y="3699774"/>
            <a:ext cx="5771949" cy="2194560"/>
          </a:xfrm>
          <a:prstGeom prst="rect">
            <a:avLst/>
          </a:prstGeom>
          <a:noFill/>
          <a:ln/>
        </p:spPr>
        <p:txBody>
          <a:bodyPr wrap="square" lIns="0" tIns="0" rIns="0" bIns="0" rtlCol="0" anchor="ctr"/>
          <a:lstStyle/>
          <a:p>
            <a:pPr marL="285750" indent="-285750">
              <a:spcAft>
                <a:spcPts val="1000"/>
              </a:spcAft>
              <a:buSzPct val="100000"/>
              <a:buFont typeface="Arial" panose="020B0604020202020204" pitchFamily="34" charset="0"/>
              <a:buChar char="•"/>
            </a:pPr>
            <a:r>
              <a:rPr lang="en-US" sz="2800" dirty="0" err="1"/>
              <a:t>Sincronizacion</a:t>
            </a:r>
            <a:endParaRPr lang="en-US" sz="2800" dirty="0"/>
          </a:p>
          <a:p>
            <a:pPr marL="285750" indent="-285750">
              <a:spcAft>
                <a:spcPts val="1000"/>
              </a:spcAft>
              <a:buSzPct val="100000"/>
              <a:buFont typeface="Arial" panose="020B0604020202020204" pitchFamily="34" charset="0"/>
              <a:buChar char="•"/>
            </a:pPr>
            <a:r>
              <a:rPr lang="en-US" sz="2800" dirty="0"/>
              <a:t>Reutilization</a:t>
            </a:r>
          </a:p>
          <a:p>
            <a:pPr marL="285750" indent="-285750">
              <a:spcAft>
                <a:spcPts val="1000"/>
              </a:spcAft>
              <a:buSzPct val="100000"/>
              <a:buFont typeface="Arial" panose="020B0604020202020204" pitchFamily="34" charset="0"/>
              <a:buChar char="•"/>
            </a:pPr>
            <a:r>
              <a:rPr lang="en-US" sz="2800" dirty="0" err="1"/>
              <a:t>Escalabilidad</a:t>
            </a:r>
            <a:endParaRPr lang="en-US" sz="2800" dirty="0"/>
          </a:p>
        </p:txBody>
      </p:sp>
      <p:sp>
        <p:nvSpPr>
          <p:cNvPr id="7" name="Shape 5"/>
          <p:cNvSpPr/>
          <p:nvPr/>
        </p:nvSpPr>
        <p:spPr>
          <a:xfrm>
            <a:off x="6766560" y="1737360"/>
            <a:ext cx="1554480" cy="1554480"/>
          </a:xfrm>
          <a:prstGeom prst="roundRect">
            <a:avLst>
              <a:gd name="adj" fmla="val 5882"/>
            </a:avLst>
          </a:prstGeom>
          <a:solidFill>
            <a:srgbClr val="F1F6F4"/>
          </a:solidFill>
          <a:ln/>
        </p:spPr>
        <p:txBody>
          <a:bodyPr/>
          <a:lstStyle/>
          <a:p>
            <a:endParaRPr lang="es-AR"/>
          </a:p>
        </p:txBody>
      </p:sp>
      <p:pic>
        <p:nvPicPr>
          <p:cNvPr id="8" name="Image 0" descr="/home/claude/vue-poc/assets/icons/vue.png"/>
          <p:cNvPicPr>
            <a:picLocks noChangeAspect="1"/>
          </p:cNvPicPr>
          <p:nvPr/>
        </p:nvPicPr>
        <p:blipFill>
          <a:blip r:embed="rId3"/>
          <a:stretch>
            <a:fillRect/>
          </a:stretch>
        </p:blipFill>
        <p:spPr>
          <a:xfrm>
            <a:off x="7178040" y="1965960"/>
            <a:ext cx="731520" cy="731520"/>
          </a:xfrm>
          <a:prstGeom prst="rect">
            <a:avLst/>
          </a:prstGeom>
        </p:spPr>
      </p:pic>
      <p:sp>
        <p:nvSpPr>
          <p:cNvPr id="9" name="Text 6"/>
          <p:cNvSpPr txBox="1"/>
          <p:nvPr/>
        </p:nvSpPr>
        <p:spPr>
          <a:xfrm>
            <a:off x="667512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Vue.js</a:t>
            </a:r>
            <a:endParaRPr lang="en-US" sz="1050" dirty="0"/>
          </a:p>
        </p:txBody>
      </p:sp>
      <p:sp>
        <p:nvSpPr>
          <p:cNvPr id="10" name="Shape 7"/>
          <p:cNvSpPr/>
          <p:nvPr/>
        </p:nvSpPr>
        <p:spPr>
          <a:xfrm>
            <a:off x="8549640" y="1737360"/>
            <a:ext cx="1554480" cy="1554480"/>
          </a:xfrm>
          <a:prstGeom prst="roundRect">
            <a:avLst>
              <a:gd name="adj" fmla="val 5882"/>
            </a:avLst>
          </a:prstGeom>
          <a:solidFill>
            <a:srgbClr val="F1F6F4"/>
          </a:solidFill>
          <a:ln/>
        </p:spPr>
        <p:txBody>
          <a:bodyPr/>
          <a:lstStyle/>
          <a:p>
            <a:endParaRPr lang="es-AR"/>
          </a:p>
        </p:txBody>
      </p:sp>
      <p:pic>
        <p:nvPicPr>
          <p:cNvPr id="11" name="Image 1" descr="/home/claude/vue-poc/assets/icons/react.png"/>
          <p:cNvPicPr>
            <a:picLocks noChangeAspect="1"/>
          </p:cNvPicPr>
          <p:nvPr/>
        </p:nvPicPr>
        <p:blipFill>
          <a:blip r:embed="rId4"/>
          <a:stretch>
            <a:fillRect/>
          </a:stretch>
        </p:blipFill>
        <p:spPr>
          <a:xfrm>
            <a:off x="8961120" y="1965960"/>
            <a:ext cx="731520" cy="731520"/>
          </a:xfrm>
          <a:prstGeom prst="rect">
            <a:avLst/>
          </a:prstGeom>
        </p:spPr>
      </p:pic>
      <p:sp>
        <p:nvSpPr>
          <p:cNvPr id="12" name="Text 8"/>
          <p:cNvSpPr txBox="1"/>
          <p:nvPr/>
        </p:nvSpPr>
        <p:spPr>
          <a:xfrm>
            <a:off x="845820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React</a:t>
            </a:r>
            <a:endParaRPr lang="en-US" sz="1050" dirty="0"/>
          </a:p>
        </p:txBody>
      </p:sp>
      <p:sp>
        <p:nvSpPr>
          <p:cNvPr id="13" name="Shape 9"/>
          <p:cNvSpPr/>
          <p:nvPr/>
        </p:nvSpPr>
        <p:spPr>
          <a:xfrm>
            <a:off x="10332720" y="1737360"/>
            <a:ext cx="1554480" cy="1554480"/>
          </a:xfrm>
          <a:prstGeom prst="roundRect">
            <a:avLst>
              <a:gd name="adj" fmla="val 5882"/>
            </a:avLst>
          </a:prstGeom>
          <a:solidFill>
            <a:srgbClr val="F1F6F4"/>
          </a:solidFill>
          <a:ln/>
        </p:spPr>
        <p:txBody>
          <a:bodyPr/>
          <a:lstStyle/>
          <a:p>
            <a:endParaRPr lang="es-AR"/>
          </a:p>
        </p:txBody>
      </p:sp>
      <p:pic>
        <p:nvPicPr>
          <p:cNvPr id="14" name="Image 2" descr="/home/claude/vue-poc/assets/icons/typescript.png"/>
          <p:cNvPicPr>
            <a:picLocks noChangeAspect="1"/>
          </p:cNvPicPr>
          <p:nvPr/>
        </p:nvPicPr>
        <p:blipFill>
          <a:blip r:embed="rId5"/>
          <a:stretch>
            <a:fillRect/>
          </a:stretch>
        </p:blipFill>
        <p:spPr>
          <a:xfrm>
            <a:off x="10744200" y="1965960"/>
            <a:ext cx="731520" cy="731520"/>
          </a:xfrm>
          <a:prstGeom prst="rect">
            <a:avLst/>
          </a:prstGeom>
        </p:spPr>
      </p:pic>
      <p:sp>
        <p:nvSpPr>
          <p:cNvPr id="15" name="Text 10"/>
          <p:cNvSpPr txBox="1"/>
          <p:nvPr/>
        </p:nvSpPr>
        <p:spPr>
          <a:xfrm>
            <a:off x="1024128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 TypeScript</a:t>
            </a:r>
            <a:endParaRPr lang="en-US" sz="1050" dirty="0"/>
          </a:p>
        </p:txBody>
      </p:sp>
      <p:sp>
        <p:nvSpPr>
          <p:cNvPr id="16" name="Shape 11"/>
          <p:cNvSpPr/>
          <p:nvPr/>
        </p:nvSpPr>
        <p:spPr>
          <a:xfrm>
            <a:off x="6766560" y="3520440"/>
            <a:ext cx="4892040" cy="2468880"/>
          </a:xfrm>
          <a:prstGeom prst="roundRect">
            <a:avLst>
              <a:gd name="adj" fmla="val 3704"/>
            </a:avLst>
          </a:prstGeom>
          <a:solidFill>
            <a:srgbClr val="1E2A33"/>
          </a:solidFill>
          <a:ln/>
        </p:spPr>
        <p:txBody>
          <a:bodyPr/>
          <a:lstStyle/>
          <a:p>
            <a:endParaRPr lang="es-AR"/>
          </a:p>
        </p:txBody>
      </p:sp>
      <p:sp>
        <p:nvSpPr>
          <p:cNvPr id="17" name="Text 12"/>
          <p:cNvSpPr txBox="1"/>
          <p:nvPr/>
        </p:nvSpPr>
        <p:spPr>
          <a:xfrm>
            <a:off x="7040880" y="3703320"/>
            <a:ext cx="4343400" cy="2103120"/>
          </a:xfrm>
          <a:prstGeom prst="rect">
            <a:avLst/>
          </a:prstGeom>
          <a:noFill/>
          <a:ln/>
        </p:spPr>
        <p:txBody>
          <a:bodyPr wrap="square" lIns="0" tIns="0" rIns="0" bIns="0" rtlCol="0" anchor="ctr"/>
          <a:lstStyle/>
          <a:p>
            <a:pPr marL="0" indent="0">
              <a:buNone/>
            </a:pPr>
            <a:r>
              <a:rPr lang="en-US" dirty="0">
                <a:solidFill>
                  <a:srgbClr val="D7E4E1"/>
                </a:solidFill>
                <a:latin typeface="Calibri" pitchFamily="34" charset="0"/>
                <a:ea typeface="Calibri" pitchFamily="34" charset="-122"/>
                <a:cs typeface="Calibri" pitchFamily="34" charset="-120"/>
              </a:rPr>
              <a:t>En esta PoC nos enfocamos en frameworks de componentes reactivos para SPA: Vue.js y React, los dos con mayor tracción actual.</a:t>
            </a:r>
            <a:endParaRPr lang="en-US" dirty="0"/>
          </a:p>
        </p:txBody>
      </p:sp>
      <p:sp>
        <p:nvSpPr>
          <p:cNvPr id="19"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0" name="Text 14"/>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1" name="Text 1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Panorama de frameworks JS en 2026</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Uso reportado entre desarrolladores — Stack Overflow Developer Survey 2025 (última publicada)</a:t>
            </a:r>
            <a:endParaRPr lang="en-US" sz="1200" dirty="0"/>
          </a:p>
        </p:txBody>
      </p:sp>
      <p:graphicFrame>
        <p:nvGraphicFramePr>
          <p:cNvPr id="5" name="Chart 0"/>
          <p:cNvGraphicFramePr/>
          <p:nvPr/>
        </p:nvGraphicFramePr>
        <p:xfrm>
          <a:off x="548640" y="1965960"/>
          <a:ext cx="69494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83880" y="1965960"/>
            <a:ext cx="3429000" cy="4160520"/>
          </a:xfrm>
          <a:prstGeom prst="roundRect">
            <a:avLst>
              <a:gd name="adj" fmla="val 2667"/>
            </a:avLst>
          </a:prstGeom>
          <a:solidFill>
            <a:srgbClr val="1E2A33"/>
          </a:solidFill>
          <a:ln/>
        </p:spPr>
        <p:txBody>
          <a:bodyPr/>
          <a:lstStyle/>
          <a:p>
            <a:endParaRPr lang="es-AR"/>
          </a:p>
        </p:txBody>
      </p:sp>
      <p:sp>
        <p:nvSpPr>
          <p:cNvPr id="8" name="Text 5"/>
          <p:cNvSpPr txBox="1"/>
          <p:nvPr/>
        </p:nvSpPr>
        <p:spPr>
          <a:xfrm>
            <a:off x="8549640" y="2263140"/>
            <a:ext cx="2971800" cy="3383280"/>
          </a:xfrm>
          <a:prstGeom prst="rect">
            <a:avLst/>
          </a:prstGeom>
          <a:noFill/>
          <a:ln/>
        </p:spPr>
        <p:txBody>
          <a:bodyPr wrap="square" lIns="0" tIns="0" rIns="0" bIns="0" rtlCol="0" anchor="ctr"/>
          <a:lstStyle/>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React lidera con amplio margen (44,7%).</a:t>
            </a:r>
            <a:endParaRPr lang="en-US" dirty="0"/>
          </a:p>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Angular y Vue están prácticamente empatados en 2º lugar (~18%).</a:t>
            </a:r>
            <a:endParaRPr lang="en-US" dirty="0"/>
          </a:p>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Svelte crece pero aún es minoritario (7,2%).</a:t>
            </a:r>
            <a:endParaRPr lang="en-US" dirty="0"/>
          </a:p>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Vue mantiene una base sólida y estable año a año.</a:t>
            </a:r>
            <a:endParaRPr lang="en-US"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1" name="Text 7"/>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Historia de Vue.js — línea de tiempo</a:t>
            </a:r>
            <a:endParaRPr lang="en-US" sz="3000" dirty="0"/>
          </a:p>
        </p:txBody>
      </p:sp>
      <p:sp>
        <p:nvSpPr>
          <p:cNvPr id="4" name="Shape 2"/>
          <p:cNvSpPr/>
          <p:nvPr/>
        </p:nvSpPr>
        <p:spPr>
          <a:xfrm>
            <a:off x="548640" y="3108960"/>
            <a:ext cx="11064240" cy="0"/>
          </a:xfrm>
          <a:prstGeom prst="line">
            <a:avLst/>
          </a:prstGeom>
          <a:noFill/>
          <a:ln w="25400">
            <a:solidFill>
              <a:srgbClr val="D6E2DF"/>
            </a:solidFill>
            <a:prstDash val="solid"/>
          </a:ln>
        </p:spPr>
        <p:txBody>
          <a:bodyPr/>
          <a:lstStyle/>
          <a:p>
            <a:endParaRPr lang="es-AR"/>
          </a:p>
        </p:txBody>
      </p:sp>
      <p:sp>
        <p:nvSpPr>
          <p:cNvPr id="5" name="Shape 3"/>
          <p:cNvSpPr/>
          <p:nvPr/>
        </p:nvSpPr>
        <p:spPr>
          <a:xfrm>
            <a:off x="1335024"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6" name="Text 4"/>
          <p:cNvSpPr txBox="1"/>
          <p:nvPr/>
        </p:nvSpPr>
        <p:spPr>
          <a:xfrm>
            <a:off x="548640"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2014</a:t>
            </a:r>
            <a:endParaRPr lang="en-US" sz="2000" dirty="0"/>
          </a:p>
        </p:txBody>
      </p:sp>
      <p:sp>
        <p:nvSpPr>
          <p:cNvPr id="7" name="Text 5"/>
          <p:cNvSpPr txBox="1"/>
          <p:nvPr/>
        </p:nvSpPr>
        <p:spPr>
          <a:xfrm>
            <a:off x="594360"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Evan You (ex-Google, trabajó en AngularJS) publica Vue.js 0.6.</a:t>
            </a:r>
            <a:endParaRPr lang="en-US" sz="1600" dirty="0"/>
          </a:p>
        </p:txBody>
      </p:sp>
      <p:sp>
        <p:nvSpPr>
          <p:cNvPr id="8" name="Shape 6"/>
          <p:cNvSpPr/>
          <p:nvPr/>
        </p:nvSpPr>
        <p:spPr>
          <a:xfrm>
            <a:off x="3547872"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9" name="Text 7"/>
          <p:cNvSpPr txBox="1"/>
          <p:nvPr/>
        </p:nvSpPr>
        <p:spPr>
          <a:xfrm>
            <a:off x="2761488"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2016</a:t>
            </a:r>
            <a:endParaRPr lang="en-US" sz="2000" dirty="0"/>
          </a:p>
        </p:txBody>
      </p:sp>
      <p:sp>
        <p:nvSpPr>
          <p:cNvPr id="10" name="Text 8"/>
          <p:cNvSpPr txBox="1"/>
          <p:nvPr/>
        </p:nvSpPr>
        <p:spPr>
          <a:xfrm>
            <a:off x="2807208"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2: Virtual DOM, mejor rendimiento, ecosistema oficial (Router, Vuex).</a:t>
            </a:r>
            <a:endParaRPr lang="en-US" sz="1600" dirty="0"/>
          </a:p>
        </p:txBody>
      </p:sp>
      <p:sp>
        <p:nvSpPr>
          <p:cNvPr id="11" name="Shape 9"/>
          <p:cNvSpPr/>
          <p:nvPr/>
        </p:nvSpPr>
        <p:spPr>
          <a:xfrm>
            <a:off x="5760720"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2" name="Text 10"/>
          <p:cNvSpPr txBox="1"/>
          <p:nvPr/>
        </p:nvSpPr>
        <p:spPr>
          <a:xfrm>
            <a:off x="4974336"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2020</a:t>
            </a:r>
            <a:endParaRPr lang="en-US" sz="2000" dirty="0"/>
          </a:p>
        </p:txBody>
      </p:sp>
      <p:sp>
        <p:nvSpPr>
          <p:cNvPr id="13" name="Text 11"/>
          <p:cNvSpPr txBox="1"/>
          <p:nvPr/>
        </p:nvSpPr>
        <p:spPr>
          <a:xfrm>
            <a:off x="5020056"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3: reescritura en TypeScript, Composition API, mejor tree-shaking</a:t>
            </a:r>
            <a:r>
              <a:rPr lang="en-US" sz="1050" dirty="0">
                <a:solidFill>
                  <a:srgbClr val="5B6B73"/>
                </a:solidFill>
                <a:latin typeface="Calibri" pitchFamily="34" charset="0"/>
                <a:ea typeface="Calibri" pitchFamily="34" charset="-122"/>
                <a:cs typeface="Calibri" pitchFamily="34" charset="-120"/>
              </a:rPr>
              <a:t>.</a:t>
            </a:r>
            <a:endParaRPr lang="en-US" sz="1050" dirty="0"/>
          </a:p>
        </p:txBody>
      </p:sp>
      <p:sp>
        <p:nvSpPr>
          <p:cNvPr id="14" name="Shape 12"/>
          <p:cNvSpPr/>
          <p:nvPr/>
        </p:nvSpPr>
        <p:spPr>
          <a:xfrm>
            <a:off x="7973568"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5" name="Text 13"/>
          <p:cNvSpPr txBox="1"/>
          <p:nvPr/>
        </p:nvSpPr>
        <p:spPr>
          <a:xfrm>
            <a:off x="7187184"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2023</a:t>
            </a:r>
            <a:endParaRPr lang="en-US" sz="2000" dirty="0"/>
          </a:p>
        </p:txBody>
      </p:sp>
      <p:sp>
        <p:nvSpPr>
          <p:cNvPr id="16" name="Text 14"/>
          <p:cNvSpPr txBox="1"/>
          <p:nvPr/>
        </p:nvSpPr>
        <p:spPr>
          <a:xfrm>
            <a:off x="7232904"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Fin del soporte de Vue 2 (EOL, 31 de diciembre).</a:t>
            </a:r>
            <a:endParaRPr lang="en-US" sz="1600" dirty="0"/>
          </a:p>
        </p:txBody>
      </p:sp>
      <p:sp>
        <p:nvSpPr>
          <p:cNvPr id="17" name="Shape 15"/>
          <p:cNvSpPr/>
          <p:nvPr/>
        </p:nvSpPr>
        <p:spPr>
          <a:xfrm>
            <a:off x="10186416" y="2944368"/>
            <a:ext cx="329184" cy="329184"/>
          </a:xfrm>
          <a:prstGeom prst="ellipse">
            <a:avLst/>
          </a:prstGeom>
          <a:solidFill>
            <a:srgbClr val="E8B339"/>
          </a:solidFill>
          <a:ln w="25400">
            <a:solidFill>
              <a:srgbClr val="FFFFFF"/>
            </a:solidFill>
            <a:prstDash val="solid"/>
          </a:ln>
        </p:spPr>
        <p:txBody>
          <a:bodyPr/>
          <a:lstStyle/>
          <a:p>
            <a:endParaRPr lang="es-AR"/>
          </a:p>
        </p:txBody>
      </p:sp>
      <p:sp>
        <p:nvSpPr>
          <p:cNvPr id="18" name="Text 16"/>
          <p:cNvSpPr txBox="1"/>
          <p:nvPr/>
        </p:nvSpPr>
        <p:spPr>
          <a:xfrm>
            <a:off x="9400032"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2026</a:t>
            </a:r>
            <a:endParaRPr lang="en-US" sz="2000" dirty="0"/>
          </a:p>
        </p:txBody>
      </p:sp>
      <p:sp>
        <p:nvSpPr>
          <p:cNvPr id="19" name="Text 17"/>
          <p:cNvSpPr txBox="1"/>
          <p:nvPr/>
        </p:nvSpPr>
        <p:spPr>
          <a:xfrm>
            <a:off x="9445752"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3.6: Vapor Mode y motor de reactividad "Alien Signals".</a:t>
            </a:r>
            <a:endParaRPr lang="en-US" sz="1600" dirty="0"/>
          </a:p>
        </p:txBody>
      </p:sp>
      <p:sp>
        <p:nvSpPr>
          <p:cNvPr id="21" name="Text 1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3" name="Text 20"/>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Evan You（Fundador de VoidZero, autor de Vue.js）_Baidu Enciclopedia">
            <a:extLst>
              <a:ext uri="{FF2B5EF4-FFF2-40B4-BE49-F238E27FC236}">
                <a16:creationId xmlns:a16="http://schemas.microsoft.com/office/drawing/2014/main" id="{66265631-8CD2-AB19-8877-76A9AC770E30}"/>
              </a:ext>
            </a:extLst>
          </p:cNvPr>
          <p:cNvPicPr>
            <a:picLocks noChangeAspect="1"/>
          </p:cNvPicPr>
          <p:nvPr/>
        </p:nvPicPr>
        <p:blipFill>
          <a:blip r:embed="rId2"/>
          <a:stretch>
            <a:fillRect/>
          </a:stretch>
        </p:blipFill>
        <p:spPr>
          <a:xfrm>
            <a:off x="3105191" y="0"/>
            <a:ext cx="5836596" cy="6858000"/>
          </a:xfrm>
          <a:prstGeom prst="rect">
            <a:avLst/>
          </a:prstGeom>
        </p:spPr>
      </p:pic>
    </p:spTree>
    <p:extLst>
      <p:ext uri="{BB962C8B-B14F-4D97-AF65-F5344CB8AC3E}">
        <p14:creationId xmlns:p14="http://schemas.microsoft.com/office/powerpoint/2010/main" val="2164341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24510-2DFB-A6AD-8499-E5FB9EE427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E1DD1E0-20AC-C00B-D770-A1A2C541DD72}"/>
              </a:ext>
            </a:extLst>
          </p:cNvPr>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a:extLst>
              <a:ext uri="{FF2B5EF4-FFF2-40B4-BE49-F238E27FC236}">
                <a16:creationId xmlns:a16="http://schemas.microsoft.com/office/drawing/2014/main" id="{0A8B1F8C-EC69-1CF7-BDB9-D2D9F7A22003}"/>
              </a:ext>
            </a:extLst>
          </p:cNvPr>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Historia de Vue.js — línea de tiempo</a:t>
            </a:r>
            <a:endParaRPr lang="en-US" sz="3000" dirty="0"/>
          </a:p>
        </p:txBody>
      </p:sp>
      <p:sp>
        <p:nvSpPr>
          <p:cNvPr id="4" name="Shape 2">
            <a:extLst>
              <a:ext uri="{FF2B5EF4-FFF2-40B4-BE49-F238E27FC236}">
                <a16:creationId xmlns:a16="http://schemas.microsoft.com/office/drawing/2014/main" id="{DBE4DE1E-1CE1-0D9E-408D-2F75293BA248}"/>
              </a:ext>
            </a:extLst>
          </p:cNvPr>
          <p:cNvSpPr/>
          <p:nvPr/>
        </p:nvSpPr>
        <p:spPr>
          <a:xfrm>
            <a:off x="548640" y="3108960"/>
            <a:ext cx="11064240" cy="0"/>
          </a:xfrm>
          <a:prstGeom prst="line">
            <a:avLst/>
          </a:prstGeom>
          <a:noFill/>
          <a:ln w="25400">
            <a:solidFill>
              <a:srgbClr val="D6E2DF"/>
            </a:solidFill>
            <a:prstDash val="solid"/>
          </a:ln>
        </p:spPr>
        <p:txBody>
          <a:bodyPr/>
          <a:lstStyle/>
          <a:p>
            <a:endParaRPr lang="es-AR"/>
          </a:p>
        </p:txBody>
      </p:sp>
      <p:sp>
        <p:nvSpPr>
          <p:cNvPr id="5" name="Shape 3">
            <a:extLst>
              <a:ext uri="{FF2B5EF4-FFF2-40B4-BE49-F238E27FC236}">
                <a16:creationId xmlns:a16="http://schemas.microsoft.com/office/drawing/2014/main" id="{68217437-622B-8F38-C013-94D2465C6514}"/>
              </a:ext>
            </a:extLst>
          </p:cNvPr>
          <p:cNvSpPr/>
          <p:nvPr/>
        </p:nvSpPr>
        <p:spPr>
          <a:xfrm>
            <a:off x="1335024"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6" name="Text 4">
            <a:extLst>
              <a:ext uri="{FF2B5EF4-FFF2-40B4-BE49-F238E27FC236}">
                <a16:creationId xmlns:a16="http://schemas.microsoft.com/office/drawing/2014/main" id="{7C314ABD-B5F8-528E-BD4A-67825A620389}"/>
              </a:ext>
            </a:extLst>
          </p:cNvPr>
          <p:cNvSpPr txBox="1"/>
          <p:nvPr/>
        </p:nvSpPr>
        <p:spPr>
          <a:xfrm>
            <a:off x="548640"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2014</a:t>
            </a:r>
            <a:endParaRPr lang="en-US" sz="2000" dirty="0"/>
          </a:p>
        </p:txBody>
      </p:sp>
      <p:sp>
        <p:nvSpPr>
          <p:cNvPr id="7" name="Text 5">
            <a:extLst>
              <a:ext uri="{FF2B5EF4-FFF2-40B4-BE49-F238E27FC236}">
                <a16:creationId xmlns:a16="http://schemas.microsoft.com/office/drawing/2014/main" id="{07A4F6E3-5A5A-2DAF-B522-C71803A2A32F}"/>
              </a:ext>
            </a:extLst>
          </p:cNvPr>
          <p:cNvSpPr txBox="1"/>
          <p:nvPr/>
        </p:nvSpPr>
        <p:spPr>
          <a:xfrm>
            <a:off x="594360"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Evan You (ex-Google, trabajó en AngularJS) publica Vue.js 0.6.</a:t>
            </a:r>
            <a:endParaRPr lang="en-US" sz="1600" dirty="0"/>
          </a:p>
        </p:txBody>
      </p:sp>
      <p:sp>
        <p:nvSpPr>
          <p:cNvPr id="8" name="Shape 6">
            <a:extLst>
              <a:ext uri="{FF2B5EF4-FFF2-40B4-BE49-F238E27FC236}">
                <a16:creationId xmlns:a16="http://schemas.microsoft.com/office/drawing/2014/main" id="{762E5951-BF05-81A5-87ED-9689C22D49FF}"/>
              </a:ext>
            </a:extLst>
          </p:cNvPr>
          <p:cNvSpPr/>
          <p:nvPr/>
        </p:nvSpPr>
        <p:spPr>
          <a:xfrm>
            <a:off x="3547872"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9" name="Text 7">
            <a:extLst>
              <a:ext uri="{FF2B5EF4-FFF2-40B4-BE49-F238E27FC236}">
                <a16:creationId xmlns:a16="http://schemas.microsoft.com/office/drawing/2014/main" id="{D443F413-9C2C-EFF7-1971-D81E7B99C422}"/>
              </a:ext>
            </a:extLst>
          </p:cNvPr>
          <p:cNvSpPr txBox="1"/>
          <p:nvPr/>
        </p:nvSpPr>
        <p:spPr>
          <a:xfrm>
            <a:off x="2761488"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2016</a:t>
            </a:r>
            <a:endParaRPr lang="en-US" sz="2000" dirty="0"/>
          </a:p>
        </p:txBody>
      </p:sp>
      <p:sp>
        <p:nvSpPr>
          <p:cNvPr id="10" name="Text 8">
            <a:extLst>
              <a:ext uri="{FF2B5EF4-FFF2-40B4-BE49-F238E27FC236}">
                <a16:creationId xmlns:a16="http://schemas.microsoft.com/office/drawing/2014/main" id="{F37BA2EB-4F9E-1198-293C-AD270FF669DD}"/>
              </a:ext>
            </a:extLst>
          </p:cNvPr>
          <p:cNvSpPr txBox="1"/>
          <p:nvPr/>
        </p:nvSpPr>
        <p:spPr>
          <a:xfrm>
            <a:off x="2807208"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2: Virtual DOM, mejor rendimiento, ecosistema oficial (Router, Vuex).</a:t>
            </a:r>
            <a:endParaRPr lang="en-US" sz="1600" dirty="0"/>
          </a:p>
        </p:txBody>
      </p:sp>
      <p:sp>
        <p:nvSpPr>
          <p:cNvPr id="11" name="Shape 9">
            <a:extLst>
              <a:ext uri="{FF2B5EF4-FFF2-40B4-BE49-F238E27FC236}">
                <a16:creationId xmlns:a16="http://schemas.microsoft.com/office/drawing/2014/main" id="{48B4246F-3920-7F6D-1F80-FB74B4952700}"/>
              </a:ext>
            </a:extLst>
          </p:cNvPr>
          <p:cNvSpPr/>
          <p:nvPr/>
        </p:nvSpPr>
        <p:spPr>
          <a:xfrm>
            <a:off x="5760720"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2" name="Text 10">
            <a:extLst>
              <a:ext uri="{FF2B5EF4-FFF2-40B4-BE49-F238E27FC236}">
                <a16:creationId xmlns:a16="http://schemas.microsoft.com/office/drawing/2014/main" id="{B2D092E6-BFEF-C5FE-C9E6-963436A73F38}"/>
              </a:ext>
            </a:extLst>
          </p:cNvPr>
          <p:cNvSpPr txBox="1"/>
          <p:nvPr/>
        </p:nvSpPr>
        <p:spPr>
          <a:xfrm>
            <a:off x="4974336"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2020</a:t>
            </a:r>
            <a:endParaRPr lang="en-US" sz="2000" dirty="0"/>
          </a:p>
        </p:txBody>
      </p:sp>
      <p:sp>
        <p:nvSpPr>
          <p:cNvPr id="13" name="Text 11">
            <a:extLst>
              <a:ext uri="{FF2B5EF4-FFF2-40B4-BE49-F238E27FC236}">
                <a16:creationId xmlns:a16="http://schemas.microsoft.com/office/drawing/2014/main" id="{66E3E5DE-C65C-D5A8-BF43-D41A386D7BFD}"/>
              </a:ext>
            </a:extLst>
          </p:cNvPr>
          <p:cNvSpPr txBox="1"/>
          <p:nvPr/>
        </p:nvSpPr>
        <p:spPr>
          <a:xfrm>
            <a:off x="5020056"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3: reescritura en TypeScript, Composition API, mejor tree-shaking</a:t>
            </a:r>
            <a:r>
              <a:rPr lang="en-US" sz="1050" dirty="0">
                <a:solidFill>
                  <a:srgbClr val="5B6B73"/>
                </a:solidFill>
                <a:latin typeface="Calibri" pitchFamily="34" charset="0"/>
                <a:ea typeface="Calibri" pitchFamily="34" charset="-122"/>
                <a:cs typeface="Calibri" pitchFamily="34" charset="-120"/>
              </a:rPr>
              <a:t>.</a:t>
            </a:r>
            <a:endParaRPr lang="en-US" sz="1050" dirty="0"/>
          </a:p>
        </p:txBody>
      </p:sp>
      <p:sp>
        <p:nvSpPr>
          <p:cNvPr id="14" name="Shape 12">
            <a:extLst>
              <a:ext uri="{FF2B5EF4-FFF2-40B4-BE49-F238E27FC236}">
                <a16:creationId xmlns:a16="http://schemas.microsoft.com/office/drawing/2014/main" id="{0A56AA48-CF39-20C0-30D9-B405753BE1A9}"/>
              </a:ext>
            </a:extLst>
          </p:cNvPr>
          <p:cNvSpPr/>
          <p:nvPr/>
        </p:nvSpPr>
        <p:spPr>
          <a:xfrm>
            <a:off x="7973568"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5" name="Text 13">
            <a:extLst>
              <a:ext uri="{FF2B5EF4-FFF2-40B4-BE49-F238E27FC236}">
                <a16:creationId xmlns:a16="http://schemas.microsoft.com/office/drawing/2014/main" id="{5A148688-FBEF-E531-A280-7D615DF0E3B0}"/>
              </a:ext>
            </a:extLst>
          </p:cNvPr>
          <p:cNvSpPr txBox="1"/>
          <p:nvPr/>
        </p:nvSpPr>
        <p:spPr>
          <a:xfrm>
            <a:off x="7187184"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2023</a:t>
            </a:r>
            <a:endParaRPr lang="en-US" sz="2000" dirty="0"/>
          </a:p>
        </p:txBody>
      </p:sp>
      <p:sp>
        <p:nvSpPr>
          <p:cNvPr id="16" name="Text 14">
            <a:extLst>
              <a:ext uri="{FF2B5EF4-FFF2-40B4-BE49-F238E27FC236}">
                <a16:creationId xmlns:a16="http://schemas.microsoft.com/office/drawing/2014/main" id="{15A0B680-39FA-2CF0-9999-75CF807CA747}"/>
              </a:ext>
            </a:extLst>
          </p:cNvPr>
          <p:cNvSpPr txBox="1"/>
          <p:nvPr/>
        </p:nvSpPr>
        <p:spPr>
          <a:xfrm>
            <a:off x="7232904"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Fin del soporte de Vue 2 (EOL, 31 de diciembre).</a:t>
            </a:r>
            <a:endParaRPr lang="en-US" sz="1600" dirty="0"/>
          </a:p>
        </p:txBody>
      </p:sp>
      <p:sp>
        <p:nvSpPr>
          <p:cNvPr id="17" name="Shape 15">
            <a:extLst>
              <a:ext uri="{FF2B5EF4-FFF2-40B4-BE49-F238E27FC236}">
                <a16:creationId xmlns:a16="http://schemas.microsoft.com/office/drawing/2014/main" id="{80B9DAB5-5FCE-87CA-4D89-D9F9EA1F311A}"/>
              </a:ext>
            </a:extLst>
          </p:cNvPr>
          <p:cNvSpPr/>
          <p:nvPr/>
        </p:nvSpPr>
        <p:spPr>
          <a:xfrm>
            <a:off x="10186416" y="2944368"/>
            <a:ext cx="329184" cy="329184"/>
          </a:xfrm>
          <a:prstGeom prst="ellipse">
            <a:avLst/>
          </a:prstGeom>
          <a:solidFill>
            <a:srgbClr val="E8B339"/>
          </a:solidFill>
          <a:ln w="25400">
            <a:solidFill>
              <a:srgbClr val="FFFFFF"/>
            </a:solidFill>
            <a:prstDash val="solid"/>
          </a:ln>
        </p:spPr>
        <p:txBody>
          <a:bodyPr/>
          <a:lstStyle/>
          <a:p>
            <a:endParaRPr lang="es-AR"/>
          </a:p>
        </p:txBody>
      </p:sp>
      <p:sp>
        <p:nvSpPr>
          <p:cNvPr id="18" name="Text 16">
            <a:extLst>
              <a:ext uri="{FF2B5EF4-FFF2-40B4-BE49-F238E27FC236}">
                <a16:creationId xmlns:a16="http://schemas.microsoft.com/office/drawing/2014/main" id="{EFF6C79E-2003-A583-4EDF-9F6608093CEB}"/>
              </a:ext>
            </a:extLst>
          </p:cNvPr>
          <p:cNvSpPr txBox="1"/>
          <p:nvPr/>
        </p:nvSpPr>
        <p:spPr>
          <a:xfrm>
            <a:off x="9400032"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2026</a:t>
            </a:r>
            <a:endParaRPr lang="en-US" sz="2000" dirty="0"/>
          </a:p>
        </p:txBody>
      </p:sp>
      <p:sp>
        <p:nvSpPr>
          <p:cNvPr id="19" name="Text 17">
            <a:extLst>
              <a:ext uri="{FF2B5EF4-FFF2-40B4-BE49-F238E27FC236}">
                <a16:creationId xmlns:a16="http://schemas.microsoft.com/office/drawing/2014/main" id="{3776D0A8-56B0-A828-549A-36CCA75381A6}"/>
              </a:ext>
            </a:extLst>
          </p:cNvPr>
          <p:cNvSpPr txBox="1"/>
          <p:nvPr/>
        </p:nvSpPr>
        <p:spPr>
          <a:xfrm>
            <a:off x="9445752"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3.6: Vapor Mode y motor de reactividad "Alien Signals".</a:t>
            </a:r>
            <a:endParaRPr lang="en-US" sz="1600" dirty="0"/>
          </a:p>
        </p:txBody>
      </p:sp>
      <p:sp>
        <p:nvSpPr>
          <p:cNvPr id="21" name="Text 18">
            <a:extLst>
              <a:ext uri="{FF2B5EF4-FFF2-40B4-BE49-F238E27FC236}">
                <a16:creationId xmlns:a16="http://schemas.microsoft.com/office/drawing/2014/main" id="{12B1DB63-CEAB-8652-4EC1-7832BE4F7876}"/>
              </a:ext>
            </a:extLst>
          </p:cNvPr>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3" name="Text 20">
            <a:extLst>
              <a:ext uri="{FF2B5EF4-FFF2-40B4-BE49-F238E27FC236}">
                <a16:creationId xmlns:a16="http://schemas.microsoft.com/office/drawing/2014/main" id="{AD924EC6-B5CD-7DD2-C768-29258B91FCA8}"/>
              </a:ext>
            </a:extLst>
          </p:cNvPr>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extLst>
      <p:ext uri="{BB962C8B-B14F-4D97-AF65-F5344CB8AC3E}">
        <p14:creationId xmlns:p14="http://schemas.microsoft.com/office/powerpoint/2010/main" val="1493630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Filosofía: un framework "progresivo"</a:t>
            </a:r>
            <a:endParaRPr lang="en-US" sz="3000" dirty="0"/>
          </a:p>
        </p:txBody>
      </p:sp>
      <p:sp>
        <p:nvSpPr>
          <p:cNvPr id="4" name="Text 2"/>
          <p:cNvSpPr txBox="1"/>
          <p:nvPr/>
        </p:nvSpPr>
        <p:spPr>
          <a:xfrm>
            <a:off x="548640" y="1600200"/>
            <a:ext cx="11064240" cy="86868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Vue está diseñado para adoptarse de forma incremental: podés empezar agregándolo a una sola página HTML y crecer hasta una aplicación completa, sin cambiar de herramienta en el camino.</a:t>
            </a:r>
            <a:endParaRPr lang="en-US" sz="2000" dirty="0"/>
          </a:p>
        </p:txBody>
      </p:sp>
      <p:sp>
        <p:nvSpPr>
          <p:cNvPr id="5" name="Shape 3"/>
          <p:cNvSpPr/>
          <p:nvPr/>
        </p:nvSpPr>
        <p:spPr>
          <a:xfrm>
            <a:off x="548640" y="2788920"/>
            <a:ext cx="2468880" cy="3063240"/>
          </a:xfrm>
          <a:prstGeom prst="roundRect">
            <a:avLst>
              <a:gd name="adj" fmla="val 3704"/>
            </a:avLst>
          </a:prstGeom>
          <a:solidFill>
            <a:srgbClr val="F1F6F4"/>
          </a:solidFill>
          <a:ln w="12700">
            <a:solidFill>
              <a:srgbClr val="E3E9E7"/>
            </a:solidFill>
            <a:prstDash val="solid"/>
          </a:ln>
        </p:spPr>
        <p:txBody>
          <a:bodyPr/>
          <a:lstStyle/>
          <a:p>
            <a:endParaRPr lang="es-AR"/>
          </a:p>
        </p:txBody>
      </p:sp>
      <p:sp>
        <p:nvSpPr>
          <p:cNvPr id="6" name="Shape 4"/>
          <p:cNvSpPr/>
          <p:nvPr/>
        </p:nvSpPr>
        <p:spPr>
          <a:xfrm>
            <a:off x="1394460" y="2948940"/>
            <a:ext cx="777240" cy="777240"/>
          </a:xfrm>
          <a:prstGeom prst="ellipse">
            <a:avLst/>
          </a:prstGeom>
          <a:solidFill>
            <a:srgbClr val="42B883"/>
          </a:solidFill>
          <a:ln/>
        </p:spPr>
        <p:txBody>
          <a:bodyPr/>
          <a:lstStyle/>
          <a:p>
            <a:endParaRPr lang="es-AR"/>
          </a:p>
        </p:txBody>
      </p:sp>
      <p:pic>
        <p:nvPicPr>
          <p:cNvPr id="7" name="Image 0" descr="/home/claude/vue-poc/assets/icons/mobile_w.png"/>
          <p:cNvPicPr>
            <a:picLocks noChangeAspect="1"/>
          </p:cNvPicPr>
          <p:nvPr/>
        </p:nvPicPr>
        <p:blipFill>
          <a:blip r:embed="rId3"/>
          <a:stretch>
            <a:fillRect/>
          </a:stretch>
        </p:blipFill>
        <p:spPr>
          <a:xfrm>
            <a:off x="1503274" y="3057754"/>
            <a:ext cx="559613" cy="559613"/>
          </a:xfrm>
          <a:prstGeom prst="rect">
            <a:avLst/>
          </a:prstGeom>
        </p:spPr>
      </p:pic>
      <p:sp>
        <p:nvSpPr>
          <p:cNvPr id="8" name="Text 5"/>
          <p:cNvSpPr txBox="1"/>
          <p:nvPr/>
        </p:nvSpPr>
        <p:spPr>
          <a:xfrm>
            <a:off x="68580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Mejorar HTML estático</a:t>
            </a:r>
            <a:endParaRPr lang="en-US" sz="1600" dirty="0"/>
          </a:p>
        </p:txBody>
      </p:sp>
      <p:sp>
        <p:nvSpPr>
          <p:cNvPr id="9" name="Text 6"/>
          <p:cNvSpPr txBox="1"/>
          <p:nvPr/>
        </p:nvSpPr>
        <p:spPr>
          <a:xfrm>
            <a:off x="68580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Sin build step, con un &lt;script&gt; — como una versión moderna de jQuery.</a:t>
            </a:r>
            <a:endParaRPr lang="en-US" dirty="0"/>
          </a:p>
        </p:txBody>
      </p:sp>
      <p:sp>
        <p:nvSpPr>
          <p:cNvPr id="10" name="Shape 7"/>
          <p:cNvSpPr/>
          <p:nvPr/>
        </p:nvSpPr>
        <p:spPr>
          <a:xfrm>
            <a:off x="3246120" y="2788920"/>
            <a:ext cx="2468880" cy="3063240"/>
          </a:xfrm>
          <a:prstGeom prst="roundRect">
            <a:avLst>
              <a:gd name="adj" fmla="val 3704"/>
            </a:avLst>
          </a:prstGeom>
          <a:solidFill>
            <a:srgbClr val="FFFFFF"/>
          </a:solidFill>
          <a:ln w="12700">
            <a:solidFill>
              <a:srgbClr val="E3E9E7"/>
            </a:solidFill>
            <a:prstDash val="solid"/>
          </a:ln>
        </p:spPr>
        <p:txBody>
          <a:bodyPr/>
          <a:lstStyle/>
          <a:p>
            <a:endParaRPr lang="es-AR"/>
          </a:p>
        </p:txBody>
      </p:sp>
      <p:sp>
        <p:nvSpPr>
          <p:cNvPr id="11" name="Shape 8"/>
          <p:cNvSpPr/>
          <p:nvPr/>
        </p:nvSpPr>
        <p:spPr>
          <a:xfrm>
            <a:off x="4091940" y="2948940"/>
            <a:ext cx="777240" cy="777240"/>
          </a:xfrm>
          <a:prstGeom prst="ellipse">
            <a:avLst/>
          </a:prstGeom>
          <a:solidFill>
            <a:srgbClr val="42B883"/>
          </a:solidFill>
          <a:ln/>
        </p:spPr>
        <p:txBody>
          <a:bodyPr/>
          <a:lstStyle/>
          <a:p>
            <a:endParaRPr lang="es-AR"/>
          </a:p>
        </p:txBody>
      </p:sp>
      <p:pic>
        <p:nvPicPr>
          <p:cNvPr id="12" name="Image 1" descr="/home/claude/vue-poc/assets/icons/puzzle_w.png"/>
          <p:cNvPicPr>
            <a:picLocks noChangeAspect="1"/>
          </p:cNvPicPr>
          <p:nvPr/>
        </p:nvPicPr>
        <p:blipFill>
          <a:blip r:embed="rId4"/>
          <a:stretch>
            <a:fillRect/>
          </a:stretch>
        </p:blipFill>
        <p:spPr>
          <a:xfrm>
            <a:off x="4200754" y="3057754"/>
            <a:ext cx="559613" cy="559613"/>
          </a:xfrm>
          <a:prstGeom prst="rect">
            <a:avLst/>
          </a:prstGeom>
        </p:spPr>
      </p:pic>
      <p:sp>
        <p:nvSpPr>
          <p:cNvPr id="13" name="Text 9"/>
          <p:cNvSpPr txBox="1"/>
          <p:nvPr/>
        </p:nvSpPr>
        <p:spPr>
          <a:xfrm>
            <a:off x="338328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Web Components</a:t>
            </a:r>
            <a:endParaRPr lang="en-US" sz="1600" dirty="0"/>
          </a:p>
        </p:txBody>
      </p:sp>
      <p:sp>
        <p:nvSpPr>
          <p:cNvPr id="14" name="Text 10"/>
          <p:cNvSpPr txBox="1"/>
          <p:nvPr/>
        </p:nvSpPr>
        <p:spPr>
          <a:xfrm>
            <a:off x="338328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Embeber widgets Vue dentro de cualquier stack existente.</a:t>
            </a:r>
            <a:endParaRPr lang="en-US" dirty="0"/>
          </a:p>
        </p:txBody>
      </p:sp>
      <p:sp>
        <p:nvSpPr>
          <p:cNvPr id="15" name="Shape 11"/>
          <p:cNvSpPr/>
          <p:nvPr/>
        </p:nvSpPr>
        <p:spPr>
          <a:xfrm>
            <a:off x="5943600" y="2788920"/>
            <a:ext cx="2468880" cy="3063240"/>
          </a:xfrm>
          <a:prstGeom prst="roundRect">
            <a:avLst>
              <a:gd name="adj" fmla="val 3704"/>
            </a:avLst>
          </a:prstGeom>
          <a:solidFill>
            <a:srgbClr val="F1F6F4"/>
          </a:solidFill>
          <a:ln w="12700">
            <a:solidFill>
              <a:srgbClr val="E3E9E7"/>
            </a:solidFill>
            <a:prstDash val="solid"/>
          </a:ln>
        </p:spPr>
        <p:txBody>
          <a:bodyPr/>
          <a:lstStyle/>
          <a:p>
            <a:endParaRPr lang="es-AR"/>
          </a:p>
        </p:txBody>
      </p:sp>
      <p:sp>
        <p:nvSpPr>
          <p:cNvPr id="16" name="Shape 12"/>
          <p:cNvSpPr/>
          <p:nvPr/>
        </p:nvSpPr>
        <p:spPr>
          <a:xfrm>
            <a:off x="6789420" y="2948940"/>
            <a:ext cx="777240" cy="777240"/>
          </a:xfrm>
          <a:prstGeom prst="ellipse">
            <a:avLst/>
          </a:prstGeom>
          <a:solidFill>
            <a:srgbClr val="42B883"/>
          </a:solidFill>
          <a:ln/>
        </p:spPr>
        <p:txBody>
          <a:bodyPr/>
          <a:lstStyle/>
          <a:p>
            <a:endParaRPr lang="es-AR"/>
          </a:p>
        </p:txBody>
      </p:sp>
      <p:pic>
        <p:nvPicPr>
          <p:cNvPr id="17" name="Image 2" descr="/home/claude/vue-poc/assets/icons/layers_w.png"/>
          <p:cNvPicPr>
            <a:picLocks noChangeAspect="1"/>
          </p:cNvPicPr>
          <p:nvPr/>
        </p:nvPicPr>
        <p:blipFill>
          <a:blip r:embed="rId5"/>
          <a:stretch>
            <a:fillRect/>
          </a:stretch>
        </p:blipFill>
        <p:spPr>
          <a:xfrm>
            <a:off x="6898234" y="3057754"/>
            <a:ext cx="559613" cy="559613"/>
          </a:xfrm>
          <a:prstGeom prst="rect">
            <a:avLst/>
          </a:prstGeom>
        </p:spPr>
      </p:pic>
      <p:sp>
        <p:nvSpPr>
          <p:cNvPr id="18" name="Text 13"/>
          <p:cNvSpPr txBox="1"/>
          <p:nvPr/>
        </p:nvSpPr>
        <p:spPr>
          <a:xfrm>
            <a:off x="608076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SPA completa</a:t>
            </a:r>
            <a:endParaRPr lang="en-US" sz="1600" dirty="0"/>
          </a:p>
        </p:txBody>
      </p:sp>
      <p:sp>
        <p:nvSpPr>
          <p:cNvPr id="19" name="Text 14"/>
          <p:cNvSpPr txBox="1"/>
          <p:nvPr/>
        </p:nvSpPr>
        <p:spPr>
          <a:xfrm>
            <a:off x="608076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Con Vue Router + Pinia para aplicaciones de una sola página</a:t>
            </a:r>
            <a:r>
              <a:rPr lang="en-US" sz="1050" dirty="0">
                <a:solidFill>
                  <a:srgbClr val="5B6B73"/>
                </a:solidFill>
                <a:latin typeface="Calibri" pitchFamily="34" charset="0"/>
                <a:ea typeface="Calibri" pitchFamily="34" charset="-122"/>
                <a:cs typeface="Calibri" pitchFamily="34" charset="-120"/>
              </a:rPr>
              <a:t>.</a:t>
            </a:r>
            <a:endParaRPr lang="en-US" sz="1050" dirty="0"/>
          </a:p>
        </p:txBody>
      </p:sp>
      <p:sp>
        <p:nvSpPr>
          <p:cNvPr id="20" name="Shape 15"/>
          <p:cNvSpPr/>
          <p:nvPr/>
        </p:nvSpPr>
        <p:spPr>
          <a:xfrm>
            <a:off x="8641080" y="2788920"/>
            <a:ext cx="2468880" cy="3063240"/>
          </a:xfrm>
          <a:prstGeom prst="roundRect">
            <a:avLst>
              <a:gd name="adj" fmla="val 3704"/>
            </a:avLst>
          </a:prstGeom>
          <a:solidFill>
            <a:srgbClr val="FFFFFF"/>
          </a:solidFill>
          <a:ln w="12700">
            <a:solidFill>
              <a:srgbClr val="E3E9E7"/>
            </a:solidFill>
            <a:prstDash val="solid"/>
          </a:ln>
        </p:spPr>
        <p:txBody>
          <a:bodyPr/>
          <a:lstStyle/>
          <a:p>
            <a:endParaRPr lang="es-AR"/>
          </a:p>
        </p:txBody>
      </p:sp>
      <p:sp>
        <p:nvSpPr>
          <p:cNvPr id="21" name="Shape 16"/>
          <p:cNvSpPr/>
          <p:nvPr/>
        </p:nvSpPr>
        <p:spPr>
          <a:xfrm>
            <a:off x="9486900" y="2948940"/>
            <a:ext cx="777240" cy="777240"/>
          </a:xfrm>
          <a:prstGeom prst="ellipse">
            <a:avLst/>
          </a:prstGeom>
          <a:solidFill>
            <a:srgbClr val="42B883"/>
          </a:solidFill>
          <a:ln/>
        </p:spPr>
        <p:txBody>
          <a:bodyPr/>
          <a:lstStyle/>
          <a:p>
            <a:endParaRPr lang="es-AR"/>
          </a:p>
        </p:txBody>
      </p:sp>
      <p:pic>
        <p:nvPicPr>
          <p:cNvPr id="22" name="Image 3" descr="/home/claude/vue-poc/assets/icons/server_w.png"/>
          <p:cNvPicPr>
            <a:picLocks noChangeAspect="1"/>
          </p:cNvPicPr>
          <p:nvPr/>
        </p:nvPicPr>
        <p:blipFill>
          <a:blip r:embed="rId6"/>
          <a:stretch>
            <a:fillRect/>
          </a:stretch>
        </p:blipFill>
        <p:spPr>
          <a:xfrm>
            <a:off x="9595714" y="3057754"/>
            <a:ext cx="559613" cy="559613"/>
          </a:xfrm>
          <a:prstGeom prst="rect">
            <a:avLst/>
          </a:prstGeom>
        </p:spPr>
      </p:pic>
      <p:sp>
        <p:nvSpPr>
          <p:cNvPr id="23" name="Text 17"/>
          <p:cNvSpPr txBox="1"/>
          <p:nvPr/>
        </p:nvSpPr>
        <p:spPr>
          <a:xfrm>
            <a:off x="877824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SSR / SSG con Nuxt</a:t>
            </a:r>
            <a:endParaRPr lang="en-US" sz="1600" dirty="0"/>
          </a:p>
        </p:txBody>
      </p:sp>
      <p:sp>
        <p:nvSpPr>
          <p:cNvPr id="24" name="Text 18"/>
          <p:cNvSpPr txBox="1"/>
          <p:nvPr/>
        </p:nvSpPr>
        <p:spPr>
          <a:xfrm>
            <a:off x="877824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Renderizado en servidor o sitios estáticos, full-stack.</a:t>
            </a:r>
            <a:endParaRPr lang="en-US" dirty="0"/>
          </a:p>
        </p:txBody>
      </p:sp>
      <p:pic>
        <p:nvPicPr>
          <p:cNvPr id="25" name="Image 4" descr="/home/claude/vue-poc/assets/icons/arrow_right.png"/>
          <p:cNvPicPr>
            <a:picLocks noChangeAspect="1"/>
          </p:cNvPicPr>
          <p:nvPr/>
        </p:nvPicPr>
        <p:blipFill>
          <a:blip r:embed="rId7"/>
          <a:stretch>
            <a:fillRect/>
          </a:stretch>
        </p:blipFill>
        <p:spPr>
          <a:xfrm>
            <a:off x="3044952" y="4114800"/>
            <a:ext cx="256032" cy="256032"/>
          </a:xfrm>
          <a:prstGeom prst="rect">
            <a:avLst/>
          </a:prstGeom>
        </p:spPr>
      </p:pic>
      <p:pic>
        <p:nvPicPr>
          <p:cNvPr id="26" name="Image 5" descr="/home/claude/vue-poc/assets/icons/arrow_right.png"/>
          <p:cNvPicPr>
            <a:picLocks noChangeAspect="1"/>
          </p:cNvPicPr>
          <p:nvPr/>
        </p:nvPicPr>
        <p:blipFill>
          <a:blip r:embed="rId7"/>
          <a:stretch>
            <a:fillRect/>
          </a:stretch>
        </p:blipFill>
        <p:spPr>
          <a:xfrm>
            <a:off x="5742432" y="4114800"/>
            <a:ext cx="256032" cy="256032"/>
          </a:xfrm>
          <a:prstGeom prst="rect">
            <a:avLst/>
          </a:prstGeom>
        </p:spPr>
      </p:pic>
      <p:pic>
        <p:nvPicPr>
          <p:cNvPr id="27" name="Image 6" descr="/home/claude/vue-poc/assets/icons/arrow_right.png"/>
          <p:cNvPicPr>
            <a:picLocks noChangeAspect="1"/>
          </p:cNvPicPr>
          <p:nvPr/>
        </p:nvPicPr>
        <p:blipFill>
          <a:blip r:embed="rId7"/>
          <a:stretch>
            <a:fillRect/>
          </a:stretch>
        </p:blipFill>
        <p:spPr>
          <a:xfrm>
            <a:off x="8439912" y="4114800"/>
            <a:ext cx="256032" cy="256032"/>
          </a:xfrm>
          <a:prstGeom prst="rect">
            <a:avLst/>
          </a:prstGeom>
        </p:spPr>
      </p:pic>
      <p:sp>
        <p:nvSpPr>
          <p:cNvPr id="29"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Reactividad: el corazón de Vue</a:t>
            </a:r>
            <a:endParaRPr lang="en-US" sz="3000" dirty="0"/>
          </a:p>
        </p:txBody>
      </p:sp>
      <p:sp>
        <p:nvSpPr>
          <p:cNvPr id="4" name="Text 2"/>
          <p:cNvSpPr txBox="1"/>
          <p:nvPr/>
        </p:nvSpPr>
        <p:spPr>
          <a:xfrm>
            <a:off x="548640" y="1600200"/>
            <a:ext cx="10515600" cy="36576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Dos ideas fundamentales sostienen todo el framework:</a:t>
            </a:r>
            <a:endParaRPr lang="en-US" sz="2000" dirty="0"/>
          </a:p>
        </p:txBody>
      </p:sp>
      <p:sp>
        <p:nvSpPr>
          <p:cNvPr id="5" name="Shape 3"/>
          <p:cNvSpPr/>
          <p:nvPr/>
        </p:nvSpPr>
        <p:spPr>
          <a:xfrm>
            <a:off x="548640" y="2148840"/>
            <a:ext cx="5349240" cy="1828800"/>
          </a:xfrm>
          <a:prstGeom prst="roundRect">
            <a:avLst>
              <a:gd name="adj" fmla="val 5000"/>
            </a:avLst>
          </a:prstGeom>
          <a:solidFill>
            <a:srgbClr val="F1F6F4"/>
          </a:solidFill>
          <a:ln/>
        </p:spPr>
        <p:txBody>
          <a:bodyPr/>
          <a:lstStyle/>
          <a:p>
            <a:endParaRPr lang="es-AR"/>
          </a:p>
        </p:txBody>
      </p:sp>
      <p:sp>
        <p:nvSpPr>
          <p:cNvPr id="6" name="Shape 4"/>
          <p:cNvSpPr/>
          <p:nvPr/>
        </p:nvSpPr>
        <p:spPr>
          <a:xfrm>
            <a:off x="845820" y="2400300"/>
            <a:ext cx="777240" cy="777240"/>
          </a:xfrm>
          <a:prstGeom prst="ellipse">
            <a:avLst/>
          </a:prstGeom>
          <a:solidFill>
            <a:srgbClr val="42B883"/>
          </a:solidFill>
          <a:ln/>
        </p:spPr>
        <p:txBody>
          <a:bodyPr/>
          <a:lstStyle/>
          <a:p>
            <a:endParaRPr lang="es-AR"/>
          </a:p>
        </p:txBody>
      </p:sp>
      <p:pic>
        <p:nvPicPr>
          <p:cNvPr id="7" name="Image 0" descr="/home/claude/vue-poc/assets/icons/code_w.png"/>
          <p:cNvPicPr>
            <a:picLocks noChangeAspect="1"/>
          </p:cNvPicPr>
          <p:nvPr/>
        </p:nvPicPr>
        <p:blipFill>
          <a:blip r:embed="rId3"/>
          <a:stretch>
            <a:fillRect/>
          </a:stretch>
        </p:blipFill>
        <p:spPr>
          <a:xfrm>
            <a:off x="954634" y="2509114"/>
            <a:ext cx="559613" cy="559613"/>
          </a:xfrm>
          <a:prstGeom prst="rect">
            <a:avLst/>
          </a:prstGeom>
        </p:spPr>
      </p:pic>
      <p:sp>
        <p:nvSpPr>
          <p:cNvPr id="8" name="Text 5"/>
          <p:cNvSpPr txBox="1"/>
          <p:nvPr/>
        </p:nvSpPr>
        <p:spPr>
          <a:xfrm>
            <a:off x="1783080" y="2314202"/>
            <a:ext cx="393192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Renderizado declarativo</a:t>
            </a:r>
            <a:endParaRPr lang="en-US" sz="2000" dirty="0"/>
          </a:p>
        </p:txBody>
      </p:sp>
      <p:sp>
        <p:nvSpPr>
          <p:cNvPr id="9" name="Text 6"/>
          <p:cNvSpPr txBox="1"/>
          <p:nvPr/>
        </p:nvSpPr>
        <p:spPr>
          <a:xfrm>
            <a:off x="1783080" y="2697480"/>
            <a:ext cx="3931920" cy="11887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El template describe el HTML resultante en función del estado — vos declarás el "qué", Vue resuelve el "cómo".</a:t>
            </a:r>
            <a:endParaRPr lang="en-US" dirty="0"/>
          </a:p>
        </p:txBody>
      </p:sp>
      <p:sp>
        <p:nvSpPr>
          <p:cNvPr id="10" name="Shape 7"/>
          <p:cNvSpPr/>
          <p:nvPr/>
        </p:nvSpPr>
        <p:spPr>
          <a:xfrm>
            <a:off x="6263640" y="2148840"/>
            <a:ext cx="5349240" cy="1828800"/>
          </a:xfrm>
          <a:prstGeom prst="roundRect">
            <a:avLst>
              <a:gd name="adj" fmla="val 5000"/>
            </a:avLst>
          </a:prstGeom>
          <a:solidFill>
            <a:srgbClr val="F1F6F4"/>
          </a:solidFill>
          <a:ln/>
        </p:spPr>
        <p:txBody>
          <a:bodyPr/>
          <a:lstStyle/>
          <a:p>
            <a:endParaRPr lang="es-AR"/>
          </a:p>
        </p:txBody>
      </p:sp>
      <p:sp>
        <p:nvSpPr>
          <p:cNvPr id="11" name="Shape 8"/>
          <p:cNvSpPr/>
          <p:nvPr/>
        </p:nvSpPr>
        <p:spPr>
          <a:xfrm>
            <a:off x="6560820" y="2400300"/>
            <a:ext cx="777240" cy="777240"/>
          </a:xfrm>
          <a:prstGeom prst="ellipse">
            <a:avLst/>
          </a:prstGeom>
          <a:solidFill>
            <a:srgbClr val="42B883"/>
          </a:solidFill>
          <a:ln/>
        </p:spPr>
        <p:txBody>
          <a:bodyPr/>
          <a:lstStyle/>
          <a:p>
            <a:endParaRPr lang="es-AR"/>
          </a:p>
        </p:txBody>
      </p:sp>
      <p:pic>
        <p:nvPicPr>
          <p:cNvPr id="12" name="Image 1" descr="/home/claude/vue-poc/assets/icons/bolt_w.png"/>
          <p:cNvPicPr>
            <a:picLocks noChangeAspect="1"/>
          </p:cNvPicPr>
          <p:nvPr/>
        </p:nvPicPr>
        <p:blipFill>
          <a:blip r:embed="rId4"/>
          <a:stretch>
            <a:fillRect/>
          </a:stretch>
        </p:blipFill>
        <p:spPr>
          <a:xfrm>
            <a:off x="6669634" y="2509114"/>
            <a:ext cx="559613" cy="559613"/>
          </a:xfrm>
          <a:prstGeom prst="rect">
            <a:avLst/>
          </a:prstGeom>
        </p:spPr>
      </p:pic>
      <p:sp>
        <p:nvSpPr>
          <p:cNvPr id="13" name="Text 9"/>
          <p:cNvSpPr txBox="1"/>
          <p:nvPr/>
        </p:nvSpPr>
        <p:spPr>
          <a:xfrm>
            <a:off x="7498080" y="2331720"/>
            <a:ext cx="393192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Reactividad</a:t>
            </a:r>
            <a:endParaRPr lang="en-US" sz="2000" dirty="0"/>
          </a:p>
        </p:txBody>
      </p:sp>
      <p:sp>
        <p:nvSpPr>
          <p:cNvPr id="14" name="Text 10"/>
          <p:cNvSpPr txBox="1"/>
          <p:nvPr/>
        </p:nvSpPr>
        <p:spPr>
          <a:xfrm>
            <a:off x="7498080" y="2697480"/>
            <a:ext cx="3931920" cy="11887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Vue rastrea automáticamente qué variables de estado usa cada parte de la interfaz y actualiza el DOM solo donde cambió algo.</a:t>
            </a:r>
            <a:endParaRPr lang="en-US" dirty="0"/>
          </a:p>
        </p:txBody>
      </p:sp>
      <p:sp>
        <p:nvSpPr>
          <p:cNvPr id="15" name="Shape 11"/>
          <p:cNvSpPr/>
          <p:nvPr/>
        </p:nvSpPr>
        <p:spPr>
          <a:xfrm>
            <a:off x="548640" y="4251960"/>
            <a:ext cx="11064240" cy="1965960"/>
          </a:xfrm>
          <a:prstGeom prst="roundRect">
            <a:avLst>
              <a:gd name="adj" fmla="val 3721"/>
            </a:avLst>
          </a:prstGeom>
          <a:solidFill>
            <a:srgbClr val="1E2A33"/>
          </a:solidFill>
          <a:ln/>
        </p:spPr>
        <p:txBody>
          <a:bodyPr/>
          <a:lstStyle/>
          <a:p>
            <a:endParaRPr lang="es-AR"/>
          </a:p>
        </p:txBody>
      </p:sp>
      <p:sp>
        <p:nvSpPr>
          <p:cNvPr id="16" name="Text 12"/>
          <p:cNvSpPr txBox="1"/>
          <p:nvPr/>
        </p:nvSpPr>
        <p:spPr>
          <a:xfrm>
            <a:off x="845820" y="4311396"/>
            <a:ext cx="6299735" cy="1828800"/>
          </a:xfrm>
          <a:prstGeom prst="rect">
            <a:avLst/>
          </a:prstGeom>
          <a:noFill/>
          <a:ln/>
        </p:spPr>
        <p:txBody>
          <a:bodyPr wrap="square" lIns="0" tIns="0" rIns="0" bIns="0" rtlCol="0" anchor="ctr"/>
          <a:lstStyle/>
          <a:p>
            <a:pPr marL="0" indent="0">
              <a:buNone/>
            </a:pPr>
            <a:r>
              <a:rPr lang="en-US" sz="1150" dirty="0">
                <a:solidFill>
                  <a:srgbClr val="D7E4E1"/>
                </a:solidFill>
                <a:latin typeface="Courier New" pitchFamily="34" charset="0"/>
                <a:ea typeface="Courier New" pitchFamily="34" charset="-122"/>
                <a:cs typeface="Courier New" pitchFamily="34" charset="-120"/>
              </a:rPr>
              <a:t>import { createApp, ref } from 'vue'</a:t>
            </a:r>
            <a:endParaRPr lang="en-US" sz="1150" dirty="0"/>
          </a:p>
          <a:p>
            <a:pPr marL="0" indent="0">
              <a:buNone/>
            </a:pP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createApp({</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setup()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const count = ref(0)      // estado reactivo</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return { count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}).mount('#app')</a:t>
            </a:r>
            <a:endParaRPr lang="en-US" sz="1150" dirty="0"/>
          </a:p>
        </p:txBody>
      </p:sp>
      <p:sp>
        <p:nvSpPr>
          <p:cNvPr id="17" name="Text 13"/>
          <p:cNvSpPr txBox="1"/>
          <p:nvPr/>
        </p:nvSpPr>
        <p:spPr>
          <a:xfrm>
            <a:off x="6949440" y="4251960"/>
            <a:ext cx="4568792" cy="1947672"/>
          </a:xfrm>
          <a:prstGeom prst="rect">
            <a:avLst/>
          </a:prstGeom>
          <a:noFill/>
          <a:ln/>
        </p:spPr>
        <p:txBody>
          <a:bodyPr wrap="square" lIns="0" tIns="0" rIns="0" bIns="0" rtlCol="0" anchor="ctr"/>
          <a:lstStyle/>
          <a:p>
            <a:pPr marL="0" indent="0">
              <a:buNone/>
            </a:pPr>
            <a:r>
              <a:rPr lang="en-US" sz="1150" dirty="0">
                <a:solidFill>
                  <a:srgbClr val="42B883"/>
                </a:solidFill>
                <a:latin typeface="Courier New" pitchFamily="34" charset="0"/>
                <a:ea typeface="Courier New" pitchFamily="34" charset="-122"/>
                <a:cs typeface="Courier New" pitchFamily="34" charset="-120"/>
              </a:rPr>
              <a:t>&lt;div id="app"&gt;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&lt;button @click="count++"&gt;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Contador: {{ count }}</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&lt;/button&gt;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&lt;/div&gt;</a:t>
            </a:r>
            <a:endParaRPr lang="en-US" sz="1150" dirty="0"/>
          </a:p>
        </p:txBody>
      </p:sp>
      <p:sp>
        <p:nvSpPr>
          <p:cNvPr id="19"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Criterios de evaluación de esta PoC</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Definimos dos grupos de características para comparar Vue y React de forma objetiva:</a:t>
            </a:r>
            <a:endParaRPr lang="en-US" dirty="0"/>
          </a:p>
        </p:txBody>
      </p:sp>
      <p:sp>
        <p:nvSpPr>
          <p:cNvPr id="5" name="Shape 3"/>
          <p:cNvSpPr/>
          <p:nvPr/>
        </p:nvSpPr>
        <p:spPr>
          <a:xfrm>
            <a:off x="548640" y="2148840"/>
            <a:ext cx="5349240" cy="4023360"/>
          </a:xfrm>
          <a:prstGeom prst="roundRect">
            <a:avLst>
              <a:gd name="adj" fmla="val 2273"/>
            </a:avLst>
          </a:prstGeom>
          <a:solidFill>
            <a:srgbClr val="F1F6F4"/>
          </a:solidFill>
          <a:ln/>
        </p:spPr>
        <p:txBody>
          <a:bodyPr/>
          <a:lstStyle/>
          <a:p>
            <a:endParaRPr lang="es-AR"/>
          </a:p>
        </p:txBody>
      </p:sp>
      <p:sp>
        <p:nvSpPr>
          <p:cNvPr id="6" name="Shape 4"/>
          <p:cNvSpPr/>
          <p:nvPr/>
        </p:nvSpPr>
        <p:spPr>
          <a:xfrm>
            <a:off x="845820" y="2354580"/>
            <a:ext cx="685800" cy="685800"/>
          </a:xfrm>
          <a:prstGeom prst="ellipse">
            <a:avLst/>
          </a:prstGeom>
          <a:solidFill>
            <a:srgbClr val="42B883"/>
          </a:solidFill>
          <a:ln/>
        </p:spPr>
        <p:txBody>
          <a:bodyPr/>
          <a:lstStyle/>
          <a:p>
            <a:endParaRPr lang="es-AR"/>
          </a:p>
        </p:txBody>
      </p:sp>
      <p:pic>
        <p:nvPicPr>
          <p:cNvPr id="7" name="Image 0" descr="/home/claude/vue-poc/assets/icons/gauge_w.png"/>
          <p:cNvPicPr>
            <a:picLocks noChangeAspect="1"/>
          </p:cNvPicPr>
          <p:nvPr/>
        </p:nvPicPr>
        <p:blipFill>
          <a:blip r:embed="rId3"/>
          <a:stretch>
            <a:fillRect/>
          </a:stretch>
        </p:blipFill>
        <p:spPr>
          <a:xfrm>
            <a:off x="941832" y="2450592"/>
            <a:ext cx="493776" cy="493776"/>
          </a:xfrm>
          <a:prstGeom prst="rect">
            <a:avLst/>
          </a:prstGeom>
        </p:spPr>
      </p:pic>
      <p:sp>
        <p:nvSpPr>
          <p:cNvPr id="8" name="Text 5"/>
          <p:cNvSpPr txBox="1"/>
          <p:nvPr/>
        </p:nvSpPr>
        <p:spPr>
          <a:xfrm>
            <a:off x="1691640" y="2377440"/>
            <a:ext cx="3931920" cy="5943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Características técnicas</a:t>
            </a:r>
            <a:endParaRPr lang="en-US" sz="2000" dirty="0"/>
          </a:p>
        </p:txBody>
      </p:sp>
      <p:sp>
        <p:nvSpPr>
          <p:cNvPr id="9" name="Text 6"/>
          <p:cNvSpPr txBox="1"/>
          <p:nvPr/>
        </p:nvSpPr>
        <p:spPr>
          <a:xfrm>
            <a:off x="1005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Rendimiento y tamaño de bundle</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Modelo de reactividad y arquitectura</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Sintaxis y curva de aprendizaje</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Soporte de TypeScript</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Herramientas de build y tooling</a:t>
            </a:r>
            <a:endParaRPr lang="en-US" dirty="0"/>
          </a:p>
        </p:txBody>
      </p:sp>
      <p:sp>
        <p:nvSpPr>
          <p:cNvPr id="10" name="Shape 7"/>
          <p:cNvSpPr/>
          <p:nvPr/>
        </p:nvSpPr>
        <p:spPr>
          <a:xfrm>
            <a:off x="6263640" y="2148840"/>
            <a:ext cx="5349240" cy="4023360"/>
          </a:xfrm>
          <a:prstGeom prst="roundRect">
            <a:avLst>
              <a:gd name="adj" fmla="val 2273"/>
            </a:avLst>
          </a:prstGeom>
          <a:solidFill>
            <a:srgbClr val="F1F6F4"/>
          </a:solidFill>
          <a:ln/>
        </p:spPr>
        <p:txBody>
          <a:bodyPr/>
          <a:lstStyle/>
          <a:p>
            <a:endParaRPr lang="es-AR"/>
          </a:p>
        </p:txBody>
      </p:sp>
      <p:sp>
        <p:nvSpPr>
          <p:cNvPr id="11" name="Shape 8"/>
          <p:cNvSpPr/>
          <p:nvPr/>
        </p:nvSpPr>
        <p:spPr>
          <a:xfrm>
            <a:off x="6560820" y="2354580"/>
            <a:ext cx="685800" cy="685800"/>
          </a:xfrm>
          <a:prstGeom prst="ellipse">
            <a:avLst/>
          </a:prstGeom>
          <a:solidFill>
            <a:srgbClr val="42B883"/>
          </a:solidFill>
          <a:ln/>
        </p:spPr>
        <p:txBody>
          <a:bodyPr/>
          <a:lstStyle/>
          <a:p>
            <a:endParaRPr lang="es-AR"/>
          </a:p>
        </p:txBody>
      </p:sp>
      <p:pic>
        <p:nvPicPr>
          <p:cNvPr id="12" name="Image 1" descr="/home/claude/vue-poc/assets/icons/users_w.png"/>
          <p:cNvPicPr>
            <a:picLocks noChangeAspect="1"/>
          </p:cNvPicPr>
          <p:nvPr/>
        </p:nvPicPr>
        <p:blipFill>
          <a:blip r:embed="rId4"/>
          <a:stretch>
            <a:fillRect/>
          </a:stretch>
        </p:blipFill>
        <p:spPr>
          <a:xfrm>
            <a:off x="6656832" y="2450592"/>
            <a:ext cx="493776" cy="493776"/>
          </a:xfrm>
          <a:prstGeom prst="rect">
            <a:avLst/>
          </a:prstGeom>
        </p:spPr>
      </p:pic>
      <p:sp>
        <p:nvSpPr>
          <p:cNvPr id="13" name="Text 9"/>
          <p:cNvSpPr txBox="1"/>
          <p:nvPr/>
        </p:nvSpPr>
        <p:spPr>
          <a:xfrm>
            <a:off x="7406640" y="2377440"/>
            <a:ext cx="3931920" cy="5943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Proceso de desarrollo</a:t>
            </a:r>
            <a:endParaRPr lang="en-US" sz="2000" dirty="0"/>
          </a:p>
        </p:txBody>
      </p:sp>
      <p:sp>
        <p:nvSpPr>
          <p:cNvPr id="14" name="Text 10"/>
          <p:cNvSpPr txBox="1"/>
          <p:nvPr/>
        </p:nvSpPr>
        <p:spPr>
          <a:xfrm>
            <a:off x="6720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Documentación oficial disponible</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Tamaño y actividad de la comunidad</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Oferta y demanda de desarrolladores</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Soporte y frecuencia de actualizaciones</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Adopción real por empresas</a:t>
            </a:r>
            <a:endParaRPr lang="en-US"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8"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code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3017520" y="228600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2 ·</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Arquitectura y sintaxis de Vue.js</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sz="2000" dirty="0">
                <a:solidFill>
                  <a:srgbClr val="C9D6D3"/>
                </a:solidFill>
                <a:latin typeface="Calibri" pitchFamily="34" charset="0"/>
                <a:ea typeface="Calibri" pitchFamily="34" charset="-122"/>
                <a:cs typeface="Calibri" pitchFamily="34" charset="-120"/>
              </a:rPr>
              <a:t>Cómo se construye una aplicación real: reactividad en profundidad, componentes y las dos formas de escribir Vue.</a:t>
            </a:r>
            <a:endParaRPr lang="en-US" sz="20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El sistema de reactividad en profundidad</a:t>
            </a:r>
            <a:endParaRPr lang="en-US" sz="3000" dirty="0"/>
          </a:p>
        </p:txBody>
      </p:sp>
      <p:sp>
        <p:nvSpPr>
          <p:cNvPr id="4" name="Shape 2"/>
          <p:cNvSpPr/>
          <p:nvPr/>
        </p:nvSpPr>
        <p:spPr>
          <a:xfrm>
            <a:off x="548640" y="1691640"/>
            <a:ext cx="5212080" cy="822960"/>
          </a:xfrm>
          <a:prstGeom prst="roundRect">
            <a:avLst>
              <a:gd name="adj" fmla="val 6667"/>
            </a:avLst>
          </a:prstGeom>
          <a:solidFill>
            <a:srgbClr val="F1F6F4"/>
          </a:solidFill>
          <a:ln/>
        </p:spPr>
        <p:txBody>
          <a:bodyPr/>
          <a:lstStyle/>
          <a:p>
            <a:endParaRPr lang="es-AR"/>
          </a:p>
        </p:txBody>
      </p:sp>
      <p:sp>
        <p:nvSpPr>
          <p:cNvPr id="5" name="Text 3"/>
          <p:cNvSpPr txBox="1"/>
          <p:nvPr/>
        </p:nvSpPr>
        <p:spPr>
          <a:xfrm>
            <a:off x="731520" y="176479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ref()</a:t>
            </a:r>
            <a:endParaRPr lang="en-US" sz="1500" dirty="0"/>
          </a:p>
        </p:txBody>
      </p:sp>
      <p:sp>
        <p:nvSpPr>
          <p:cNvPr id="6" name="Text 4"/>
          <p:cNvSpPr txBox="1"/>
          <p:nvPr/>
        </p:nvSpPr>
        <p:spPr>
          <a:xfrm>
            <a:off x="2468880" y="1764792"/>
            <a:ext cx="329184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Envuelve un valor primitivo en un objeto reactivo. Se accede/modifica con .value.</a:t>
            </a:r>
            <a:endParaRPr lang="en-US" sz="1600" dirty="0"/>
          </a:p>
        </p:txBody>
      </p:sp>
      <p:sp>
        <p:nvSpPr>
          <p:cNvPr id="7" name="Shape 5"/>
          <p:cNvSpPr/>
          <p:nvPr/>
        </p:nvSpPr>
        <p:spPr>
          <a:xfrm>
            <a:off x="548640" y="2651760"/>
            <a:ext cx="5212080" cy="822960"/>
          </a:xfrm>
          <a:prstGeom prst="roundRect">
            <a:avLst>
              <a:gd name="adj" fmla="val 6667"/>
            </a:avLst>
          </a:prstGeom>
          <a:solidFill>
            <a:srgbClr val="F1F6F4"/>
          </a:solidFill>
          <a:ln/>
        </p:spPr>
        <p:txBody>
          <a:bodyPr/>
          <a:lstStyle/>
          <a:p>
            <a:endParaRPr lang="es-AR"/>
          </a:p>
        </p:txBody>
      </p:sp>
      <p:sp>
        <p:nvSpPr>
          <p:cNvPr id="8" name="Text 6"/>
          <p:cNvSpPr txBox="1"/>
          <p:nvPr/>
        </p:nvSpPr>
        <p:spPr>
          <a:xfrm>
            <a:off x="731520" y="272491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reactive()</a:t>
            </a:r>
            <a:endParaRPr lang="en-US" sz="1500" dirty="0"/>
          </a:p>
        </p:txBody>
      </p:sp>
      <p:sp>
        <p:nvSpPr>
          <p:cNvPr id="9" name="Text 7"/>
          <p:cNvSpPr txBox="1"/>
          <p:nvPr/>
        </p:nvSpPr>
        <p:spPr>
          <a:xfrm>
            <a:off x="2468880" y="2724912"/>
            <a:ext cx="320040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Convierte un objeto completo en reactivo (proxy de JavaScript).</a:t>
            </a:r>
            <a:endParaRPr lang="en-US" sz="1600" dirty="0"/>
          </a:p>
        </p:txBody>
      </p:sp>
      <p:sp>
        <p:nvSpPr>
          <p:cNvPr id="10" name="Shape 8"/>
          <p:cNvSpPr/>
          <p:nvPr/>
        </p:nvSpPr>
        <p:spPr>
          <a:xfrm>
            <a:off x="548640" y="3611880"/>
            <a:ext cx="5212080" cy="822960"/>
          </a:xfrm>
          <a:prstGeom prst="roundRect">
            <a:avLst>
              <a:gd name="adj" fmla="val 6667"/>
            </a:avLst>
          </a:prstGeom>
          <a:solidFill>
            <a:srgbClr val="F1F6F4"/>
          </a:solidFill>
          <a:ln/>
        </p:spPr>
        <p:txBody>
          <a:bodyPr/>
          <a:lstStyle/>
          <a:p>
            <a:endParaRPr lang="es-AR"/>
          </a:p>
        </p:txBody>
      </p:sp>
      <p:sp>
        <p:nvSpPr>
          <p:cNvPr id="11" name="Text 9"/>
          <p:cNvSpPr txBox="1"/>
          <p:nvPr/>
        </p:nvSpPr>
        <p:spPr>
          <a:xfrm>
            <a:off x="731520" y="368503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computed()</a:t>
            </a:r>
            <a:endParaRPr lang="en-US" sz="1500" dirty="0"/>
          </a:p>
        </p:txBody>
      </p:sp>
      <p:sp>
        <p:nvSpPr>
          <p:cNvPr id="12" name="Text 10"/>
          <p:cNvSpPr txBox="1"/>
          <p:nvPr/>
        </p:nvSpPr>
        <p:spPr>
          <a:xfrm>
            <a:off x="2468880" y="3685032"/>
            <a:ext cx="320040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Valor derivado que se recalcula solo cuando cambian sus dependencias.</a:t>
            </a:r>
            <a:endParaRPr lang="en-US" sz="1600" dirty="0"/>
          </a:p>
        </p:txBody>
      </p:sp>
      <p:sp>
        <p:nvSpPr>
          <p:cNvPr id="13" name="Shape 11"/>
          <p:cNvSpPr/>
          <p:nvPr/>
        </p:nvSpPr>
        <p:spPr>
          <a:xfrm>
            <a:off x="548640" y="4572000"/>
            <a:ext cx="5212080" cy="822960"/>
          </a:xfrm>
          <a:prstGeom prst="roundRect">
            <a:avLst>
              <a:gd name="adj" fmla="val 6667"/>
            </a:avLst>
          </a:prstGeom>
          <a:solidFill>
            <a:srgbClr val="F1F6F4"/>
          </a:solidFill>
          <a:ln/>
        </p:spPr>
        <p:txBody>
          <a:bodyPr/>
          <a:lstStyle/>
          <a:p>
            <a:endParaRPr lang="es-AR"/>
          </a:p>
        </p:txBody>
      </p:sp>
      <p:sp>
        <p:nvSpPr>
          <p:cNvPr id="14" name="Text 12"/>
          <p:cNvSpPr txBox="1"/>
          <p:nvPr/>
        </p:nvSpPr>
        <p:spPr>
          <a:xfrm>
            <a:off x="731520" y="464515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watch()</a:t>
            </a:r>
            <a:endParaRPr lang="en-US" sz="1500" dirty="0"/>
          </a:p>
        </p:txBody>
      </p:sp>
      <p:sp>
        <p:nvSpPr>
          <p:cNvPr id="15" name="Text 13"/>
          <p:cNvSpPr txBox="1"/>
          <p:nvPr/>
        </p:nvSpPr>
        <p:spPr>
          <a:xfrm>
            <a:off x="2468880" y="4645152"/>
            <a:ext cx="320040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Ejecuta una función cuando una fuente reactiva específica cambia.</a:t>
            </a:r>
            <a:endParaRPr lang="en-US" sz="1600" dirty="0"/>
          </a:p>
        </p:txBody>
      </p:sp>
      <p:sp>
        <p:nvSpPr>
          <p:cNvPr id="16" name="Shape 14"/>
          <p:cNvSpPr/>
          <p:nvPr/>
        </p:nvSpPr>
        <p:spPr>
          <a:xfrm>
            <a:off x="6355080" y="1691640"/>
            <a:ext cx="4983480" cy="3977640"/>
          </a:xfrm>
          <a:prstGeom prst="roundRect">
            <a:avLst>
              <a:gd name="adj" fmla="val 1839"/>
            </a:avLst>
          </a:prstGeom>
          <a:solidFill>
            <a:srgbClr val="1E2A33"/>
          </a:solidFill>
          <a:ln/>
        </p:spPr>
        <p:txBody>
          <a:bodyPr/>
          <a:lstStyle/>
          <a:p>
            <a:endParaRPr lang="es-AR"/>
          </a:p>
        </p:txBody>
      </p:sp>
      <p:sp>
        <p:nvSpPr>
          <p:cNvPr id="17" name="Text 15"/>
          <p:cNvSpPr txBox="1"/>
          <p:nvPr/>
        </p:nvSpPr>
        <p:spPr>
          <a:xfrm>
            <a:off x="6568442" y="1612232"/>
            <a:ext cx="5364478" cy="397764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import { ref, computed, watch } from 'vue'</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price = ref(100)</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qty = ref(2)</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total = computed(</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 =&gt; price.value * qty.value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watch(total, (nuevo) =&gt;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console.log('Total actualizado:', nuevo)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1"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Sintaxis de templates y directivas</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Vue extiende HTML con atributos especiales ("directivas") que conectan el template con el estado:</a:t>
            </a:r>
            <a:endParaRPr lang="en-US" sz="2000" dirty="0"/>
          </a:p>
        </p:txBody>
      </p:sp>
      <p:sp>
        <p:nvSpPr>
          <p:cNvPr id="5" name="Text 3"/>
          <p:cNvSpPr txBox="1"/>
          <p:nvPr/>
        </p:nvSpPr>
        <p:spPr>
          <a:xfrm>
            <a:off x="548640" y="238343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v-bind / :</a:t>
            </a:r>
            <a:endParaRPr lang="en-US" sz="1300" dirty="0"/>
          </a:p>
        </p:txBody>
      </p:sp>
      <p:sp>
        <p:nvSpPr>
          <p:cNvPr id="6" name="Text 4"/>
          <p:cNvSpPr txBox="1"/>
          <p:nvPr/>
        </p:nvSpPr>
        <p:spPr>
          <a:xfrm>
            <a:off x="2011528" y="2382936"/>
            <a:ext cx="4606491"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Enlaza un atributo HTML a una </a:t>
            </a:r>
            <a:r>
              <a:rPr lang="en-US" sz="1600" dirty="0" err="1">
                <a:solidFill>
                  <a:srgbClr val="5B6B73"/>
                </a:solidFill>
                <a:latin typeface="Calibri" pitchFamily="34" charset="0"/>
                <a:ea typeface="Calibri" pitchFamily="34" charset="-122"/>
                <a:cs typeface="Calibri" pitchFamily="34" charset="-120"/>
              </a:rPr>
              <a:t>expresión</a:t>
            </a:r>
            <a:r>
              <a:rPr lang="en-US" sz="1600" dirty="0">
                <a:solidFill>
                  <a:srgbClr val="5B6B73"/>
                </a:solidFill>
                <a:latin typeface="Calibri" pitchFamily="34" charset="0"/>
                <a:ea typeface="Calibri" pitchFamily="34" charset="-122"/>
                <a:cs typeface="Calibri" pitchFamily="34" charset="-120"/>
              </a:rPr>
              <a:t> :src="imgUrl"</a:t>
            </a:r>
            <a:endParaRPr lang="en-US" sz="1600" dirty="0"/>
          </a:p>
        </p:txBody>
      </p:sp>
      <p:sp>
        <p:nvSpPr>
          <p:cNvPr id="7" name="Text 5"/>
          <p:cNvSpPr txBox="1"/>
          <p:nvPr/>
        </p:nvSpPr>
        <p:spPr>
          <a:xfrm>
            <a:off x="535980" y="302346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v-on / @</a:t>
            </a:r>
            <a:endParaRPr lang="en-US" sz="1300" dirty="0"/>
          </a:p>
        </p:txBody>
      </p:sp>
      <p:sp>
        <p:nvSpPr>
          <p:cNvPr id="8" name="Text 6"/>
          <p:cNvSpPr txBox="1"/>
          <p:nvPr/>
        </p:nvSpPr>
        <p:spPr>
          <a:xfrm>
            <a:off x="2011528" y="3023916"/>
            <a:ext cx="448056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Escucha un evento del DOM — @click="guardar"</a:t>
            </a:r>
            <a:endParaRPr lang="en-US" sz="1600" dirty="0"/>
          </a:p>
        </p:txBody>
      </p:sp>
      <p:sp>
        <p:nvSpPr>
          <p:cNvPr id="9" name="Text 7"/>
          <p:cNvSpPr txBox="1"/>
          <p:nvPr/>
        </p:nvSpPr>
        <p:spPr>
          <a:xfrm>
            <a:off x="535980" y="3700092"/>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v-if / v-else</a:t>
            </a:r>
            <a:endParaRPr lang="en-US" sz="1300" dirty="0"/>
          </a:p>
        </p:txBody>
      </p:sp>
      <p:sp>
        <p:nvSpPr>
          <p:cNvPr id="10" name="Text 8"/>
          <p:cNvSpPr txBox="1"/>
          <p:nvPr/>
        </p:nvSpPr>
        <p:spPr>
          <a:xfrm>
            <a:off x="2011528" y="3695519"/>
            <a:ext cx="411480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Renderiza condicionalmente un bloque completo</a:t>
            </a:r>
            <a:endParaRPr lang="en-US" sz="1600" dirty="0"/>
          </a:p>
        </p:txBody>
      </p:sp>
      <p:sp>
        <p:nvSpPr>
          <p:cNvPr id="11" name="Text 9"/>
          <p:cNvSpPr txBox="1"/>
          <p:nvPr/>
        </p:nvSpPr>
        <p:spPr>
          <a:xfrm>
            <a:off x="548640" y="4529649"/>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v-for</a:t>
            </a:r>
            <a:endParaRPr lang="en-US" sz="1300" dirty="0"/>
          </a:p>
        </p:txBody>
      </p:sp>
      <p:sp>
        <p:nvSpPr>
          <p:cNvPr id="12" name="Text 10"/>
          <p:cNvSpPr txBox="1"/>
          <p:nvPr/>
        </p:nvSpPr>
        <p:spPr>
          <a:xfrm>
            <a:off x="2011528" y="4478795"/>
            <a:ext cx="388620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Repite un elemento por cada ítem de una lista</a:t>
            </a:r>
            <a:endParaRPr lang="en-US" sz="1600" dirty="0"/>
          </a:p>
        </p:txBody>
      </p:sp>
      <p:sp>
        <p:nvSpPr>
          <p:cNvPr id="13" name="Text 11"/>
          <p:cNvSpPr txBox="1"/>
          <p:nvPr/>
        </p:nvSpPr>
        <p:spPr>
          <a:xfrm>
            <a:off x="548640" y="526726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v-model</a:t>
            </a:r>
            <a:endParaRPr lang="en-US" sz="1300" dirty="0"/>
          </a:p>
        </p:txBody>
      </p:sp>
      <p:sp>
        <p:nvSpPr>
          <p:cNvPr id="14" name="Text 12"/>
          <p:cNvSpPr txBox="1"/>
          <p:nvPr/>
        </p:nvSpPr>
        <p:spPr>
          <a:xfrm>
            <a:off x="2011528" y="5216412"/>
            <a:ext cx="362712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Data binding bidireccional en formularios</a:t>
            </a:r>
            <a:endParaRPr lang="en-US" sz="1600" dirty="0"/>
          </a:p>
        </p:txBody>
      </p:sp>
      <p:sp>
        <p:nvSpPr>
          <p:cNvPr id="15" name="Shape 13"/>
          <p:cNvSpPr/>
          <p:nvPr/>
        </p:nvSpPr>
        <p:spPr>
          <a:xfrm>
            <a:off x="6928585" y="2271562"/>
            <a:ext cx="4983480" cy="3840480"/>
          </a:xfrm>
          <a:prstGeom prst="roundRect">
            <a:avLst>
              <a:gd name="adj" fmla="val 1905"/>
            </a:avLst>
          </a:prstGeom>
          <a:solidFill>
            <a:srgbClr val="1E2A33"/>
          </a:solidFill>
          <a:ln/>
        </p:spPr>
        <p:txBody>
          <a:bodyPr/>
          <a:lstStyle/>
          <a:p>
            <a:endParaRPr lang="es-AR"/>
          </a:p>
        </p:txBody>
      </p:sp>
      <p:sp>
        <p:nvSpPr>
          <p:cNvPr id="16" name="Text 14"/>
          <p:cNvSpPr txBox="1"/>
          <p:nvPr/>
        </p:nvSpPr>
        <p:spPr>
          <a:xfrm>
            <a:off x="7326430" y="2331720"/>
            <a:ext cx="4526280" cy="3520440"/>
          </a:xfrm>
          <a:prstGeom prst="rect">
            <a:avLst/>
          </a:prstGeom>
          <a:noFill/>
          <a:ln/>
        </p:spPr>
        <p:txBody>
          <a:bodyPr wrap="square" lIns="0" tIns="0" rIns="0" bIns="0" rtlCol="0" anchor="ctr"/>
          <a:lstStyle/>
          <a:p>
            <a:pPr marL="0" indent="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&lt;li v-for="item in tareas" :key="item.id"&gt;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&lt;input type="checkbox"</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v-model="item.hecha" /&gt;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&lt;span :class="{ hecha: item.hecha }"&gt;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 item.texto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&lt;/span&gt;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&lt;button @click="borrar(item.id)"&gt;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Eliminar</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&lt;/button&gt;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&lt;/li&gt;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Single-File Components (.vue)</a:t>
            </a:r>
            <a:endParaRPr lang="en-US" sz="3000" dirty="0"/>
          </a:p>
        </p:txBody>
      </p:sp>
      <p:sp>
        <p:nvSpPr>
          <p:cNvPr id="4" name="Text 2"/>
          <p:cNvSpPr txBox="1"/>
          <p:nvPr/>
        </p:nvSpPr>
        <p:spPr>
          <a:xfrm>
            <a:off x="548640" y="1572768"/>
            <a:ext cx="10972800" cy="36576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Cada componente vive en un solo archivo .vue con tres bloques bien separados:</a:t>
            </a:r>
            <a:endParaRPr lang="en-US" sz="2000" dirty="0"/>
          </a:p>
        </p:txBody>
      </p:sp>
      <p:sp>
        <p:nvSpPr>
          <p:cNvPr id="5" name="Shape 3"/>
          <p:cNvSpPr/>
          <p:nvPr/>
        </p:nvSpPr>
        <p:spPr>
          <a:xfrm>
            <a:off x="548640" y="2057400"/>
            <a:ext cx="6583680" cy="3977640"/>
          </a:xfrm>
          <a:prstGeom prst="roundRect">
            <a:avLst>
              <a:gd name="adj" fmla="val 1839"/>
            </a:avLst>
          </a:prstGeom>
          <a:solidFill>
            <a:srgbClr val="1E2A33"/>
          </a:solidFill>
          <a:ln/>
        </p:spPr>
        <p:txBody>
          <a:bodyPr/>
          <a:lstStyle/>
          <a:p>
            <a:endParaRPr lang="es-AR"/>
          </a:p>
        </p:txBody>
      </p:sp>
      <p:sp>
        <p:nvSpPr>
          <p:cNvPr id="6" name="Text 4"/>
          <p:cNvSpPr txBox="1"/>
          <p:nvPr/>
        </p:nvSpPr>
        <p:spPr>
          <a:xfrm>
            <a:off x="822960" y="2075688"/>
            <a:ext cx="6708808" cy="3822192"/>
          </a:xfrm>
          <a:prstGeom prst="rect">
            <a:avLst/>
          </a:prstGeom>
          <a:noFill/>
          <a:ln/>
        </p:spPr>
        <p:txBody>
          <a:bodyPr wrap="square" lIns="0" tIns="0" rIns="0" bIns="0" rtlCol="0" anchor="ctr"/>
          <a:lstStyle/>
          <a:p>
            <a:pPr marL="0" indent="0">
              <a:buNone/>
            </a:pPr>
            <a:r>
              <a:rPr lang="en-US" sz="1250" dirty="0">
                <a:solidFill>
                  <a:srgbClr val="D7E4E1"/>
                </a:solidFill>
                <a:latin typeface="Courier New" pitchFamily="34" charset="0"/>
                <a:ea typeface="Courier New" pitchFamily="34" charset="-122"/>
                <a:cs typeface="Courier New" pitchFamily="34" charset="-120"/>
              </a:rPr>
              <a:t>&lt;script setup&gt;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import { ref } from 'vue'</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const count = ref(0)</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&lt;/script&gt;</a:t>
            </a:r>
            <a:endParaRPr lang="en-US" sz="1250" dirty="0"/>
          </a:p>
          <a:p>
            <a:pPr marL="0" indent="0">
              <a:buNone/>
            </a:pP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&lt;button @click="count++"&gt;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Clicks: {{ count }}</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&lt;/button&gt;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marL="0" indent="0">
              <a:buNone/>
            </a:pP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&lt;style scoped&gt;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button { font-weight: bold; }</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&lt;/style&gt;</a:t>
            </a:r>
            <a:endParaRPr lang="en-US" sz="1250" dirty="0"/>
          </a:p>
        </p:txBody>
      </p:sp>
      <p:sp>
        <p:nvSpPr>
          <p:cNvPr id="7" name="Shape 5"/>
          <p:cNvSpPr/>
          <p:nvPr/>
        </p:nvSpPr>
        <p:spPr>
          <a:xfrm>
            <a:off x="8275320" y="2194560"/>
            <a:ext cx="548640" cy="548640"/>
          </a:xfrm>
          <a:prstGeom prst="ellipse">
            <a:avLst/>
          </a:prstGeom>
          <a:solidFill>
            <a:srgbClr val="42B883"/>
          </a:solidFill>
          <a:ln/>
        </p:spPr>
        <p:txBody>
          <a:bodyPr/>
          <a:lstStyle/>
          <a:p>
            <a:endParaRPr lang="es-AR"/>
          </a:p>
        </p:txBody>
      </p:sp>
      <p:pic>
        <p:nvPicPr>
          <p:cNvPr id="8" name="Image 0" descr="/home/claude/vue-poc/assets/icons/layers_w.png"/>
          <p:cNvPicPr>
            <a:picLocks noChangeAspect="1"/>
          </p:cNvPicPr>
          <p:nvPr/>
        </p:nvPicPr>
        <p:blipFill>
          <a:blip r:embed="rId3"/>
          <a:stretch>
            <a:fillRect/>
          </a:stretch>
        </p:blipFill>
        <p:spPr>
          <a:xfrm>
            <a:off x="8352130" y="2271370"/>
            <a:ext cx="395021" cy="395021"/>
          </a:xfrm>
          <a:prstGeom prst="rect">
            <a:avLst/>
          </a:prstGeom>
        </p:spPr>
      </p:pic>
      <p:sp>
        <p:nvSpPr>
          <p:cNvPr id="9" name="Text 6"/>
          <p:cNvSpPr txBox="1"/>
          <p:nvPr/>
        </p:nvSpPr>
        <p:spPr>
          <a:xfrm>
            <a:off x="8961120" y="2148840"/>
            <a:ext cx="2743200" cy="320040"/>
          </a:xfrm>
          <a:prstGeom prst="rect">
            <a:avLst/>
          </a:prstGeom>
          <a:noFill/>
          <a:ln/>
        </p:spPr>
        <p:txBody>
          <a:bodyPr wrap="square" lIns="0" tIns="0" rIns="0" bIns="0" rtlCol="0" anchor="ctr"/>
          <a:lstStyle/>
          <a:p>
            <a:pPr marL="0" indent="0">
              <a:buNone/>
            </a:pPr>
            <a:r>
              <a:rPr lang="en-US" b="1" dirty="0">
                <a:solidFill>
                  <a:srgbClr val="1E2A33"/>
                </a:solidFill>
                <a:latin typeface="Courier New" pitchFamily="34" charset="0"/>
                <a:ea typeface="Courier New" pitchFamily="34" charset="-122"/>
                <a:cs typeface="Courier New" pitchFamily="34" charset="-120"/>
              </a:rPr>
              <a:t>&lt;script&gt;</a:t>
            </a:r>
            <a:endParaRPr lang="en-US" dirty="0"/>
          </a:p>
        </p:txBody>
      </p:sp>
      <p:sp>
        <p:nvSpPr>
          <p:cNvPr id="10" name="Text 7"/>
          <p:cNvSpPr txBox="1"/>
          <p:nvPr/>
        </p:nvSpPr>
        <p:spPr>
          <a:xfrm>
            <a:off x="8961120" y="2459736"/>
            <a:ext cx="2788920" cy="64008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Lógica del componente en JavaScript / TypeScript</a:t>
            </a:r>
            <a:endParaRPr lang="en-US" sz="1600" dirty="0"/>
          </a:p>
        </p:txBody>
      </p:sp>
      <p:sp>
        <p:nvSpPr>
          <p:cNvPr id="11" name="Shape 8"/>
          <p:cNvSpPr/>
          <p:nvPr/>
        </p:nvSpPr>
        <p:spPr>
          <a:xfrm>
            <a:off x="8275320" y="3383280"/>
            <a:ext cx="548640" cy="548640"/>
          </a:xfrm>
          <a:prstGeom prst="ellipse">
            <a:avLst/>
          </a:prstGeom>
          <a:solidFill>
            <a:srgbClr val="42B883"/>
          </a:solidFill>
          <a:ln/>
        </p:spPr>
        <p:txBody>
          <a:bodyPr/>
          <a:lstStyle/>
          <a:p>
            <a:endParaRPr lang="es-AR"/>
          </a:p>
        </p:txBody>
      </p:sp>
      <p:pic>
        <p:nvPicPr>
          <p:cNvPr id="12" name="Image 1" descr="/home/claude/vue-poc/assets/icons/layers_w.png"/>
          <p:cNvPicPr>
            <a:picLocks noChangeAspect="1"/>
          </p:cNvPicPr>
          <p:nvPr/>
        </p:nvPicPr>
        <p:blipFill>
          <a:blip r:embed="rId3"/>
          <a:stretch>
            <a:fillRect/>
          </a:stretch>
        </p:blipFill>
        <p:spPr>
          <a:xfrm>
            <a:off x="8352130" y="3460090"/>
            <a:ext cx="395021" cy="395021"/>
          </a:xfrm>
          <a:prstGeom prst="rect">
            <a:avLst/>
          </a:prstGeom>
        </p:spPr>
      </p:pic>
      <p:sp>
        <p:nvSpPr>
          <p:cNvPr id="13" name="Text 9"/>
          <p:cNvSpPr txBox="1"/>
          <p:nvPr/>
        </p:nvSpPr>
        <p:spPr>
          <a:xfrm>
            <a:off x="8961120" y="3337560"/>
            <a:ext cx="2743200" cy="320040"/>
          </a:xfrm>
          <a:prstGeom prst="rect">
            <a:avLst/>
          </a:prstGeom>
          <a:noFill/>
          <a:ln/>
        </p:spPr>
        <p:txBody>
          <a:bodyPr wrap="square" lIns="0" tIns="0" rIns="0" bIns="0" rtlCol="0" anchor="ctr"/>
          <a:lstStyle/>
          <a:p>
            <a:pPr marL="0" indent="0">
              <a:buNone/>
            </a:pPr>
            <a:r>
              <a:rPr lang="en-US" b="1" dirty="0">
                <a:solidFill>
                  <a:srgbClr val="1E2A33"/>
                </a:solidFill>
                <a:latin typeface="Courier New" pitchFamily="34" charset="0"/>
                <a:ea typeface="Courier New" pitchFamily="34" charset="-122"/>
                <a:cs typeface="Courier New" pitchFamily="34" charset="-120"/>
              </a:rPr>
              <a:t>&lt;template&gt;</a:t>
            </a:r>
            <a:endParaRPr lang="en-US" dirty="0"/>
          </a:p>
        </p:txBody>
      </p:sp>
      <p:sp>
        <p:nvSpPr>
          <p:cNvPr id="14" name="Text 10"/>
          <p:cNvSpPr txBox="1"/>
          <p:nvPr/>
        </p:nvSpPr>
        <p:spPr>
          <a:xfrm>
            <a:off x="8961120" y="3639312"/>
            <a:ext cx="2788920" cy="64008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Estructura HTML declarativa, con directivas</a:t>
            </a:r>
            <a:endParaRPr lang="en-US" sz="1600" dirty="0"/>
          </a:p>
        </p:txBody>
      </p:sp>
      <p:sp>
        <p:nvSpPr>
          <p:cNvPr id="15" name="Shape 11"/>
          <p:cNvSpPr/>
          <p:nvPr/>
        </p:nvSpPr>
        <p:spPr>
          <a:xfrm>
            <a:off x="8275320" y="4572000"/>
            <a:ext cx="548640" cy="548640"/>
          </a:xfrm>
          <a:prstGeom prst="ellipse">
            <a:avLst/>
          </a:prstGeom>
          <a:solidFill>
            <a:srgbClr val="42B883"/>
          </a:solidFill>
          <a:ln/>
        </p:spPr>
        <p:txBody>
          <a:bodyPr/>
          <a:lstStyle/>
          <a:p>
            <a:endParaRPr lang="es-AR"/>
          </a:p>
        </p:txBody>
      </p:sp>
      <p:pic>
        <p:nvPicPr>
          <p:cNvPr id="16" name="Image 2" descr="/home/claude/vue-poc/assets/icons/layers_w.png"/>
          <p:cNvPicPr>
            <a:picLocks noChangeAspect="1"/>
          </p:cNvPicPr>
          <p:nvPr/>
        </p:nvPicPr>
        <p:blipFill>
          <a:blip r:embed="rId3"/>
          <a:stretch>
            <a:fillRect/>
          </a:stretch>
        </p:blipFill>
        <p:spPr>
          <a:xfrm>
            <a:off x="8352130" y="4648810"/>
            <a:ext cx="395021" cy="395021"/>
          </a:xfrm>
          <a:prstGeom prst="rect">
            <a:avLst/>
          </a:prstGeom>
        </p:spPr>
      </p:pic>
      <p:sp>
        <p:nvSpPr>
          <p:cNvPr id="17" name="Text 12"/>
          <p:cNvSpPr txBox="1"/>
          <p:nvPr/>
        </p:nvSpPr>
        <p:spPr>
          <a:xfrm>
            <a:off x="8961120" y="4526280"/>
            <a:ext cx="2743200" cy="320040"/>
          </a:xfrm>
          <a:prstGeom prst="rect">
            <a:avLst/>
          </a:prstGeom>
          <a:noFill/>
          <a:ln/>
        </p:spPr>
        <p:txBody>
          <a:bodyPr wrap="square" lIns="0" tIns="0" rIns="0" bIns="0" rtlCol="0" anchor="ctr"/>
          <a:lstStyle/>
          <a:p>
            <a:pPr marL="0" indent="0">
              <a:buNone/>
            </a:pPr>
            <a:r>
              <a:rPr lang="en-US" b="1" dirty="0">
                <a:solidFill>
                  <a:srgbClr val="1E2A33"/>
                </a:solidFill>
                <a:latin typeface="Courier New" pitchFamily="34" charset="0"/>
                <a:ea typeface="Courier New" pitchFamily="34" charset="-122"/>
                <a:cs typeface="Courier New" pitchFamily="34" charset="-120"/>
              </a:rPr>
              <a:t>&lt;style scoped&gt;</a:t>
            </a:r>
            <a:endParaRPr lang="en-US" dirty="0"/>
          </a:p>
        </p:txBody>
      </p:sp>
      <p:sp>
        <p:nvSpPr>
          <p:cNvPr id="18" name="Text 13"/>
          <p:cNvSpPr txBox="1"/>
          <p:nvPr/>
        </p:nvSpPr>
        <p:spPr>
          <a:xfrm>
            <a:off x="8961120" y="4818888"/>
            <a:ext cx="2788920" cy="64008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CSS que aplica solo a este componente</a:t>
            </a:r>
            <a:endParaRPr lang="en-US" sz="160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772026"/>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Dos estilos de API: Options vs Composition</a:t>
            </a:r>
            <a:endParaRPr lang="en-US" sz="3000" dirty="0"/>
          </a:p>
        </p:txBody>
      </p:sp>
      <p:sp>
        <p:nvSpPr>
          <p:cNvPr id="4" name="Text 2"/>
          <p:cNvSpPr txBox="1"/>
          <p:nvPr/>
        </p:nvSpPr>
        <p:spPr>
          <a:xfrm>
            <a:off x="548640" y="1691640"/>
            <a:ext cx="5212080" cy="365760"/>
          </a:xfrm>
          <a:prstGeom prst="rect">
            <a:avLst/>
          </a:prstGeom>
          <a:noFill/>
          <a:ln/>
        </p:spPr>
        <p:txBody>
          <a:bodyPr wrap="square" lIns="0" tIns="0" rIns="0" bIns="0" rtlCol="0" anchor="ctr"/>
          <a:lstStyle/>
          <a:p>
            <a:pPr marL="0" indent="0">
              <a:buNone/>
            </a:pPr>
            <a:r>
              <a:rPr lang="en-US" sz="2000" b="1" dirty="0">
                <a:solidFill>
                  <a:srgbClr val="6C7A82"/>
                </a:solidFill>
                <a:latin typeface="Calibri" pitchFamily="34" charset="0"/>
                <a:ea typeface="Calibri" pitchFamily="34" charset="-122"/>
                <a:cs typeface="Calibri" pitchFamily="34" charset="-120"/>
              </a:rPr>
              <a:t>Options API</a:t>
            </a:r>
            <a:endParaRPr lang="en-US" sz="2000" dirty="0"/>
          </a:p>
        </p:txBody>
      </p:sp>
      <p:sp>
        <p:nvSpPr>
          <p:cNvPr id="5" name="Text 3"/>
          <p:cNvSpPr txBox="1"/>
          <p:nvPr/>
        </p:nvSpPr>
        <p:spPr>
          <a:xfrm>
            <a:off x="548640" y="2020824"/>
            <a:ext cx="5212080" cy="274320"/>
          </a:xfrm>
          <a:prstGeom prst="rect">
            <a:avLst/>
          </a:prstGeom>
          <a:noFill/>
          <a:ln/>
        </p:spPr>
        <p:txBody>
          <a:bodyPr wrap="square" lIns="0" tIns="0" rIns="0" bIns="0" rtlCol="0" anchor="ctr"/>
          <a:lstStyle/>
          <a:p>
            <a:pPr marL="0" indent="0">
              <a:buNone/>
            </a:pPr>
            <a:r>
              <a:rPr lang="en-US" sz="1400" i="1" dirty="0">
                <a:solidFill>
                  <a:srgbClr val="5B6B73"/>
                </a:solidFill>
                <a:latin typeface="Calibri" pitchFamily="34" charset="0"/>
                <a:ea typeface="Calibri" pitchFamily="34" charset="-122"/>
                <a:cs typeface="Calibri" pitchFamily="34" charset="-120"/>
              </a:rPr>
              <a:t>Clásico · más simple para empezar</a:t>
            </a:r>
            <a:endParaRPr lang="en-US" sz="1400" dirty="0"/>
          </a:p>
        </p:txBody>
      </p:sp>
      <p:sp>
        <p:nvSpPr>
          <p:cNvPr id="6" name="Shape 4"/>
          <p:cNvSpPr/>
          <p:nvPr/>
        </p:nvSpPr>
        <p:spPr>
          <a:xfrm>
            <a:off x="548640" y="2377440"/>
            <a:ext cx="5212080" cy="2423160"/>
          </a:xfrm>
          <a:prstGeom prst="roundRect">
            <a:avLst>
              <a:gd name="adj" fmla="val 3019"/>
            </a:avLst>
          </a:prstGeom>
          <a:solidFill>
            <a:srgbClr val="1E2A33"/>
          </a:solidFill>
          <a:ln/>
        </p:spPr>
        <p:txBody>
          <a:bodyPr/>
          <a:lstStyle/>
          <a:p>
            <a:endParaRPr lang="es-AR"/>
          </a:p>
        </p:txBody>
      </p:sp>
      <p:sp>
        <p:nvSpPr>
          <p:cNvPr id="7" name="Text 5"/>
          <p:cNvSpPr txBox="1"/>
          <p:nvPr/>
        </p:nvSpPr>
        <p:spPr>
          <a:xfrm>
            <a:off x="777240" y="2542032"/>
            <a:ext cx="4754880" cy="210312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export default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data()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return { count: 0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methods: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inc() { this.count++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6126480" y="1691640"/>
            <a:ext cx="5212080" cy="36576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Composition API</a:t>
            </a:r>
            <a:endParaRPr lang="en-US" sz="2000" dirty="0"/>
          </a:p>
        </p:txBody>
      </p:sp>
      <p:sp>
        <p:nvSpPr>
          <p:cNvPr id="9" name="Text 7"/>
          <p:cNvSpPr txBox="1"/>
          <p:nvPr/>
        </p:nvSpPr>
        <p:spPr>
          <a:xfrm>
            <a:off x="6126480" y="2029968"/>
            <a:ext cx="5212080" cy="274320"/>
          </a:xfrm>
          <a:prstGeom prst="rect">
            <a:avLst/>
          </a:prstGeom>
          <a:noFill/>
          <a:ln/>
        </p:spPr>
        <p:txBody>
          <a:bodyPr wrap="square" lIns="0" tIns="0" rIns="0" bIns="0" rtlCol="0" anchor="ctr"/>
          <a:lstStyle/>
          <a:p>
            <a:pPr marL="0" indent="0">
              <a:buNone/>
            </a:pPr>
            <a:r>
              <a:rPr lang="en-US" sz="1400" i="1" dirty="0">
                <a:solidFill>
                  <a:srgbClr val="5B6B73"/>
                </a:solidFill>
                <a:latin typeface="Calibri" pitchFamily="34" charset="0"/>
                <a:ea typeface="Calibri" pitchFamily="34" charset="-122"/>
                <a:cs typeface="Calibri" pitchFamily="34" charset="-120"/>
              </a:rPr>
              <a:t>Moderno · recomendado para apps grandes</a:t>
            </a:r>
            <a:endParaRPr lang="en-US" sz="1400" dirty="0"/>
          </a:p>
        </p:txBody>
      </p:sp>
      <p:sp>
        <p:nvSpPr>
          <p:cNvPr id="10" name="Shape 8"/>
          <p:cNvSpPr/>
          <p:nvPr/>
        </p:nvSpPr>
        <p:spPr>
          <a:xfrm>
            <a:off x="6126480" y="2377440"/>
            <a:ext cx="5212080" cy="2423160"/>
          </a:xfrm>
          <a:prstGeom prst="roundRect">
            <a:avLst>
              <a:gd name="adj" fmla="val 3019"/>
            </a:avLst>
          </a:prstGeom>
          <a:solidFill>
            <a:srgbClr val="1E2A33"/>
          </a:solidFill>
          <a:ln/>
        </p:spPr>
        <p:txBody>
          <a:bodyPr/>
          <a:lstStyle/>
          <a:p>
            <a:endParaRPr lang="es-AR"/>
          </a:p>
        </p:txBody>
      </p:sp>
      <p:sp>
        <p:nvSpPr>
          <p:cNvPr id="11" name="Text 9"/>
          <p:cNvSpPr txBox="1"/>
          <p:nvPr/>
        </p:nvSpPr>
        <p:spPr>
          <a:xfrm>
            <a:off x="6355080" y="2542032"/>
            <a:ext cx="4754880" cy="210312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import { ref } from 'vue'</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count = ref(0)</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function inc()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count.value++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2" name="Text 10"/>
          <p:cNvSpPr txBox="1"/>
          <p:nvPr/>
        </p:nvSpPr>
        <p:spPr>
          <a:xfrm>
            <a:off x="548640" y="4983480"/>
            <a:ext cx="11064240" cy="1188720"/>
          </a:xfrm>
          <a:prstGeom prst="rect">
            <a:avLst/>
          </a:prstGeom>
          <a:noFill/>
          <a:ln/>
        </p:spPr>
        <p:txBody>
          <a:bodyPr wrap="square" lIns="0" tIns="0" rIns="0" bIns="0" rtlCol="0" anchor="ctr"/>
          <a:lstStyle/>
          <a:p>
            <a:pPr marL="342900" indent="-342900">
              <a:spcAft>
                <a:spcPts val="600"/>
              </a:spcAft>
              <a:buSzPct val="100000"/>
              <a:buChar char="•"/>
            </a:pPr>
            <a:r>
              <a:rPr lang="en-US" dirty="0">
                <a:solidFill>
                  <a:srgbClr val="1E2A33"/>
                </a:solidFill>
                <a:latin typeface="Calibri" pitchFamily="34" charset="0"/>
                <a:ea typeface="Calibri" pitchFamily="34" charset="-122"/>
                <a:cs typeface="Calibri" pitchFamily="34" charset="-120"/>
              </a:rPr>
              <a:t>Options: agrupa por tipo (data, methods, computed) — más guiado, ideal para equipos nuevos en Vue.</a:t>
            </a:r>
            <a:endParaRPr lang="en-US" dirty="0"/>
          </a:p>
          <a:p>
            <a:pPr marL="342900" indent="-342900">
              <a:spcAft>
                <a:spcPts val="600"/>
              </a:spcAft>
              <a:buSzPct val="100000"/>
              <a:buChar char="•"/>
            </a:pPr>
            <a:r>
              <a:rPr lang="en-US" dirty="0">
                <a:solidFill>
                  <a:srgbClr val="1E2A33"/>
                </a:solidFill>
                <a:latin typeface="Calibri" pitchFamily="34" charset="0"/>
                <a:ea typeface="Calibri" pitchFamily="34" charset="-122"/>
                <a:cs typeface="Calibri" pitchFamily="34" charset="-120"/>
              </a:rPr>
              <a:t>Composition: agrupa por lógica relacionada — más flexible, mejor para reutilizar lógica entre componentes (composables) y para TypeScript.</a:t>
            </a:r>
            <a:endParaRPr lang="en-US" dirty="0"/>
          </a:p>
          <a:p>
            <a:pPr marL="342900" indent="-342900">
              <a:spcAft>
                <a:spcPts val="600"/>
              </a:spcAft>
              <a:buSzPct val="100000"/>
              <a:buChar char="•"/>
            </a:pPr>
            <a:r>
              <a:rPr lang="en-US" dirty="0">
                <a:solidFill>
                  <a:srgbClr val="1E2A33"/>
                </a:solidFill>
                <a:latin typeface="Calibri" pitchFamily="34" charset="0"/>
                <a:ea typeface="Calibri" pitchFamily="34" charset="-122"/>
                <a:cs typeface="Calibri" pitchFamily="34" charset="-120"/>
              </a:rPr>
              <a:t>Ambas coexisten en Vue 3 y son 100% interoperables en el mismo proyecto.</a:t>
            </a:r>
            <a:endParaRPr lang="en-US" dirty="0"/>
          </a:p>
        </p:txBody>
      </p:sp>
      <p:sp>
        <p:nvSpPr>
          <p:cNvPr id="14"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6"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Componentes: props, eventos y slots</a:t>
            </a:r>
            <a:endParaRPr lang="en-US" sz="3000" dirty="0"/>
          </a:p>
        </p:txBody>
      </p:sp>
      <p:sp>
        <p:nvSpPr>
          <p:cNvPr id="4" name="Shape 2"/>
          <p:cNvSpPr/>
          <p:nvPr/>
        </p:nvSpPr>
        <p:spPr>
          <a:xfrm>
            <a:off x="548640" y="1737360"/>
            <a:ext cx="3566160" cy="2286000"/>
          </a:xfrm>
          <a:prstGeom prst="roundRect">
            <a:avLst>
              <a:gd name="adj" fmla="val 4000"/>
            </a:avLst>
          </a:prstGeom>
          <a:solidFill>
            <a:srgbClr val="F1F6F4"/>
          </a:solidFill>
          <a:ln/>
        </p:spPr>
        <p:txBody>
          <a:bodyPr/>
          <a:lstStyle/>
          <a:p>
            <a:endParaRPr lang="es-AR"/>
          </a:p>
        </p:txBody>
      </p:sp>
      <p:sp>
        <p:nvSpPr>
          <p:cNvPr id="5" name="Shape 3"/>
          <p:cNvSpPr/>
          <p:nvPr/>
        </p:nvSpPr>
        <p:spPr>
          <a:xfrm>
            <a:off x="1943100" y="1943100"/>
            <a:ext cx="777240" cy="777240"/>
          </a:xfrm>
          <a:prstGeom prst="ellipse">
            <a:avLst/>
          </a:prstGeom>
          <a:solidFill>
            <a:srgbClr val="42B883"/>
          </a:solidFill>
          <a:ln/>
        </p:spPr>
        <p:txBody>
          <a:bodyPr/>
          <a:lstStyle/>
          <a:p>
            <a:endParaRPr lang="es-AR"/>
          </a:p>
        </p:txBody>
      </p:sp>
      <p:pic>
        <p:nvPicPr>
          <p:cNvPr id="6" name="Image 0" descr="/home/claude/vue-poc/assets/icons/box_w.png"/>
          <p:cNvPicPr>
            <a:picLocks noChangeAspect="1"/>
          </p:cNvPicPr>
          <p:nvPr/>
        </p:nvPicPr>
        <p:blipFill>
          <a:blip r:embed="rId3"/>
          <a:stretch>
            <a:fillRect/>
          </a:stretch>
        </p:blipFill>
        <p:spPr>
          <a:xfrm>
            <a:off x="2051914" y="2051914"/>
            <a:ext cx="559613" cy="559613"/>
          </a:xfrm>
          <a:prstGeom prst="rect">
            <a:avLst/>
          </a:prstGeom>
        </p:spPr>
      </p:pic>
      <p:sp>
        <p:nvSpPr>
          <p:cNvPr id="7" name="Text 4"/>
          <p:cNvSpPr txBox="1"/>
          <p:nvPr/>
        </p:nvSpPr>
        <p:spPr>
          <a:xfrm>
            <a:off x="723098" y="2774755"/>
            <a:ext cx="320040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Props</a:t>
            </a:r>
            <a:endParaRPr lang="en-US" sz="2000" dirty="0"/>
          </a:p>
        </p:txBody>
      </p:sp>
      <p:sp>
        <p:nvSpPr>
          <p:cNvPr id="8" name="Text 5"/>
          <p:cNvSpPr txBox="1"/>
          <p:nvPr/>
        </p:nvSpPr>
        <p:spPr>
          <a:xfrm>
            <a:off x="777240" y="3246120"/>
            <a:ext cx="3108960" cy="6858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Datos que un componente padre pasa a un hijo. Fluyen en una sola dirección (top-down).</a:t>
            </a:r>
            <a:endParaRPr lang="en-US" sz="1600" dirty="0"/>
          </a:p>
        </p:txBody>
      </p:sp>
      <p:sp>
        <p:nvSpPr>
          <p:cNvPr id="9" name="Shape 6"/>
          <p:cNvSpPr/>
          <p:nvPr/>
        </p:nvSpPr>
        <p:spPr>
          <a:xfrm>
            <a:off x="4297680" y="1737360"/>
            <a:ext cx="3566160" cy="2286000"/>
          </a:xfrm>
          <a:prstGeom prst="roundRect">
            <a:avLst>
              <a:gd name="adj" fmla="val 4000"/>
            </a:avLst>
          </a:prstGeom>
          <a:solidFill>
            <a:srgbClr val="F1F6F4"/>
          </a:solidFill>
          <a:ln/>
        </p:spPr>
        <p:txBody>
          <a:bodyPr/>
          <a:lstStyle/>
          <a:p>
            <a:endParaRPr lang="es-AR"/>
          </a:p>
        </p:txBody>
      </p:sp>
      <p:sp>
        <p:nvSpPr>
          <p:cNvPr id="10" name="Shape 7"/>
          <p:cNvSpPr/>
          <p:nvPr/>
        </p:nvSpPr>
        <p:spPr>
          <a:xfrm>
            <a:off x="5692140" y="1943100"/>
            <a:ext cx="777240" cy="777240"/>
          </a:xfrm>
          <a:prstGeom prst="ellipse">
            <a:avLst/>
          </a:prstGeom>
          <a:solidFill>
            <a:srgbClr val="42B883"/>
          </a:solidFill>
          <a:ln/>
        </p:spPr>
        <p:txBody>
          <a:bodyPr/>
          <a:lstStyle/>
          <a:p>
            <a:endParaRPr lang="es-AR"/>
          </a:p>
        </p:txBody>
      </p:sp>
      <p:pic>
        <p:nvPicPr>
          <p:cNvPr id="11" name="Image 1" descr="/home/claude/vue-poc/assets/icons/arrows_w.png"/>
          <p:cNvPicPr>
            <a:picLocks noChangeAspect="1"/>
          </p:cNvPicPr>
          <p:nvPr/>
        </p:nvPicPr>
        <p:blipFill>
          <a:blip r:embed="rId4"/>
          <a:stretch>
            <a:fillRect/>
          </a:stretch>
        </p:blipFill>
        <p:spPr>
          <a:xfrm>
            <a:off x="5800954" y="2051914"/>
            <a:ext cx="559613" cy="559613"/>
          </a:xfrm>
          <a:prstGeom prst="rect">
            <a:avLst/>
          </a:prstGeom>
        </p:spPr>
      </p:pic>
      <p:sp>
        <p:nvSpPr>
          <p:cNvPr id="12" name="Text 8"/>
          <p:cNvSpPr txBox="1"/>
          <p:nvPr/>
        </p:nvSpPr>
        <p:spPr>
          <a:xfrm>
            <a:off x="4480560" y="2820331"/>
            <a:ext cx="3200400" cy="365760"/>
          </a:xfrm>
          <a:prstGeom prst="rect">
            <a:avLst/>
          </a:prstGeom>
          <a:noFill/>
          <a:ln/>
        </p:spPr>
        <p:txBody>
          <a:bodyPr wrap="square" lIns="0" tIns="0" rIns="0" bIns="0" rtlCol="0" anchor="ctr"/>
          <a:lstStyle/>
          <a:p>
            <a:pPr marL="0" indent="0" algn="ctr">
              <a:buNone/>
            </a:pPr>
            <a:r>
              <a:rPr lang="en-US" sz="2000" b="1" dirty="0" err="1">
                <a:solidFill>
                  <a:srgbClr val="1E2A33"/>
                </a:solidFill>
                <a:latin typeface="Calibri" pitchFamily="34" charset="0"/>
                <a:ea typeface="Calibri" pitchFamily="34" charset="-122"/>
                <a:cs typeface="Calibri" pitchFamily="34" charset="-120"/>
              </a:rPr>
              <a:t>Eventos</a:t>
            </a:r>
            <a:r>
              <a:rPr lang="en-US" sz="2000" b="1" dirty="0">
                <a:solidFill>
                  <a:srgbClr val="1E2A33"/>
                </a:solidFill>
                <a:latin typeface="Calibri" pitchFamily="34" charset="0"/>
                <a:ea typeface="Calibri" pitchFamily="34" charset="-122"/>
                <a:cs typeface="Calibri" pitchFamily="34" charset="-120"/>
              </a:rPr>
              <a:t> (emit)</a:t>
            </a:r>
            <a:endParaRPr lang="en-US" sz="2000" dirty="0"/>
          </a:p>
        </p:txBody>
      </p:sp>
      <p:sp>
        <p:nvSpPr>
          <p:cNvPr id="13" name="Text 9"/>
          <p:cNvSpPr txBox="1"/>
          <p:nvPr/>
        </p:nvSpPr>
        <p:spPr>
          <a:xfrm>
            <a:off x="4526280" y="3246120"/>
            <a:ext cx="3108960" cy="6858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El hijo notifica al padre mediante eventos personalizados — comunicación de abajo hacia arriba.</a:t>
            </a:r>
            <a:endParaRPr lang="en-US" sz="1600" dirty="0"/>
          </a:p>
        </p:txBody>
      </p:sp>
      <p:sp>
        <p:nvSpPr>
          <p:cNvPr id="14" name="Shape 10"/>
          <p:cNvSpPr/>
          <p:nvPr/>
        </p:nvSpPr>
        <p:spPr>
          <a:xfrm>
            <a:off x="8046720" y="1737360"/>
            <a:ext cx="3566160" cy="2286000"/>
          </a:xfrm>
          <a:prstGeom prst="roundRect">
            <a:avLst>
              <a:gd name="adj" fmla="val 4000"/>
            </a:avLst>
          </a:prstGeom>
          <a:solidFill>
            <a:srgbClr val="F1F6F4"/>
          </a:solidFill>
          <a:ln/>
        </p:spPr>
        <p:txBody>
          <a:bodyPr/>
          <a:lstStyle/>
          <a:p>
            <a:endParaRPr lang="es-AR"/>
          </a:p>
        </p:txBody>
      </p:sp>
      <p:sp>
        <p:nvSpPr>
          <p:cNvPr id="15" name="Shape 11"/>
          <p:cNvSpPr/>
          <p:nvPr/>
        </p:nvSpPr>
        <p:spPr>
          <a:xfrm>
            <a:off x="9441180" y="1943100"/>
            <a:ext cx="777240" cy="777240"/>
          </a:xfrm>
          <a:prstGeom prst="ellipse">
            <a:avLst/>
          </a:prstGeom>
          <a:solidFill>
            <a:srgbClr val="42B883"/>
          </a:solidFill>
          <a:ln/>
        </p:spPr>
        <p:txBody>
          <a:bodyPr/>
          <a:lstStyle/>
          <a:p>
            <a:endParaRPr lang="es-AR"/>
          </a:p>
        </p:txBody>
      </p:sp>
      <p:pic>
        <p:nvPicPr>
          <p:cNvPr id="16" name="Image 2" descr="/home/claude/vue-poc/assets/icons/layers_w.png"/>
          <p:cNvPicPr>
            <a:picLocks noChangeAspect="1"/>
          </p:cNvPicPr>
          <p:nvPr/>
        </p:nvPicPr>
        <p:blipFill>
          <a:blip r:embed="rId5"/>
          <a:stretch>
            <a:fillRect/>
          </a:stretch>
        </p:blipFill>
        <p:spPr>
          <a:xfrm>
            <a:off x="9549994" y="2051914"/>
            <a:ext cx="559613" cy="559613"/>
          </a:xfrm>
          <a:prstGeom prst="rect">
            <a:avLst/>
          </a:prstGeom>
        </p:spPr>
      </p:pic>
      <p:sp>
        <p:nvSpPr>
          <p:cNvPr id="17" name="Text 12"/>
          <p:cNvSpPr txBox="1"/>
          <p:nvPr/>
        </p:nvSpPr>
        <p:spPr>
          <a:xfrm>
            <a:off x="8229600" y="2834640"/>
            <a:ext cx="320040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Slots</a:t>
            </a:r>
            <a:endParaRPr lang="en-US" sz="2000" dirty="0"/>
          </a:p>
        </p:txBody>
      </p:sp>
      <p:sp>
        <p:nvSpPr>
          <p:cNvPr id="18" name="Text 13"/>
          <p:cNvSpPr txBox="1"/>
          <p:nvPr/>
        </p:nvSpPr>
        <p:spPr>
          <a:xfrm>
            <a:off x="8275320" y="3246120"/>
            <a:ext cx="3108960" cy="6858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Huecos de contenido que el padre puede rellenar, para componentes reutilizables y flexibles.</a:t>
            </a:r>
            <a:endParaRPr lang="en-US" sz="1600" dirty="0"/>
          </a:p>
        </p:txBody>
      </p:sp>
      <p:sp>
        <p:nvSpPr>
          <p:cNvPr id="19" name="Shape 14"/>
          <p:cNvSpPr/>
          <p:nvPr/>
        </p:nvSpPr>
        <p:spPr>
          <a:xfrm>
            <a:off x="548640" y="4251960"/>
            <a:ext cx="11064240" cy="1965960"/>
          </a:xfrm>
          <a:prstGeom prst="roundRect">
            <a:avLst>
              <a:gd name="adj" fmla="val 3721"/>
            </a:avLst>
          </a:prstGeom>
          <a:solidFill>
            <a:srgbClr val="1E2A33"/>
          </a:solidFill>
          <a:ln/>
        </p:spPr>
        <p:txBody>
          <a:bodyPr/>
          <a:lstStyle/>
          <a:p>
            <a:endParaRPr lang="es-AR"/>
          </a:p>
        </p:txBody>
      </p:sp>
      <p:sp>
        <p:nvSpPr>
          <p:cNvPr id="20" name="Text 15"/>
          <p:cNvSpPr txBox="1"/>
          <p:nvPr/>
        </p:nvSpPr>
        <p:spPr>
          <a:xfrm>
            <a:off x="822960" y="4434840"/>
            <a:ext cx="10515600" cy="173736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 Hijo: TarjetaProducto.vue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defineProps(['nombre', 'precio'])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emit = defineEmits(['agregar'])</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Padre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&lt;TarjetaProducto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:nombre="p.nombre" :precio="p.precio"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@agregar="agregarAlCarrito" /&gt;</a:t>
            </a:r>
            <a:endParaRPr lang="en-US" sz="1200" dirty="0"/>
          </a:p>
        </p:txBody>
      </p:sp>
      <p:sp>
        <p:nvSpPr>
          <p:cNvPr id="22"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4"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Ciclo de vida de un componente</a:t>
            </a:r>
            <a:endParaRPr lang="en-US" sz="3000" dirty="0"/>
          </a:p>
        </p:txBody>
      </p:sp>
      <p:sp>
        <p:nvSpPr>
          <p:cNvPr id="4" name="Shape 2"/>
          <p:cNvSpPr/>
          <p:nvPr/>
        </p:nvSpPr>
        <p:spPr>
          <a:xfrm>
            <a:off x="548640" y="2011680"/>
            <a:ext cx="3383280" cy="2651760"/>
          </a:xfrm>
          <a:prstGeom prst="roundRect">
            <a:avLst>
              <a:gd name="adj" fmla="val 3448"/>
            </a:avLst>
          </a:prstGeom>
          <a:solidFill>
            <a:srgbClr val="42B883"/>
          </a:solidFill>
          <a:ln/>
        </p:spPr>
        <p:txBody>
          <a:bodyPr/>
          <a:lstStyle/>
          <a:p>
            <a:endParaRPr lang="es-AR"/>
          </a:p>
        </p:txBody>
      </p:sp>
      <p:sp>
        <p:nvSpPr>
          <p:cNvPr id="5" name="Shape 3"/>
          <p:cNvSpPr/>
          <p:nvPr/>
        </p:nvSpPr>
        <p:spPr>
          <a:xfrm>
            <a:off x="1851660" y="2217420"/>
            <a:ext cx="777240" cy="777240"/>
          </a:xfrm>
          <a:prstGeom prst="ellipse">
            <a:avLst/>
          </a:prstGeom>
          <a:solidFill>
            <a:schemeClr val="bg2">
              <a:lumMod val="75000"/>
            </a:schemeClr>
          </a:solidFill>
          <a:ln/>
        </p:spPr>
        <p:txBody>
          <a:bodyPr/>
          <a:lstStyle/>
          <a:p>
            <a:endParaRPr lang="es-AR"/>
          </a:p>
        </p:txBody>
      </p:sp>
      <p:pic>
        <p:nvPicPr>
          <p:cNvPr id="6" name="Image 0" descr="/home/claude/vue-poc/assets/icons/rocket_w.png"/>
          <p:cNvPicPr>
            <a:picLocks noChangeAspect="1"/>
          </p:cNvPicPr>
          <p:nvPr/>
        </p:nvPicPr>
        <p:blipFill>
          <a:blip r:embed="rId3"/>
          <a:stretch>
            <a:fillRect/>
          </a:stretch>
        </p:blipFill>
        <p:spPr>
          <a:xfrm>
            <a:off x="1960474" y="2326234"/>
            <a:ext cx="559613" cy="559613"/>
          </a:xfrm>
          <a:prstGeom prst="rect">
            <a:avLst/>
          </a:prstGeom>
        </p:spPr>
      </p:pic>
      <p:sp>
        <p:nvSpPr>
          <p:cNvPr id="7" name="Text 4"/>
          <p:cNvSpPr txBox="1"/>
          <p:nvPr/>
        </p:nvSpPr>
        <p:spPr>
          <a:xfrm>
            <a:off x="685800" y="3154680"/>
            <a:ext cx="310896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onMounted</a:t>
            </a:r>
            <a:endParaRPr lang="en-US" sz="2000" dirty="0"/>
          </a:p>
        </p:txBody>
      </p:sp>
      <p:sp>
        <p:nvSpPr>
          <p:cNvPr id="8" name="Text 5"/>
          <p:cNvSpPr txBox="1"/>
          <p:nvPr/>
        </p:nvSpPr>
        <p:spPr>
          <a:xfrm>
            <a:off x="731520" y="3520440"/>
            <a:ext cx="3017520" cy="1051560"/>
          </a:xfrm>
          <a:prstGeom prst="rect">
            <a:avLst/>
          </a:prstGeom>
          <a:noFill/>
          <a:ln/>
        </p:spPr>
        <p:txBody>
          <a:bodyPr wrap="square" lIns="0" tIns="0" rIns="0" bIns="0" rtlCol="0" anchor="ctr"/>
          <a:lstStyle/>
          <a:p>
            <a:pPr marL="0" indent="0" algn="ctr">
              <a:buNone/>
            </a:pPr>
            <a:r>
              <a:rPr lang="en-US" dirty="0">
                <a:solidFill>
                  <a:srgbClr val="EAF5F0"/>
                </a:solidFill>
                <a:latin typeface="Calibri" pitchFamily="34" charset="0"/>
                <a:ea typeface="Calibri" pitchFamily="34" charset="-122"/>
                <a:cs typeface="Calibri" pitchFamily="34" charset="-120"/>
              </a:rPr>
              <a:t>El componente ya está en el DOM. Ideal para pedir datos a una API.</a:t>
            </a:r>
            <a:endParaRPr lang="en-US" dirty="0"/>
          </a:p>
        </p:txBody>
      </p:sp>
      <p:sp>
        <p:nvSpPr>
          <p:cNvPr id="9" name="Shape 6"/>
          <p:cNvSpPr/>
          <p:nvPr/>
        </p:nvSpPr>
        <p:spPr>
          <a:xfrm>
            <a:off x="4160520" y="2011680"/>
            <a:ext cx="3383280" cy="2651760"/>
          </a:xfrm>
          <a:prstGeom prst="roundRect">
            <a:avLst>
              <a:gd name="adj" fmla="val 3448"/>
            </a:avLst>
          </a:prstGeom>
          <a:solidFill>
            <a:srgbClr val="F1F6F4"/>
          </a:solidFill>
          <a:ln/>
        </p:spPr>
        <p:txBody>
          <a:bodyPr/>
          <a:lstStyle/>
          <a:p>
            <a:endParaRPr lang="es-AR"/>
          </a:p>
        </p:txBody>
      </p:sp>
      <p:sp>
        <p:nvSpPr>
          <p:cNvPr id="10" name="Shape 7"/>
          <p:cNvSpPr/>
          <p:nvPr/>
        </p:nvSpPr>
        <p:spPr>
          <a:xfrm>
            <a:off x="5463540" y="2217420"/>
            <a:ext cx="777240" cy="777240"/>
          </a:xfrm>
          <a:prstGeom prst="ellipse">
            <a:avLst/>
          </a:prstGeom>
          <a:solidFill>
            <a:srgbClr val="42B883"/>
          </a:solidFill>
          <a:ln/>
        </p:spPr>
        <p:txBody>
          <a:bodyPr/>
          <a:lstStyle/>
          <a:p>
            <a:endParaRPr lang="es-AR"/>
          </a:p>
        </p:txBody>
      </p:sp>
      <p:pic>
        <p:nvPicPr>
          <p:cNvPr id="11" name="Image 1" descr="/home/claude/vue-poc/assets/icons/chart_w.png"/>
          <p:cNvPicPr>
            <a:picLocks noChangeAspect="1"/>
          </p:cNvPicPr>
          <p:nvPr/>
        </p:nvPicPr>
        <p:blipFill>
          <a:blip r:embed="rId4"/>
          <a:stretch>
            <a:fillRect/>
          </a:stretch>
        </p:blipFill>
        <p:spPr>
          <a:xfrm>
            <a:off x="5572354" y="2326234"/>
            <a:ext cx="559613" cy="559613"/>
          </a:xfrm>
          <a:prstGeom prst="rect">
            <a:avLst/>
          </a:prstGeom>
        </p:spPr>
      </p:pic>
      <p:sp>
        <p:nvSpPr>
          <p:cNvPr id="12" name="Text 8"/>
          <p:cNvSpPr txBox="1"/>
          <p:nvPr/>
        </p:nvSpPr>
        <p:spPr>
          <a:xfrm>
            <a:off x="4297680" y="3154680"/>
            <a:ext cx="310896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ourier New" pitchFamily="34" charset="0"/>
                <a:ea typeface="Courier New" pitchFamily="34" charset="-122"/>
                <a:cs typeface="Courier New" pitchFamily="34" charset="-120"/>
              </a:rPr>
              <a:t>onUpdated</a:t>
            </a:r>
            <a:endParaRPr lang="en-US" sz="2000" dirty="0"/>
          </a:p>
        </p:txBody>
      </p:sp>
      <p:sp>
        <p:nvSpPr>
          <p:cNvPr id="13" name="Text 9"/>
          <p:cNvSpPr txBox="1"/>
          <p:nvPr/>
        </p:nvSpPr>
        <p:spPr>
          <a:xfrm>
            <a:off x="4343400" y="3520440"/>
            <a:ext cx="3017520" cy="105156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Se ejecuta después de que el DOM se actualiza por un cambio reactivo.</a:t>
            </a:r>
            <a:endParaRPr lang="en-US" dirty="0"/>
          </a:p>
        </p:txBody>
      </p:sp>
      <p:sp>
        <p:nvSpPr>
          <p:cNvPr id="14" name="Shape 10"/>
          <p:cNvSpPr/>
          <p:nvPr/>
        </p:nvSpPr>
        <p:spPr>
          <a:xfrm>
            <a:off x="7772400" y="2011680"/>
            <a:ext cx="3383280" cy="2651760"/>
          </a:xfrm>
          <a:prstGeom prst="roundRect">
            <a:avLst>
              <a:gd name="adj" fmla="val 3448"/>
            </a:avLst>
          </a:prstGeom>
          <a:solidFill>
            <a:srgbClr val="F1F6F4"/>
          </a:solidFill>
          <a:ln/>
        </p:spPr>
        <p:txBody>
          <a:bodyPr/>
          <a:lstStyle/>
          <a:p>
            <a:endParaRPr lang="es-AR"/>
          </a:p>
        </p:txBody>
      </p:sp>
      <p:sp>
        <p:nvSpPr>
          <p:cNvPr id="15" name="Shape 11"/>
          <p:cNvSpPr/>
          <p:nvPr/>
        </p:nvSpPr>
        <p:spPr>
          <a:xfrm>
            <a:off x="9075420" y="2217420"/>
            <a:ext cx="777240" cy="777240"/>
          </a:xfrm>
          <a:prstGeom prst="ellipse">
            <a:avLst/>
          </a:prstGeom>
          <a:solidFill>
            <a:srgbClr val="42B883"/>
          </a:solidFill>
          <a:ln/>
        </p:spPr>
        <p:txBody>
          <a:bodyPr/>
          <a:lstStyle/>
          <a:p>
            <a:endParaRPr lang="es-AR"/>
          </a:p>
        </p:txBody>
      </p:sp>
      <p:pic>
        <p:nvPicPr>
          <p:cNvPr id="16" name="Image 2" descr="/home/claude/vue-poc/assets/icons/clock_w.png"/>
          <p:cNvPicPr>
            <a:picLocks noChangeAspect="1"/>
          </p:cNvPicPr>
          <p:nvPr/>
        </p:nvPicPr>
        <p:blipFill>
          <a:blip r:embed="rId5"/>
          <a:stretch>
            <a:fillRect/>
          </a:stretch>
        </p:blipFill>
        <p:spPr>
          <a:xfrm>
            <a:off x="9184234" y="2326234"/>
            <a:ext cx="559613" cy="559613"/>
          </a:xfrm>
          <a:prstGeom prst="rect">
            <a:avLst/>
          </a:prstGeom>
        </p:spPr>
      </p:pic>
      <p:sp>
        <p:nvSpPr>
          <p:cNvPr id="17" name="Text 12"/>
          <p:cNvSpPr txBox="1"/>
          <p:nvPr/>
        </p:nvSpPr>
        <p:spPr>
          <a:xfrm>
            <a:off x="7955280" y="3148938"/>
            <a:ext cx="310896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ourier New" pitchFamily="34" charset="0"/>
                <a:ea typeface="Courier New" pitchFamily="34" charset="-122"/>
                <a:cs typeface="Courier New" pitchFamily="34" charset="-120"/>
              </a:rPr>
              <a:t>onUnmounted</a:t>
            </a:r>
            <a:endParaRPr lang="en-US" sz="2000" dirty="0"/>
          </a:p>
        </p:txBody>
      </p:sp>
      <p:sp>
        <p:nvSpPr>
          <p:cNvPr id="18" name="Text 13"/>
          <p:cNvSpPr txBox="1"/>
          <p:nvPr/>
        </p:nvSpPr>
        <p:spPr>
          <a:xfrm>
            <a:off x="7955280" y="3520440"/>
            <a:ext cx="3017520" cy="105156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El componente se elimina del DOM. Momento de limpiar listeners o timers.</a:t>
            </a:r>
            <a:endParaRPr lang="en-US" dirty="0"/>
          </a:p>
        </p:txBody>
      </p:sp>
      <p:pic>
        <p:nvPicPr>
          <p:cNvPr id="19" name="Image 3" descr="/home/claude/vue-poc/assets/icons/arrow_right.png"/>
          <p:cNvPicPr>
            <a:picLocks noChangeAspect="1"/>
          </p:cNvPicPr>
          <p:nvPr/>
        </p:nvPicPr>
        <p:blipFill>
          <a:blip r:embed="rId6"/>
          <a:stretch>
            <a:fillRect/>
          </a:stretch>
        </p:blipFill>
        <p:spPr>
          <a:xfrm>
            <a:off x="3977640" y="3200400"/>
            <a:ext cx="274320" cy="274320"/>
          </a:xfrm>
          <a:prstGeom prst="rect">
            <a:avLst/>
          </a:prstGeom>
        </p:spPr>
      </p:pic>
      <p:pic>
        <p:nvPicPr>
          <p:cNvPr id="20" name="Image 4" descr="/home/claude/vue-poc/assets/icons/arrow_right.png"/>
          <p:cNvPicPr>
            <a:picLocks noChangeAspect="1"/>
          </p:cNvPicPr>
          <p:nvPr/>
        </p:nvPicPr>
        <p:blipFill>
          <a:blip r:embed="rId6"/>
          <a:stretch>
            <a:fillRect/>
          </a:stretch>
        </p:blipFill>
        <p:spPr>
          <a:xfrm>
            <a:off x="7589520" y="3200400"/>
            <a:ext cx="274320" cy="274320"/>
          </a:xfrm>
          <a:prstGeom prst="rect">
            <a:avLst/>
          </a:prstGeom>
        </p:spPr>
      </p:pic>
      <p:sp>
        <p:nvSpPr>
          <p:cNvPr id="21" name="Shape 14"/>
          <p:cNvSpPr/>
          <p:nvPr/>
        </p:nvSpPr>
        <p:spPr>
          <a:xfrm>
            <a:off x="429127" y="4892040"/>
            <a:ext cx="11634536" cy="1325880"/>
          </a:xfrm>
          <a:prstGeom prst="roundRect">
            <a:avLst>
              <a:gd name="adj" fmla="val 5517"/>
            </a:avLst>
          </a:prstGeom>
          <a:solidFill>
            <a:srgbClr val="1E2A33"/>
          </a:solidFill>
          <a:ln/>
        </p:spPr>
        <p:txBody>
          <a:bodyPr/>
          <a:lstStyle/>
          <a:p>
            <a:endParaRPr lang="es-AR"/>
          </a:p>
        </p:txBody>
      </p:sp>
      <p:sp>
        <p:nvSpPr>
          <p:cNvPr id="22" name="Text 15"/>
          <p:cNvSpPr txBox="1"/>
          <p:nvPr/>
        </p:nvSpPr>
        <p:spPr>
          <a:xfrm>
            <a:off x="484071" y="5074920"/>
            <a:ext cx="11634536" cy="914400"/>
          </a:xfrm>
          <a:prstGeom prst="rect">
            <a:avLst/>
          </a:prstGeom>
          <a:noFill/>
          <a:ln/>
        </p:spPr>
        <p:txBody>
          <a:bodyPr wrap="square" lIns="0" tIns="0" rIns="0" bIns="0" rtlCol="0" anchor="ctr"/>
          <a:lstStyle/>
          <a:p>
            <a:pPr marL="0" indent="0">
              <a:buNone/>
            </a:pPr>
            <a:r>
              <a:rPr lang="en-US" sz="1600" dirty="0">
                <a:solidFill>
                  <a:srgbClr val="42B883"/>
                </a:solidFill>
                <a:latin typeface="Courier New" pitchFamily="34" charset="0"/>
                <a:ea typeface="Courier New" pitchFamily="34" charset="-122"/>
                <a:cs typeface="Courier New" pitchFamily="34" charset="-120"/>
              </a:rPr>
              <a:t>onMounted(() =&gt; { fetch('/api/productos').then(r =&gt; r.json()).then(d =&gt; productos.value = d)})</a:t>
            </a:r>
            <a:endParaRPr lang="en-US" sz="1600" dirty="0"/>
          </a:p>
        </p:txBody>
      </p:sp>
      <p:sp>
        <p:nvSpPr>
          <p:cNvPr id="24"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6"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Soporte de TypeScript</a:t>
            </a:r>
            <a:endParaRPr lang="en-US" sz="3000" dirty="0"/>
          </a:p>
        </p:txBody>
      </p:sp>
      <p:sp>
        <p:nvSpPr>
          <p:cNvPr id="4" name="Shape 2"/>
          <p:cNvSpPr/>
          <p:nvPr/>
        </p:nvSpPr>
        <p:spPr>
          <a:xfrm>
            <a:off x="1051560" y="2514600"/>
            <a:ext cx="1554480" cy="1554480"/>
          </a:xfrm>
          <a:prstGeom prst="ellipse">
            <a:avLst/>
          </a:prstGeom>
          <a:solidFill>
            <a:srgbClr val="F1F6F4"/>
          </a:solidFill>
          <a:ln/>
        </p:spPr>
        <p:txBody>
          <a:bodyPr/>
          <a:lstStyle/>
          <a:p>
            <a:endParaRPr lang="es-AR"/>
          </a:p>
        </p:txBody>
      </p:sp>
      <p:pic>
        <p:nvPicPr>
          <p:cNvPr id="5" name="Image 0" descr="/home/claude/vue-poc/assets/icons/typescript.png"/>
          <p:cNvPicPr>
            <a:picLocks noChangeAspect="1"/>
          </p:cNvPicPr>
          <p:nvPr/>
        </p:nvPicPr>
        <p:blipFill>
          <a:blip r:embed="rId3"/>
          <a:stretch>
            <a:fillRect/>
          </a:stretch>
        </p:blipFill>
        <p:spPr>
          <a:xfrm>
            <a:off x="1269187" y="2732227"/>
            <a:ext cx="1119226" cy="1119226"/>
          </a:xfrm>
          <a:prstGeom prst="rect">
            <a:avLst/>
          </a:prstGeom>
        </p:spPr>
      </p:pic>
      <p:sp>
        <p:nvSpPr>
          <p:cNvPr id="6" name="Text 3"/>
          <p:cNvSpPr txBox="1"/>
          <p:nvPr/>
        </p:nvSpPr>
        <p:spPr>
          <a:xfrm>
            <a:off x="2926080" y="1965960"/>
            <a:ext cx="813816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Vue 3 fue reescrito íntegramente en TypeScript. Esto habilita:</a:t>
            </a:r>
            <a:endParaRPr lang="en-US" dirty="0"/>
          </a:p>
        </p:txBody>
      </p:sp>
      <p:sp>
        <p:nvSpPr>
          <p:cNvPr id="7" name="Text 4"/>
          <p:cNvSpPr txBox="1"/>
          <p:nvPr/>
        </p:nvSpPr>
        <p:spPr>
          <a:xfrm>
            <a:off x="2926080" y="2514600"/>
            <a:ext cx="8138160" cy="2194560"/>
          </a:xfrm>
          <a:prstGeom prst="rect">
            <a:avLst/>
          </a:prstGeom>
          <a:noFill/>
          <a:ln/>
        </p:spPr>
        <p:txBody>
          <a:bodyPr wrap="square" lIns="0" tIns="0" rIns="0" bIns="0" rtlCol="0" anchor="ctr"/>
          <a:lstStyle/>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Autocompletado e inferencia de tipos en templates y props.</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Errores detectados en tiempo de compilación, no en producción.</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defineProps&lt;{ nombre: string }&gt;() con tipado genérico en &lt;script setup&gt;.</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Integración oficial vía Volar (extensión de VS Code).</a:t>
            </a:r>
            <a:endParaRPr lang="en-US" dirty="0"/>
          </a:p>
        </p:txBody>
      </p:sp>
      <p:sp>
        <p:nvSpPr>
          <p:cNvPr id="8" name="Shape 5"/>
          <p:cNvSpPr/>
          <p:nvPr/>
        </p:nvSpPr>
        <p:spPr>
          <a:xfrm>
            <a:off x="548640" y="4892040"/>
            <a:ext cx="11064240" cy="1325880"/>
          </a:xfrm>
          <a:prstGeom prst="roundRect">
            <a:avLst>
              <a:gd name="adj" fmla="val 5517"/>
            </a:avLst>
          </a:prstGeom>
          <a:solidFill>
            <a:srgbClr val="1E2A33"/>
          </a:solidFill>
          <a:ln/>
        </p:spPr>
        <p:txBody>
          <a:bodyPr/>
          <a:lstStyle/>
          <a:p>
            <a:endParaRPr lang="es-AR"/>
          </a:p>
        </p:txBody>
      </p:sp>
      <p:sp>
        <p:nvSpPr>
          <p:cNvPr id="9" name="Text 6"/>
          <p:cNvSpPr txBox="1"/>
          <p:nvPr/>
        </p:nvSpPr>
        <p:spPr>
          <a:xfrm>
            <a:off x="734728" y="5097780"/>
            <a:ext cx="10515600" cy="914400"/>
          </a:xfrm>
          <a:prstGeom prst="rect">
            <a:avLst/>
          </a:prstGeom>
          <a:noFill/>
          <a:ln/>
        </p:spPr>
        <p:txBody>
          <a:bodyPr wrap="square" lIns="0" tIns="0" rIns="0" bIns="0" rtlCol="0" anchor="ctr"/>
          <a:lstStyle/>
          <a:p>
            <a:pPr marL="0" indent="0">
              <a:buNone/>
            </a:pPr>
            <a:r>
              <a:rPr lang="en-US" dirty="0">
                <a:solidFill>
                  <a:srgbClr val="D7E4E1"/>
                </a:solidFill>
                <a:latin typeface="Courier New" pitchFamily="34" charset="0"/>
                <a:ea typeface="Courier New" pitchFamily="34" charset="-122"/>
                <a:cs typeface="Courier New" pitchFamily="34" charset="-120"/>
              </a:rPr>
              <a:t>const props = defineProps&lt;{ nombre: string; precio: number }&gt;()</a:t>
            </a:r>
            <a:endParaRPr lang="en-US" dirty="0"/>
          </a:p>
        </p:txBody>
      </p:sp>
      <p:sp>
        <p:nvSpPr>
          <p:cNvPr id="11" name="Text 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3" name="Text 9"/>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gears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3 ·</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Ecosistema y rendimiento</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dirty="0">
                <a:solidFill>
                  <a:srgbClr val="C9D6D3"/>
                </a:solidFill>
                <a:latin typeface="Calibri" pitchFamily="34" charset="0"/>
                <a:ea typeface="Calibri" pitchFamily="34" charset="-122"/>
                <a:cs typeface="Calibri" pitchFamily="34" charset="-120"/>
              </a:rPr>
              <a:t>Las herramientas oficiales que rodean a Vue, y las novedades de rendimiento de Vue 3.6 en 2026.</a:t>
            </a:r>
            <a:endParaRPr lang="en-US"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El ecosistema oficial de Vue</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A diferencia de React, Vue mantiene librerías oficiales para las necesidades más comunes — menos decisiones, menos fatiga:</a:t>
            </a:r>
            <a:endParaRPr lang="en-US" sz="2000" dirty="0"/>
          </a:p>
        </p:txBody>
      </p:sp>
      <p:sp>
        <p:nvSpPr>
          <p:cNvPr id="5" name="Shape 3"/>
          <p:cNvSpPr/>
          <p:nvPr/>
        </p:nvSpPr>
        <p:spPr>
          <a:xfrm>
            <a:off x="548640" y="2194560"/>
            <a:ext cx="2514600" cy="3566160"/>
          </a:xfrm>
          <a:prstGeom prst="roundRect">
            <a:avLst>
              <a:gd name="adj" fmla="val 3636"/>
            </a:avLst>
          </a:prstGeom>
          <a:solidFill>
            <a:srgbClr val="F1F6F4"/>
          </a:solidFill>
          <a:ln/>
        </p:spPr>
        <p:txBody>
          <a:bodyPr/>
          <a:lstStyle/>
          <a:p>
            <a:endParaRPr lang="es-AR"/>
          </a:p>
        </p:txBody>
      </p:sp>
      <p:sp>
        <p:nvSpPr>
          <p:cNvPr id="6" name="Shape 4"/>
          <p:cNvSpPr/>
          <p:nvPr/>
        </p:nvSpPr>
        <p:spPr>
          <a:xfrm>
            <a:off x="130302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7" name="Image 0" descr="/home/claude/vue-poc/assets/icons/vite.png"/>
          <p:cNvPicPr>
            <a:picLocks noChangeAspect="1"/>
          </p:cNvPicPr>
          <p:nvPr/>
        </p:nvPicPr>
        <p:blipFill>
          <a:blip r:embed="rId3"/>
          <a:stretch>
            <a:fillRect/>
          </a:stretch>
        </p:blipFill>
        <p:spPr>
          <a:xfrm>
            <a:off x="1531620" y="2651760"/>
            <a:ext cx="548640" cy="548640"/>
          </a:xfrm>
          <a:prstGeom prst="rect">
            <a:avLst/>
          </a:prstGeom>
        </p:spPr>
      </p:pic>
      <p:sp>
        <p:nvSpPr>
          <p:cNvPr id="8" name="Text 5"/>
          <p:cNvSpPr txBox="1"/>
          <p:nvPr/>
        </p:nvSpPr>
        <p:spPr>
          <a:xfrm>
            <a:off x="594360" y="3514905"/>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Vite</a:t>
            </a:r>
            <a:endParaRPr lang="en-US" sz="2000" dirty="0"/>
          </a:p>
        </p:txBody>
      </p:sp>
      <p:sp>
        <p:nvSpPr>
          <p:cNvPr id="9" name="Text 6"/>
          <p:cNvSpPr txBox="1"/>
          <p:nvPr/>
        </p:nvSpPr>
        <p:spPr>
          <a:xfrm>
            <a:off x="68580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Build tool y dev server ultrarrápido (HMR casi instantáneo).</a:t>
            </a:r>
            <a:endParaRPr lang="en-US" dirty="0"/>
          </a:p>
        </p:txBody>
      </p:sp>
      <p:sp>
        <p:nvSpPr>
          <p:cNvPr id="10" name="Shape 7"/>
          <p:cNvSpPr/>
          <p:nvPr/>
        </p:nvSpPr>
        <p:spPr>
          <a:xfrm>
            <a:off x="3246120" y="2194560"/>
            <a:ext cx="2514600" cy="3566160"/>
          </a:xfrm>
          <a:prstGeom prst="roundRect">
            <a:avLst>
              <a:gd name="adj" fmla="val 3636"/>
            </a:avLst>
          </a:prstGeom>
          <a:solidFill>
            <a:srgbClr val="F1F6F4"/>
          </a:solidFill>
          <a:ln/>
        </p:spPr>
        <p:txBody>
          <a:bodyPr/>
          <a:lstStyle/>
          <a:p>
            <a:endParaRPr lang="es-AR"/>
          </a:p>
        </p:txBody>
      </p:sp>
      <p:sp>
        <p:nvSpPr>
          <p:cNvPr id="11" name="Shape 8"/>
          <p:cNvSpPr/>
          <p:nvPr/>
        </p:nvSpPr>
        <p:spPr>
          <a:xfrm>
            <a:off x="400050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12" name="Image 1" descr="/home/claude/vue-poc/assets/icons/pinia.png"/>
          <p:cNvPicPr>
            <a:picLocks noChangeAspect="1"/>
          </p:cNvPicPr>
          <p:nvPr/>
        </p:nvPicPr>
        <p:blipFill>
          <a:blip r:embed="rId4"/>
          <a:stretch>
            <a:fillRect/>
          </a:stretch>
        </p:blipFill>
        <p:spPr>
          <a:xfrm>
            <a:off x="4229100" y="2651760"/>
            <a:ext cx="548640" cy="548640"/>
          </a:xfrm>
          <a:prstGeom prst="rect">
            <a:avLst/>
          </a:prstGeom>
        </p:spPr>
      </p:pic>
      <p:sp>
        <p:nvSpPr>
          <p:cNvPr id="13" name="Text 9"/>
          <p:cNvSpPr txBox="1"/>
          <p:nvPr/>
        </p:nvSpPr>
        <p:spPr>
          <a:xfrm>
            <a:off x="3337560" y="3566160"/>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Pinia</a:t>
            </a:r>
            <a:endParaRPr lang="en-US" sz="2000" dirty="0"/>
          </a:p>
        </p:txBody>
      </p:sp>
      <p:sp>
        <p:nvSpPr>
          <p:cNvPr id="14" name="Text 10"/>
          <p:cNvSpPr txBox="1"/>
          <p:nvPr/>
        </p:nvSpPr>
        <p:spPr>
          <a:xfrm>
            <a:off x="338328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Manejo de estado global, oficial desde Vue 3 (sucesor de Vuex).</a:t>
            </a:r>
            <a:endParaRPr lang="en-US" dirty="0"/>
          </a:p>
        </p:txBody>
      </p:sp>
      <p:sp>
        <p:nvSpPr>
          <p:cNvPr id="15" name="Shape 11"/>
          <p:cNvSpPr/>
          <p:nvPr/>
        </p:nvSpPr>
        <p:spPr>
          <a:xfrm>
            <a:off x="5943600" y="2194560"/>
            <a:ext cx="2514600" cy="3566160"/>
          </a:xfrm>
          <a:prstGeom prst="roundRect">
            <a:avLst>
              <a:gd name="adj" fmla="val 3636"/>
            </a:avLst>
          </a:prstGeom>
          <a:solidFill>
            <a:srgbClr val="F1F6F4"/>
          </a:solidFill>
          <a:ln/>
        </p:spPr>
        <p:txBody>
          <a:bodyPr/>
          <a:lstStyle/>
          <a:p>
            <a:endParaRPr lang="es-AR"/>
          </a:p>
        </p:txBody>
      </p:sp>
      <p:sp>
        <p:nvSpPr>
          <p:cNvPr id="16" name="Shape 12"/>
          <p:cNvSpPr/>
          <p:nvPr/>
        </p:nvSpPr>
        <p:spPr>
          <a:xfrm>
            <a:off x="669798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17" name="Image 2" descr="/home/claude/vue-poc/assets/icons/nuxt.png"/>
          <p:cNvPicPr>
            <a:picLocks noChangeAspect="1"/>
          </p:cNvPicPr>
          <p:nvPr/>
        </p:nvPicPr>
        <p:blipFill>
          <a:blip r:embed="rId5"/>
          <a:stretch>
            <a:fillRect/>
          </a:stretch>
        </p:blipFill>
        <p:spPr>
          <a:xfrm>
            <a:off x="6926580" y="2651760"/>
            <a:ext cx="548640" cy="548640"/>
          </a:xfrm>
          <a:prstGeom prst="rect">
            <a:avLst/>
          </a:prstGeom>
        </p:spPr>
      </p:pic>
      <p:sp>
        <p:nvSpPr>
          <p:cNvPr id="18" name="Text 13"/>
          <p:cNvSpPr txBox="1"/>
          <p:nvPr/>
        </p:nvSpPr>
        <p:spPr>
          <a:xfrm>
            <a:off x="6035040" y="3566160"/>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Nuxt.js</a:t>
            </a:r>
            <a:endParaRPr lang="en-US" sz="2000" dirty="0"/>
          </a:p>
        </p:txBody>
      </p:sp>
      <p:sp>
        <p:nvSpPr>
          <p:cNvPr id="19" name="Text 14"/>
          <p:cNvSpPr txBox="1"/>
          <p:nvPr/>
        </p:nvSpPr>
        <p:spPr>
          <a:xfrm>
            <a:off x="608076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Meta-framework: SSR, SSG y generación de rutas automática.</a:t>
            </a:r>
            <a:endParaRPr lang="en-US" dirty="0"/>
          </a:p>
        </p:txBody>
      </p:sp>
      <p:sp>
        <p:nvSpPr>
          <p:cNvPr id="20" name="Shape 15"/>
          <p:cNvSpPr/>
          <p:nvPr/>
        </p:nvSpPr>
        <p:spPr>
          <a:xfrm>
            <a:off x="8641080" y="2194560"/>
            <a:ext cx="2514600" cy="3566160"/>
          </a:xfrm>
          <a:prstGeom prst="roundRect">
            <a:avLst>
              <a:gd name="adj" fmla="val 3636"/>
            </a:avLst>
          </a:prstGeom>
          <a:solidFill>
            <a:srgbClr val="F1F6F4"/>
          </a:solidFill>
          <a:ln/>
        </p:spPr>
        <p:txBody>
          <a:bodyPr/>
          <a:lstStyle/>
          <a:p>
            <a:endParaRPr lang="es-AR"/>
          </a:p>
        </p:txBody>
      </p:sp>
      <p:sp>
        <p:nvSpPr>
          <p:cNvPr id="21" name="Shape 16"/>
          <p:cNvSpPr/>
          <p:nvPr/>
        </p:nvSpPr>
        <p:spPr>
          <a:xfrm>
            <a:off x="939546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22" name="Image 3" descr="/home/claude/vue-poc/assets/icons/vue.png"/>
          <p:cNvPicPr>
            <a:picLocks noChangeAspect="1"/>
          </p:cNvPicPr>
          <p:nvPr/>
        </p:nvPicPr>
        <p:blipFill>
          <a:blip r:embed="rId6"/>
          <a:stretch>
            <a:fillRect/>
          </a:stretch>
        </p:blipFill>
        <p:spPr>
          <a:xfrm>
            <a:off x="9624060" y="2651760"/>
            <a:ext cx="548640" cy="548640"/>
          </a:xfrm>
          <a:prstGeom prst="rect">
            <a:avLst/>
          </a:prstGeom>
        </p:spPr>
      </p:pic>
      <p:sp>
        <p:nvSpPr>
          <p:cNvPr id="23" name="Text 17"/>
          <p:cNvSpPr txBox="1"/>
          <p:nvPr/>
        </p:nvSpPr>
        <p:spPr>
          <a:xfrm>
            <a:off x="8732520" y="3601693"/>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Vue Router</a:t>
            </a:r>
            <a:endParaRPr lang="en-US" sz="2000" dirty="0"/>
          </a:p>
        </p:txBody>
      </p:sp>
      <p:sp>
        <p:nvSpPr>
          <p:cNvPr id="24" name="Text 18"/>
          <p:cNvSpPr txBox="1"/>
          <p:nvPr/>
        </p:nvSpPr>
        <p:spPr>
          <a:xfrm>
            <a:off x="877824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Ruteo oficial para aplicaciones de una sola página (SPA).</a:t>
            </a:r>
            <a:endParaRPr lang="en-US" dirty="0"/>
          </a:p>
        </p:txBody>
      </p:sp>
      <p:sp>
        <p:nvSpPr>
          <p:cNvPr id="26"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8"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Vite: build tool y developer experience</a:t>
            </a:r>
            <a:endParaRPr lang="en-US" sz="3000" dirty="0"/>
          </a:p>
        </p:txBody>
      </p:sp>
      <p:sp>
        <p:nvSpPr>
          <p:cNvPr id="4" name="Shape 2"/>
          <p:cNvSpPr/>
          <p:nvPr/>
        </p:nvSpPr>
        <p:spPr>
          <a:xfrm>
            <a:off x="907983" y="2894076"/>
            <a:ext cx="1738963" cy="1769364"/>
          </a:xfrm>
          <a:prstGeom prst="ellipse">
            <a:avLst/>
          </a:prstGeom>
          <a:solidFill>
            <a:srgbClr val="F1F6F4"/>
          </a:solidFill>
          <a:ln/>
        </p:spPr>
        <p:txBody>
          <a:bodyPr/>
          <a:lstStyle/>
          <a:p>
            <a:endParaRPr lang="es-AR"/>
          </a:p>
        </p:txBody>
      </p:sp>
      <p:pic>
        <p:nvPicPr>
          <p:cNvPr id="5" name="Image 0" descr="/home/claude/vue-poc/assets/icons/vite.png"/>
          <p:cNvPicPr>
            <a:picLocks noChangeAspect="1"/>
          </p:cNvPicPr>
          <p:nvPr/>
        </p:nvPicPr>
        <p:blipFill>
          <a:blip r:embed="rId3"/>
          <a:stretch>
            <a:fillRect/>
          </a:stretch>
        </p:blipFill>
        <p:spPr>
          <a:xfrm>
            <a:off x="1199980" y="3246120"/>
            <a:ext cx="1149129" cy="1149129"/>
          </a:xfrm>
          <a:prstGeom prst="rect">
            <a:avLst/>
          </a:prstGeom>
        </p:spPr>
      </p:pic>
      <p:sp>
        <p:nvSpPr>
          <p:cNvPr id="6" name="Text 3"/>
          <p:cNvSpPr txBox="1"/>
          <p:nvPr/>
        </p:nvSpPr>
        <p:spPr>
          <a:xfrm>
            <a:off x="3200400" y="1920240"/>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Arranque instantáneo</a:t>
            </a:r>
            <a:endParaRPr lang="en-US" sz="2000" dirty="0"/>
          </a:p>
        </p:txBody>
      </p:sp>
      <p:sp>
        <p:nvSpPr>
          <p:cNvPr id="7" name="Text 4"/>
          <p:cNvSpPr txBox="1"/>
          <p:nvPr/>
        </p:nvSpPr>
        <p:spPr>
          <a:xfrm>
            <a:off x="3200400" y="222199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Sirve los módulos nativos ES del navegador — no empaqueta todo antes de arrancar.</a:t>
            </a:r>
            <a:endParaRPr lang="en-US" dirty="0"/>
          </a:p>
        </p:txBody>
      </p:sp>
      <p:sp>
        <p:nvSpPr>
          <p:cNvPr id="8" name="Text 5"/>
          <p:cNvSpPr txBox="1"/>
          <p:nvPr/>
        </p:nvSpPr>
        <p:spPr>
          <a:xfrm>
            <a:off x="3200400" y="2926080"/>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Hot Module Replacement</a:t>
            </a:r>
            <a:endParaRPr lang="en-US" sz="2000" dirty="0"/>
          </a:p>
        </p:txBody>
      </p:sp>
      <p:sp>
        <p:nvSpPr>
          <p:cNvPr id="9" name="Text 6"/>
          <p:cNvSpPr txBox="1"/>
          <p:nvPr/>
        </p:nvSpPr>
        <p:spPr>
          <a:xfrm>
            <a:off x="3200400" y="318211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Los cambios se reflejan en el navegador en milisegundos, sin perder el estado</a:t>
            </a:r>
            <a:r>
              <a:rPr lang="en-US" sz="1100" dirty="0">
                <a:solidFill>
                  <a:srgbClr val="5B6B73"/>
                </a:solidFill>
                <a:latin typeface="Calibri" pitchFamily="34" charset="0"/>
                <a:ea typeface="Calibri" pitchFamily="34" charset="-122"/>
                <a:cs typeface="Calibri" pitchFamily="34" charset="-120"/>
              </a:rPr>
              <a:t>.</a:t>
            </a:r>
            <a:endParaRPr lang="en-US" sz="1100" dirty="0"/>
          </a:p>
        </p:txBody>
      </p:sp>
      <p:sp>
        <p:nvSpPr>
          <p:cNvPr id="10" name="Text 7"/>
          <p:cNvSpPr txBox="1"/>
          <p:nvPr/>
        </p:nvSpPr>
        <p:spPr>
          <a:xfrm>
            <a:off x="3200400" y="3840480"/>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Build de producción con Rollup</a:t>
            </a:r>
            <a:endParaRPr lang="en-US" sz="2000" dirty="0"/>
          </a:p>
        </p:txBody>
      </p:sp>
      <p:sp>
        <p:nvSpPr>
          <p:cNvPr id="11" name="Text 8"/>
          <p:cNvSpPr txBox="1"/>
          <p:nvPr/>
        </p:nvSpPr>
        <p:spPr>
          <a:xfrm>
            <a:off x="3200400" y="414223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Empaquetado optimizado y con tree-shaking para el deploy final.</a:t>
            </a:r>
            <a:endParaRPr lang="en-US" dirty="0"/>
          </a:p>
        </p:txBody>
      </p:sp>
      <p:sp>
        <p:nvSpPr>
          <p:cNvPr id="12" name="Text 9"/>
          <p:cNvSpPr txBox="1"/>
          <p:nvPr/>
        </p:nvSpPr>
        <p:spPr>
          <a:xfrm>
            <a:off x="3200400" y="4805172"/>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No es exclusivo de Vue</a:t>
            </a:r>
            <a:endParaRPr lang="en-US" sz="2000" dirty="0"/>
          </a:p>
        </p:txBody>
      </p:sp>
      <p:sp>
        <p:nvSpPr>
          <p:cNvPr id="13" name="Text 10"/>
          <p:cNvSpPr txBox="1"/>
          <p:nvPr/>
        </p:nvSpPr>
        <p:spPr>
          <a:xfrm>
            <a:off x="3200400" y="510235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También sirve para React, Svelte y proyectos vanilla — creado por Evan You</a:t>
            </a:r>
            <a:r>
              <a:rPr lang="en-US" sz="1100" dirty="0">
                <a:solidFill>
                  <a:srgbClr val="5B6B73"/>
                </a:solidFill>
                <a:latin typeface="Calibri" pitchFamily="34" charset="0"/>
                <a:ea typeface="Calibri" pitchFamily="34" charset="-122"/>
                <a:cs typeface="Calibri" pitchFamily="34" charset="-120"/>
              </a:rPr>
              <a:t>.</a:t>
            </a:r>
            <a:endParaRPr lang="en-US" sz="1100" dirty="0"/>
          </a:p>
        </p:txBody>
      </p:sp>
      <p:sp>
        <p:nvSpPr>
          <p:cNvPr id="15"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17"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Nuxt.js: SSR y SSG full-stack</a:t>
            </a:r>
            <a:endParaRPr lang="en-US" sz="3000" dirty="0"/>
          </a:p>
        </p:txBody>
      </p:sp>
      <p:sp>
        <p:nvSpPr>
          <p:cNvPr id="4" name="Text 2"/>
          <p:cNvSpPr txBox="1"/>
          <p:nvPr/>
        </p:nvSpPr>
        <p:spPr>
          <a:xfrm>
            <a:off x="548640" y="1600200"/>
            <a:ext cx="10972800" cy="64008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El equivalente de Vue a Next.js (React): un meta-framework que agrega renderizado en servidor, rutas automáticas y estructura de proyecto.</a:t>
            </a:r>
            <a:endParaRPr lang="en-US" sz="2000" dirty="0"/>
          </a:p>
        </p:txBody>
      </p:sp>
      <p:sp>
        <p:nvSpPr>
          <p:cNvPr id="5" name="Shape 3"/>
          <p:cNvSpPr/>
          <p:nvPr/>
        </p:nvSpPr>
        <p:spPr>
          <a:xfrm>
            <a:off x="548640" y="2468880"/>
            <a:ext cx="3566160" cy="2103120"/>
          </a:xfrm>
          <a:prstGeom prst="roundRect">
            <a:avLst>
              <a:gd name="adj" fmla="val 4348"/>
            </a:avLst>
          </a:prstGeom>
          <a:solidFill>
            <a:srgbClr val="F1F6F4"/>
          </a:solidFill>
          <a:ln/>
        </p:spPr>
        <p:txBody>
          <a:bodyPr/>
          <a:lstStyle/>
          <a:p>
            <a:endParaRPr lang="es-AR"/>
          </a:p>
        </p:txBody>
      </p:sp>
      <p:sp>
        <p:nvSpPr>
          <p:cNvPr id="6" name="Shape 4"/>
          <p:cNvSpPr/>
          <p:nvPr/>
        </p:nvSpPr>
        <p:spPr>
          <a:xfrm>
            <a:off x="1988820" y="2628900"/>
            <a:ext cx="685800" cy="685800"/>
          </a:xfrm>
          <a:prstGeom prst="ellipse">
            <a:avLst/>
          </a:prstGeom>
          <a:solidFill>
            <a:srgbClr val="42B883"/>
          </a:solidFill>
          <a:ln/>
        </p:spPr>
        <p:txBody>
          <a:bodyPr/>
          <a:lstStyle/>
          <a:p>
            <a:endParaRPr lang="es-AR"/>
          </a:p>
        </p:txBody>
      </p:sp>
      <p:pic>
        <p:nvPicPr>
          <p:cNvPr id="7" name="Image 0" descr="/home/claude/vue-poc/assets/icons/server_w.png"/>
          <p:cNvPicPr>
            <a:picLocks noChangeAspect="1"/>
          </p:cNvPicPr>
          <p:nvPr/>
        </p:nvPicPr>
        <p:blipFill>
          <a:blip r:embed="rId3"/>
          <a:stretch>
            <a:fillRect/>
          </a:stretch>
        </p:blipFill>
        <p:spPr>
          <a:xfrm>
            <a:off x="2084832" y="2724912"/>
            <a:ext cx="493776" cy="493776"/>
          </a:xfrm>
          <a:prstGeom prst="rect">
            <a:avLst/>
          </a:prstGeom>
        </p:spPr>
      </p:pic>
      <p:sp>
        <p:nvSpPr>
          <p:cNvPr id="8" name="Text 5"/>
          <p:cNvSpPr txBox="1"/>
          <p:nvPr/>
        </p:nvSpPr>
        <p:spPr>
          <a:xfrm>
            <a:off x="731520" y="3429000"/>
            <a:ext cx="3200400" cy="32004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SSR</a:t>
            </a:r>
            <a:endParaRPr lang="en-US" sz="2000" dirty="0"/>
          </a:p>
        </p:txBody>
      </p:sp>
      <p:sp>
        <p:nvSpPr>
          <p:cNvPr id="9" name="Text 6"/>
          <p:cNvSpPr txBox="1"/>
          <p:nvPr/>
        </p:nvSpPr>
        <p:spPr>
          <a:xfrm>
            <a:off x="777240" y="3749040"/>
            <a:ext cx="3108960" cy="7772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Renderiza en el servidor en cada request: mejor SEO y carga inicial percibida.</a:t>
            </a:r>
            <a:endParaRPr lang="en-US" dirty="0"/>
          </a:p>
        </p:txBody>
      </p:sp>
      <p:sp>
        <p:nvSpPr>
          <p:cNvPr id="10" name="Shape 7"/>
          <p:cNvSpPr/>
          <p:nvPr/>
        </p:nvSpPr>
        <p:spPr>
          <a:xfrm>
            <a:off x="4297680" y="2468880"/>
            <a:ext cx="3566160" cy="2103120"/>
          </a:xfrm>
          <a:prstGeom prst="roundRect">
            <a:avLst>
              <a:gd name="adj" fmla="val 4348"/>
            </a:avLst>
          </a:prstGeom>
          <a:solidFill>
            <a:srgbClr val="F1F6F4"/>
          </a:solidFill>
          <a:ln/>
        </p:spPr>
        <p:txBody>
          <a:bodyPr/>
          <a:lstStyle/>
          <a:p>
            <a:endParaRPr lang="es-AR"/>
          </a:p>
        </p:txBody>
      </p:sp>
      <p:sp>
        <p:nvSpPr>
          <p:cNvPr id="11" name="Shape 8"/>
          <p:cNvSpPr/>
          <p:nvPr/>
        </p:nvSpPr>
        <p:spPr>
          <a:xfrm>
            <a:off x="5737860" y="2628900"/>
            <a:ext cx="685800" cy="685800"/>
          </a:xfrm>
          <a:prstGeom prst="ellipse">
            <a:avLst/>
          </a:prstGeom>
          <a:solidFill>
            <a:srgbClr val="42B883"/>
          </a:solidFill>
          <a:ln/>
        </p:spPr>
        <p:txBody>
          <a:bodyPr/>
          <a:lstStyle/>
          <a:p>
            <a:endParaRPr lang="es-AR"/>
          </a:p>
        </p:txBody>
      </p:sp>
      <p:pic>
        <p:nvPicPr>
          <p:cNvPr id="12" name="Image 1" descr="/home/claude/vue-poc/assets/icons/box_w.png"/>
          <p:cNvPicPr>
            <a:picLocks noChangeAspect="1"/>
          </p:cNvPicPr>
          <p:nvPr/>
        </p:nvPicPr>
        <p:blipFill>
          <a:blip r:embed="rId4"/>
          <a:stretch>
            <a:fillRect/>
          </a:stretch>
        </p:blipFill>
        <p:spPr>
          <a:xfrm>
            <a:off x="5833872" y="2724912"/>
            <a:ext cx="493776" cy="493776"/>
          </a:xfrm>
          <a:prstGeom prst="rect">
            <a:avLst/>
          </a:prstGeom>
        </p:spPr>
      </p:pic>
      <p:sp>
        <p:nvSpPr>
          <p:cNvPr id="13" name="Text 9"/>
          <p:cNvSpPr txBox="1"/>
          <p:nvPr/>
        </p:nvSpPr>
        <p:spPr>
          <a:xfrm>
            <a:off x="4480560" y="3429000"/>
            <a:ext cx="3200400" cy="32004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SSG</a:t>
            </a:r>
            <a:endParaRPr lang="en-US" sz="2000" dirty="0"/>
          </a:p>
        </p:txBody>
      </p:sp>
      <p:sp>
        <p:nvSpPr>
          <p:cNvPr id="14" name="Text 10"/>
          <p:cNvSpPr txBox="1"/>
          <p:nvPr/>
        </p:nvSpPr>
        <p:spPr>
          <a:xfrm>
            <a:off x="4526280" y="3749040"/>
            <a:ext cx="3108960" cy="7772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Genera HTML estático en build time para sitios de contenido.</a:t>
            </a:r>
            <a:endParaRPr lang="en-US" dirty="0"/>
          </a:p>
        </p:txBody>
      </p:sp>
      <p:sp>
        <p:nvSpPr>
          <p:cNvPr id="15" name="Shape 11"/>
          <p:cNvSpPr/>
          <p:nvPr/>
        </p:nvSpPr>
        <p:spPr>
          <a:xfrm>
            <a:off x="8046720" y="2468880"/>
            <a:ext cx="3566160" cy="2103120"/>
          </a:xfrm>
          <a:prstGeom prst="roundRect">
            <a:avLst>
              <a:gd name="adj" fmla="val 4348"/>
            </a:avLst>
          </a:prstGeom>
          <a:solidFill>
            <a:srgbClr val="F1F6F4"/>
          </a:solidFill>
          <a:ln/>
        </p:spPr>
        <p:txBody>
          <a:bodyPr/>
          <a:lstStyle/>
          <a:p>
            <a:endParaRPr lang="es-AR"/>
          </a:p>
        </p:txBody>
      </p:sp>
      <p:sp>
        <p:nvSpPr>
          <p:cNvPr id="16" name="Shape 12"/>
          <p:cNvSpPr/>
          <p:nvPr/>
        </p:nvSpPr>
        <p:spPr>
          <a:xfrm>
            <a:off x="9486900" y="2628900"/>
            <a:ext cx="685800" cy="685800"/>
          </a:xfrm>
          <a:prstGeom prst="ellipse">
            <a:avLst/>
          </a:prstGeom>
          <a:solidFill>
            <a:srgbClr val="42B883"/>
          </a:solidFill>
          <a:ln/>
        </p:spPr>
        <p:txBody>
          <a:bodyPr/>
          <a:lstStyle/>
          <a:p>
            <a:endParaRPr lang="es-AR"/>
          </a:p>
        </p:txBody>
      </p:sp>
      <p:pic>
        <p:nvPicPr>
          <p:cNvPr id="17" name="Image 2" descr="/home/claude/vue-poc/assets/icons/route_w.png"/>
          <p:cNvPicPr>
            <a:picLocks noChangeAspect="1"/>
          </p:cNvPicPr>
          <p:nvPr/>
        </p:nvPicPr>
        <p:blipFill>
          <a:blip r:embed="rId5"/>
          <a:stretch>
            <a:fillRect/>
          </a:stretch>
        </p:blipFill>
        <p:spPr>
          <a:xfrm>
            <a:off x="9582912" y="2724912"/>
            <a:ext cx="493776" cy="493776"/>
          </a:xfrm>
          <a:prstGeom prst="rect">
            <a:avLst/>
          </a:prstGeom>
        </p:spPr>
      </p:pic>
      <p:sp>
        <p:nvSpPr>
          <p:cNvPr id="18" name="Text 13"/>
          <p:cNvSpPr txBox="1"/>
          <p:nvPr/>
        </p:nvSpPr>
        <p:spPr>
          <a:xfrm>
            <a:off x="8229600" y="3429000"/>
            <a:ext cx="3200400" cy="32004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File-based</a:t>
            </a:r>
            <a:r>
              <a:rPr lang="en-US" sz="1300" b="1" dirty="0">
                <a:solidFill>
                  <a:srgbClr val="1E2A33"/>
                </a:solidFill>
                <a:latin typeface="Calibri" pitchFamily="34" charset="0"/>
                <a:ea typeface="Calibri" pitchFamily="34" charset="-122"/>
                <a:cs typeface="Calibri" pitchFamily="34" charset="-120"/>
              </a:rPr>
              <a:t> routing</a:t>
            </a:r>
            <a:endParaRPr lang="en-US" sz="1300" dirty="0"/>
          </a:p>
        </p:txBody>
      </p:sp>
      <p:sp>
        <p:nvSpPr>
          <p:cNvPr id="19" name="Text 14"/>
          <p:cNvSpPr txBox="1"/>
          <p:nvPr/>
        </p:nvSpPr>
        <p:spPr>
          <a:xfrm>
            <a:off x="8275320" y="3749040"/>
            <a:ext cx="3108960" cy="7772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La estructura de carpetas define las rutas automáticamente</a:t>
            </a:r>
            <a:r>
              <a:rPr lang="en-US" sz="1000" dirty="0">
                <a:solidFill>
                  <a:srgbClr val="5B6B73"/>
                </a:solidFill>
                <a:latin typeface="Calibri" pitchFamily="34" charset="0"/>
                <a:ea typeface="Calibri" pitchFamily="34" charset="-122"/>
                <a:cs typeface="Calibri" pitchFamily="34" charset="-120"/>
              </a:rPr>
              <a:t>.</a:t>
            </a:r>
            <a:endParaRPr lang="en-US" sz="1000" dirty="0"/>
          </a:p>
        </p:txBody>
      </p:sp>
      <p:sp>
        <p:nvSpPr>
          <p:cNvPr id="20" name="Shape 15"/>
          <p:cNvSpPr/>
          <p:nvPr/>
        </p:nvSpPr>
        <p:spPr>
          <a:xfrm>
            <a:off x="548640" y="4846320"/>
            <a:ext cx="11064240" cy="1234440"/>
          </a:xfrm>
          <a:prstGeom prst="roundRect">
            <a:avLst>
              <a:gd name="adj" fmla="val 5926"/>
            </a:avLst>
          </a:prstGeom>
          <a:solidFill>
            <a:srgbClr val="1E2A33"/>
          </a:solidFill>
          <a:ln/>
        </p:spPr>
        <p:txBody>
          <a:bodyPr/>
          <a:lstStyle/>
          <a:p>
            <a:endParaRPr lang="es-AR"/>
          </a:p>
        </p:txBody>
      </p:sp>
      <p:pic>
        <p:nvPicPr>
          <p:cNvPr id="21" name="Image 3" descr="/home/claude/vue-poc/assets/icons/nuxt.png"/>
          <p:cNvPicPr>
            <a:picLocks noChangeAspect="1"/>
          </p:cNvPicPr>
          <p:nvPr/>
        </p:nvPicPr>
        <p:blipFill>
          <a:blip r:embed="rId6"/>
          <a:stretch>
            <a:fillRect/>
          </a:stretch>
        </p:blipFill>
        <p:spPr>
          <a:xfrm>
            <a:off x="868680" y="5074920"/>
            <a:ext cx="502920" cy="502920"/>
          </a:xfrm>
          <a:prstGeom prst="rect">
            <a:avLst/>
          </a:prstGeom>
        </p:spPr>
      </p:pic>
      <p:sp>
        <p:nvSpPr>
          <p:cNvPr id="22" name="Text 16"/>
          <p:cNvSpPr txBox="1"/>
          <p:nvPr/>
        </p:nvSpPr>
        <p:spPr>
          <a:xfrm>
            <a:off x="1554480" y="4937760"/>
            <a:ext cx="9692640" cy="960120"/>
          </a:xfrm>
          <a:prstGeom prst="rect">
            <a:avLst/>
          </a:prstGeom>
          <a:noFill/>
          <a:ln/>
        </p:spPr>
        <p:txBody>
          <a:bodyPr wrap="square" lIns="0" tIns="0" rIns="0" bIns="0" rtlCol="0" anchor="ctr"/>
          <a:lstStyle/>
          <a:p>
            <a:pPr marL="0" indent="0">
              <a:buNone/>
            </a:pPr>
            <a:r>
              <a:rPr lang="en-US" dirty="0">
                <a:solidFill>
                  <a:srgbClr val="D7E4E1"/>
                </a:solidFill>
                <a:latin typeface="Calibri" pitchFamily="34" charset="0"/>
                <a:ea typeface="Calibri" pitchFamily="34" charset="-122"/>
                <a:cs typeface="Calibri" pitchFamily="34" charset="-120"/>
              </a:rPr>
              <a:t>Next.js (React) y Nuxt.js (Vue) resuelven el mismo problema con filosofías de configuración muy similares — es la comparación más directa entre ambos ecosistemas.</a:t>
            </a:r>
            <a:endParaRPr lang="en-US" dirty="0"/>
          </a:p>
        </p:txBody>
      </p:sp>
      <p:sp>
        <p:nvSpPr>
          <p:cNvPr id="24" name="Text 1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6" name="Text 19"/>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Cómo renderiza Vue (hasta la versión 3.5)</a:t>
            </a:r>
            <a:endParaRPr lang="en-US" sz="3000" dirty="0"/>
          </a:p>
        </p:txBody>
      </p:sp>
      <p:sp>
        <p:nvSpPr>
          <p:cNvPr id="4" name="Shape 2"/>
          <p:cNvSpPr/>
          <p:nvPr/>
        </p:nvSpPr>
        <p:spPr>
          <a:xfrm>
            <a:off x="548640" y="2103120"/>
            <a:ext cx="2468880" cy="2834640"/>
          </a:xfrm>
          <a:prstGeom prst="roundRect">
            <a:avLst>
              <a:gd name="adj" fmla="val 3704"/>
            </a:avLst>
          </a:prstGeom>
          <a:solidFill>
            <a:srgbClr val="F1F6F4"/>
          </a:solidFill>
          <a:ln/>
        </p:spPr>
        <p:txBody>
          <a:bodyPr/>
          <a:lstStyle/>
          <a:p>
            <a:endParaRPr lang="es-AR"/>
          </a:p>
        </p:txBody>
      </p:sp>
      <p:sp>
        <p:nvSpPr>
          <p:cNvPr id="5" name="Shape 3"/>
          <p:cNvSpPr/>
          <p:nvPr/>
        </p:nvSpPr>
        <p:spPr>
          <a:xfrm>
            <a:off x="1417320" y="2331720"/>
            <a:ext cx="731520" cy="731520"/>
          </a:xfrm>
          <a:prstGeom prst="ellipse">
            <a:avLst/>
          </a:prstGeom>
          <a:solidFill>
            <a:srgbClr val="42B883"/>
          </a:solidFill>
          <a:ln/>
        </p:spPr>
        <p:txBody>
          <a:bodyPr/>
          <a:lstStyle/>
          <a:p>
            <a:endParaRPr lang="es-AR"/>
          </a:p>
        </p:txBody>
      </p:sp>
      <p:pic>
        <p:nvPicPr>
          <p:cNvPr id="6" name="Image 0" descr="/home/claude/vue-poc/assets/icons/bolt_w.png"/>
          <p:cNvPicPr>
            <a:picLocks noChangeAspect="1"/>
          </p:cNvPicPr>
          <p:nvPr/>
        </p:nvPicPr>
        <p:blipFill>
          <a:blip r:embed="rId3"/>
          <a:stretch>
            <a:fillRect/>
          </a:stretch>
        </p:blipFill>
        <p:spPr>
          <a:xfrm>
            <a:off x="1519733" y="2434133"/>
            <a:ext cx="526694" cy="526694"/>
          </a:xfrm>
          <a:prstGeom prst="rect">
            <a:avLst/>
          </a:prstGeom>
        </p:spPr>
      </p:pic>
      <p:sp>
        <p:nvSpPr>
          <p:cNvPr id="7" name="Text 4"/>
          <p:cNvSpPr txBox="1"/>
          <p:nvPr/>
        </p:nvSpPr>
        <p:spPr>
          <a:xfrm>
            <a:off x="640080" y="3200400"/>
            <a:ext cx="2286000" cy="50292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1. Cambia el estado</a:t>
            </a:r>
            <a:endParaRPr lang="en-US" sz="2000" dirty="0"/>
          </a:p>
        </p:txBody>
      </p:sp>
      <p:sp>
        <p:nvSpPr>
          <p:cNvPr id="8" name="Text 5"/>
          <p:cNvSpPr txBox="1"/>
          <p:nvPr/>
        </p:nvSpPr>
        <p:spPr>
          <a:xfrm>
            <a:off x="68580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Un ref o reactive es modificado por el código de la app.</a:t>
            </a:r>
            <a:endParaRPr lang="en-US" dirty="0"/>
          </a:p>
        </p:txBody>
      </p:sp>
      <p:sp>
        <p:nvSpPr>
          <p:cNvPr id="9" name="Shape 6"/>
          <p:cNvSpPr/>
          <p:nvPr/>
        </p:nvSpPr>
        <p:spPr>
          <a:xfrm>
            <a:off x="3246120" y="2103120"/>
            <a:ext cx="2468880" cy="2834640"/>
          </a:xfrm>
          <a:prstGeom prst="roundRect">
            <a:avLst>
              <a:gd name="adj" fmla="val 3704"/>
            </a:avLst>
          </a:prstGeom>
          <a:solidFill>
            <a:srgbClr val="F1F6F4"/>
          </a:solidFill>
          <a:ln/>
        </p:spPr>
        <p:txBody>
          <a:bodyPr/>
          <a:lstStyle/>
          <a:p>
            <a:endParaRPr lang="es-AR"/>
          </a:p>
        </p:txBody>
      </p:sp>
      <p:sp>
        <p:nvSpPr>
          <p:cNvPr id="10" name="Shape 7"/>
          <p:cNvSpPr/>
          <p:nvPr/>
        </p:nvSpPr>
        <p:spPr>
          <a:xfrm>
            <a:off x="4114800" y="2331720"/>
            <a:ext cx="731520" cy="731520"/>
          </a:xfrm>
          <a:prstGeom prst="ellipse">
            <a:avLst/>
          </a:prstGeom>
          <a:solidFill>
            <a:srgbClr val="42B883"/>
          </a:solidFill>
          <a:ln/>
        </p:spPr>
        <p:txBody>
          <a:bodyPr/>
          <a:lstStyle/>
          <a:p>
            <a:endParaRPr lang="es-AR"/>
          </a:p>
        </p:txBody>
      </p:sp>
      <p:pic>
        <p:nvPicPr>
          <p:cNvPr id="11" name="Image 1" descr="/home/claude/vue-poc/assets/icons/layers_w.png"/>
          <p:cNvPicPr>
            <a:picLocks noChangeAspect="1"/>
          </p:cNvPicPr>
          <p:nvPr/>
        </p:nvPicPr>
        <p:blipFill>
          <a:blip r:embed="rId4"/>
          <a:stretch>
            <a:fillRect/>
          </a:stretch>
        </p:blipFill>
        <p:spPr>
          <a:xfrm>
            <a:off x="4217213" y="2434133"/>
            <a:ext cx="526694" cy="526694"/>
          </a:xfrm>
          <a:prstGeom prst="rect">
            <a:avLst/>
          </a:prstGeom>
        </p:spPr>
      </p:pic>
      <p:sp>
        <p:nvSpPr>
          <p:cNvPr id="12" name="Text 8"/>
          <p:cNvSpPr txBox="1"/>
          <p:nvPr/>
        </p:nvSpPr>
        <p:spPr>
          <a:xfrm>
            <a:off x="3337560" y="3291840"/>
            <a:ext cx="2286000" cy="41148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2. Se genera un Virtual DOM</a:t>
            </a:r>
            <a:endParaRPr lang="en-US" sz="2000" dirty="0"/>
          </a:p>
        </p:txBody>
      </p:sp>
      <p:sp>
        <p:nvSpPr>
          <p:cNvPr id="13" name="Text 9"/>
          <p:cNvSpPr txBox="1"/>
          <p:nvPr/>
        </p:nvSpPr>
        <p:spPr>
          <a:xfrm>
            <a:off x="338328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Una representación en memoria, liviana, del nuevo árbol de UI.</a:t>
            </a:r>
            <a:endParaRPr lang="en-US" dirty="0"/>
          </a:p>
        </p:txBody>
      </p:sp>
      <p:sp>
        <p:nvSpPr>
          <p:cNvPr id="14" name="Shape 10"/>
          <p:cNvSpPr/>
          <p:nvPr/>
        </p:nvSpPr>
        <p:spPr>
          <a:xfrm>
            <a:off x="5943600" y="2103120"/>
            <a:ext cx="2468880" cy="2834640"/>
          </a:xfrm>
          <a:prstGeom prst="roundRect">
            <a:avLst>
              <a:gd name="adj" fmla="val 3704"/>
            </a:avLst>
          </a:prstGeom>
          <a:solidFill>
            <a:srgbClr val="F1F6F4"/>
          </a:solidFill>
          <a:ln/>
        </p:spPr>
        <p:txBody>
          <a:bodyPr/>
          <a:lstStyle/>
          <a:p>
            <a:endParaRPr lang="es-AR"/>
          </a:p>
        </p:txBody>
      </p:sp>
      <p:sp>
        <p:nvSpPr>
          <p:cNvPr id="15" name="Shape 11"/>
          <p:cNvSpPr/>
          <p:nvPr/>
        </p:nvSpPr>
        <p:spPr>
          <a:xfrm>
            <a:off x="6812280" y="2331720"/>
            <a:ext cx="731520" cy="731520"/>
          </a:xfrm>
          <a:prstGeom prst="ellipse">
            <a:avLst/>
          </a:prstGeom>
          <a:solidFill>
            <a:srgbClr val="42B883"/>
          </a:solidFill>
          <a:ln/>
        </p:spPr>
        <p:txBody>
          <a:bodyPr/>
          <a:lstStyle/>
          <a:p>
            <a:endParaRPr lang="es-AR"/>
          </a:p>
        </p:txBody>
      </p:sp>
      <p:pic>
        <p:nvPicPr>
          <p:cNvPr id="16" name="Image 2" descr="/home/claude/vue-poc/assets/icons/scale_w.png"/>
          <p:cNvPicPr>
            <a:picLocks noChangeAspect="1"/>
          </p:cNvPicPr>
          <p:nvPr/>
        </p:nvPicPr>
        <p:blipFill>
          <a:blip r:embed="rId5"/>
          <a:stretch>
            <a:fillRect/>
          </a:stretch>
        </p:blipFill>
        <p:spPr>
          <a:xfrm>
            <a:off x="6914693" y="2434133"/>
            <a:ext cx="526694" cy="526694"/>
          </a:xfrm>
          <a:prstGeom prst="rect">
            <a:avLst/>
          </a:prstGeom>
        </p:spPr>
      </p:pic>
      <p:sp>
        <p:nvSpPr>
          <p:cNvPr id="17" name="Text 12"/>
          <p:cNvSpPr txBox="1"/>
          <p:nvPr/>
        </p:nvSpPr>
        <p:spPr>
          <a:xfrm>
            <a:off x="6035040" y="3200400"/>
            <a:ext cx="2286000" cy="50292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3. Diffing</a:t>
            </a:r>
            <a:endParaRPr lang="en-US" sz="2000" dirty="0"/>
          </a:p>
        </p:txBody>
      </p:sp>
      <p:sp>
        <p:nvSpPr>
          <p:cNvPr id="18" name="Text 13"/>
          <p:cNvSpPr txBox="1"/>
          <p:nvPr/>
        </p:nvSpPr>
        <p:spPr>
          <a:xfrm>
            <a:off x="608076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Vue compara el nuevo Virtual DOM contra el anterior para encontrar diferencias.</a:t>
            </a:r>
            <a:endParaRPr lang="en-US" dirty="0"/>
          </a:p>
        </p:txBody>
      </p:sp>
      <p:sp>
        <p:nvSpPr>
          <p:cNvPr id="19" name="Shape 14"/>
          <p:cNvSpPr/>
          <p:nvPr/>
        </p:nvSpPr>
        <p:spPr>
          <a:xfrm>
            <a:off x="8641080" y="2103120"/>
            <a:ext cx="2468880" cy="2834640"/>
          </a:xfrm>
          <a:prstGeom prst="roundRect">
            <a:avLst>
              <a:gd name="adj" fmla="val 3704"/>
            </a:avLst>
          </a:prstGeom>
          <a:solidFill>
            <a:srgbClr val="F1F6F4"/>
          </a:solidFill>
          <a:ln/>
        </p:spPr>
        <p:txBody>
          <a:bodyPr/>
          <a:lstStyle/>
          <a:p>
            <a:endParaRPr lang="es-AR"/>
          </a:p>
        </p:txBody>
      </p:sp>
      <p:sp>
        <p:nvSpPr>
          <p:cNvPr id="20" name="Shape 15"/>
          <p:cNvSpPr/>
          <p:nvPr/>
        </p:nvSpPr>
        <p:spPr>
          <a:xfrm>
            <a:off x="9509760" y="2331720"/>
            <a:ext cx="731520" cy="731520"/>
          </a:xfrm>
          <a:prstGeom prst="ellipse">
            <a:avLst/>
          </a:prstGeom>
          <a:solidFill>
            <a:srgbClr val="42B883"/>
          </a:solidFill>
          <a:ln/>
        </p:spPr>
        <p:txBody>
          <a:bodyPr/>
          <a:lstStyle/>
          <a:p>
            <a:endParaRPr lang="es-AR"/>
          </a:p>
        </p:txBody>
      </p:sp>
      <p:pic>
        <p:nvPicPr>
          <p:cNvPr id="21" name="Image 3" descr="/home/claude/vue-poc/assets/icons/chart_w.png"/>
          <p:cNvPicPr>
            <a:picLocks noChangeAspect="1"/>
          </p:cNvPicPr>
          <p:nvPr/>
        </p:nvPicPr>
        <p:blipFill>
          <a:blip r:embed="rId6"/>
          <a:stretch>
            <a:fillRect/>
          </a:stretch>
        </p:blipFill>
        <p:spPr>
          <a:xfrm>
            <a:off x="9612173" y="2434133"/>
            <a:ext cx="526694" cy="526694"/>
          </a:xfrm>
          <a:prstGeom prst="rect">
            <a:avLst/>
          </a:prstGeom>
        </p:spPr>
      </p:pic>
      <p:sp>
        <p:nvSpPr>
          <p:cNvPr id="22" name="Text 16"/>
          <p:cNvSpPr txBox="1"/>
          <p:nvPr/>
        </p:nvSpPr>
        <p:spPr>
          <a:xfrm>
            <a:off x="8732520" y="3264825"/>
            <a:ext cx="2286000" cy="50292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4. Patch al DOM real</a:t>
            </a:r>
            <a:endParaRPr lang="en-US" sz="2000" dirty="0"/>
          </a:p>
        </p:txBody>
      </p:sp>
      <p:sp>
        <p:nvSpPr>
          <p:cNvPr id="23" name="Text 17"/>
          <p:cNvSpPr txBox="1"/>
          <p:nvPr/>
        </p:nvSpPr>
        <p:spPr>
          <a:xfrm>
            <a:off x="877824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Solo se aplican al DOM real los cambios mínimos necesarios.</a:t>
            </a:r>
            <a:endParaRPr lang="en-US" dirty="0"/>
          </a:p>
        </p:txBody>
      </p:sp>
      <p:pic>
        <p:nvPicPr>
          <p:cNvPr id="24" name="Image 4" descr="/home/claude/vue-poc/assets/icons/arrow_right.png"/>
          <p:cNvPicPr>
            <a:picLocks noChangeAspect="1"/>
          </p:cNvPicPr>
          <p:nvPr/>
        </p:nvPicPr>
        <p:blipFill>
          <a:blip r:embed="rId7"/>
          <a:stretch>
            <a:fillRect/>
          </a:stretch>
        </p:blipFill>
        <p:spPr>
          <a:xfrm>
            <a:off x="3044952" y="3154680"/>
            <a:ext cx="256032" cy="256032"/>
          </a:xfrm>
          <a:prstGeom prst="rect">
            <a:avLst/>
          </a:prstGeom>
        </p:spPr>
      </p:pic>
      <p:pic>
        <p:nvPicPr>
          <p:cNvPr id="25" name="Image 5" descr="/home/claude/vue-poc/assets/icons/arrow_right.png"/>
          <p:cNvPicPr>
            <a:picLocks noChangeAspect="1"/>
          </p:cNvPicPr>
          <p:nvPr/>
        </p:nvPicPr>
        <p:blipFill>
          <a:blip r:embed="rId7"/>
          <a:stretch>
            <a:fillRect/>
          </a:stretch>
        </p:blipFill>
        <p:spPr>
          <a:xfrm>
            <a:off x="5742432" y="3154680"/>
            <a:ext cx="256032" cy="256032"/>
          </a:xfrm>
          <a:prstGeom prst="rect">
            <a:avLst/>
          </a:prstGeom>
        </p:spPr>
      </p:pic>
      <p:pic>
        <p:nvPicPr>
          <p:cNvPr id="26" name="Image 6" descr="/home/claude/vue-poc/assets/icons/arrow_right.png"/>
          <p:cNvPicPr>
            <a:picLocks noChangeAspect="1"/>
          </p:cNvPicPr>
          <p:nvPr/>
        </p:nvPicPr>
        <p:blipFill>
          <a:blip r:embed="rId7"/>
          <a:stretch>
            <a:fillRect/>
          </a:stretch>
        </p:blipFill>
        <p:spPr>
          <a:xfrm>
            <a:off x="8439912" y="3154680"/>
            <a:ext cx="256032" cy="256032"/>
          </a:xfrm>
          <a:prstGeom prst="rect">
            <a:avLst/>
          </a:prstGeom>
        </p:spPr>
      </p:pic>
      <p:sp>
        <p:nvSpPr>
          <p:cNvPr id="27" name="Text 18"/>
          <p:cNvSpPr txBox="1"/>
          <p:nvPr/>
        </p:nvSpPr>
        <p:spPr>
          <a:xfrm>
            <a:off x="374431" y="5283884"/>
            <a:ext cx="11442834" cy="548640"/>
          </a:xfrm>
          <a:prstGeom prst="rect">
            <a:avLst/>
          </a:prstGeom>
          <a:noFill/>
          <a:ln/>
        </p:spPr>
        <p:txBody>
          <a:bodyPr wrap="square" lIns="0" tIns="0" rIns="0" bIns="0" rtlCol="0" anchor="ctr"/>
          <a:lstStyle/>
          <a:p>
            <a:pPr marL="0" indent="0">
              <a:buNone/>
            </a:pPr>
            <a:r>
              <a:rPr lang="en-US" sz="1600" i="1" dirty="0">
                <a:solidFill>
                  <a:srgbClr val="5B6B73"/>
                </a:solidFill>
                <a:latin typeface="Calibri" pitchFamily="34" charset="0"/>
                <a:ea typeface="Calibri" pitchFamily="34" charset="-122"/>
                <a:cs typeface="Calibri" pitchFamily="34" charset="-120"/>
              </a:rPr>
              <a:t>Vue optimiza este proceso con "compiler hints": en tiempo de build, marca qué partes del template son estáticas para saltarlas en el diffing.</a:t>
            </a:r>
            <a:endParaRPr lang="en-US" sz="1600" dirty="0"/>
          </a:p>
        </p:txBody>
      </p:sp>
      <p:sp>
        <p:nvSpPr>
          <p:cNvPr id="29"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548640" y="457200"/>
            <a:ext cx="2926080" cy="457200"/>
          </a:xfrm>
          <a:prstGeom prst="roundRect">
            <a:avLst>
              <a:gd name="adj" fmla="val 50000"/>
            </a:avLst>
          </a:prstGeom>
          <a:solidFill>
            <a:srgbClr val="E8B339"/>
          </a:solidFill>
          <a:ln/>
        </p:spPr>
        <p:txBody>
          <a:bodyPr/>
          <a:lstStyle/>
          <a:p>
            <a:endParaRPr lang="es-AR"/>
          </a:p>
        </p:txBody>
      </p:sp>
      <p:sp>
        <p:nvSpPr>
          <p:cNvPr id="3" name="Text 1"/>
          <p:cNvSpPr txBox="1"/>
          <p:nvPr/>
        </p:nvSpPr>
        <p:spPr>
          <a:xfrm>
            <a:off x="548640" y="457200"/>
            <a:ext cx="2926080" cy="457200"/>
          </a:xfrm>
          <a:prstGeom prst="rect">
            <a:avLst/>
          </a:prstGeom>
          <a:noFill/>
          <a:ln/>
        </p:spPr>
        <p:txBody>
          <a:bodyPr wrap="square" lIns="0" tIns="0" rIns="0" bIns="0" rtlCol="0" anchor="ctr"/>
          <a:lstStyle/>
          <a:p>
            <a:pPr marL="0" indent="0" algn="ctr">
              <a:buNone/>
            </a:pPr>
            <a:r>
              <a:rPr lang="en-US" sz="1300" b="1" dirty="0">
                <a:solidFill>
                  <a:srgbClr val="1E2A33"/>
                </a:solidFill>
                <a:latin typeface="Calibri" pitchFamily="34" charset="0"/>
                <a:ea typeface="Calibri" pitchFamily="34" charset="-122"/>
                <a:cs typeface="Calibri" pitchFamily="34" charset="-120"/>
              </a:rPr>
              <a:t>NOVEDAD 2026</a:t>
            </a:r>
            <a:endParaRPr lang="en-US" sz="1300" dirty="0"/>
          </a:p>
        </p:txBody>
      </p:sp>
      <p:sp>
        <p:nvSpPr>
          <p:cNvPr id="4" name="Text 2"/>
          <p:cNvSpPr txBox="1"/>
          <p:nvPr/>
        </p:nvSpPr>
        <p:spPr>
          <a:xfrm>
            <a:off x="548640" y="105156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Vue 3.6 y el "Vapor Mode"</a:t>
            </a:r>
            <a:endParaRPr lang="en-US" sz="3000" dirty="0"/>
          </a:p>
        </p:txBody>
      </p:sp>
      <p:sp>
        <p:nvSpPr>
          <p:cNvPr id="5" name="Text 3"/>
          <p:cNvSpPr txBox="1"/>
          <p:nvPr/>
        </p:nvSpPr>
        <p:spPr>
          <a:xfrm>
            <a:off x="548640" y="1783080"/>
            <a:ext cx="10332720" cy="685800"/>
          </a:xfrm>
          <a:prstGeom prst="rect">
            <a:avLst/>
          </a:prstGeom>
          <a:noFill/>
          <a:ln/>
        </p:spPr>
        <p:txBody>
          <a:bodyPr wrap="square" lIns="0" tIns="0" rIns="0" bIns="0" rtlCol="0" anchor="ctr"/>
          <a:lstStyle/>
          <a:p>
            <a:pPr marL="0" indent="0">
              <a:buNone/>
            </a:pPr>
            <a:r>
              <a:rPr lang="en-US" dirty="0">
                <a:solidFill>
                  <a:srgbClr val="C9D6D3"/>
                </a:solidFill>
                <a:latin typeface="Calibri" pitchFamily="34" charset="0"/>
                <a:ea typeface="Calibri" pitchFamily="34" charset="-122"/>
                <a:cs typeface="Calibri" pitchFamily="34" charset="-120"/>
              </a:rPr>
              <a:t>Un modo de compilación opcional que elimina por completo el Virtual DOM: el compilador genera código que crea y actualiza el DOM real de forma directa.</a:t>
            </a:r>
            <a:endParaRPr lang="en-US" dirty="0"/>
          </a:p>
        </p:txBody>
      </p:sp>
      <p:sp>
        <p:nvSpPr>
          <p:cNvPr id="6" name="Shape 4"/>
          <p:cNvSpPr/>
          <p:nvPr/>
        </p:nvSpPr>
        <p:spPr>
          <a:xfrm>
            <a:off x="54864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7" name="Text 5"/>
          <p:cNvSpPr txBox="1"/>
          <p:nvPr/>
        </p:nvSpPr>
        <p:spPr>
          <a:xfrm>
            <a:off x="54864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100k</a:t>
            </a:r>
            <a:endParaRPr lang="en-US" sz="3400" dirty="0"/>
          </a:p>
        </p:txBody>
      </p:sp>
      <p:sp>
        <p:nvSpPr>
          <p:cNvPr id="8" name="Text 6"/>
          <p:cNvSpPr txBox="1"/>
          <p:nvPr/>
        </p:nvSpPr>
        <p:spPr>
          <a:xfrm>
            <a:off x="777240" y="3611880"/>
            <a:ext cx="3063240" cy="685800"/>
          </a:xfrm>
          <a:prstGeom prst="rect">
            <a:avLst/>
          </a:prstGeom>
          <a:noFill/>
          <a:ln/>
        </p:spPr>
        <p:txBody>
          <a:bodyPr wrap="square" lIns="0" tIns="0" rIns="0" bIns="0" rtlCol="0" anchor="ctr"/>
          <a:lstStyle/>
          <a:p>
            <a:pPr marL="0" indent="0" algn="ctr">
              <a:buNone/>
            </a:pPr>
            <a:r>
              <a:rPr lang="en-US" dirty="0">
                <a:solidFill>
                  <a:srgbClr val="D7E4E1"/>
                </a:solidFill>
                <a:latin typeface="Calibri" pitchFamily="34" charset="0"/>
                <a:ea typeface="Calibri" pitchFamily="34" charset="-122"/>
                <a:cs typeface="Calibri" pitchFamily="34" charset="-120"/>
              </a:rPr>
              <a:t>3x más rápido en montar componentes vs Vue 3.5</a:t>
            </a:r>
            <a:endParaRPr lang="en-US" dirty="0"/>
          </a:p>
        </p:txBody>
      </p:sp>
      <p:sp>
        <p:nvSpPr>
          <p:cNvPr id="9" name="Shape 7"/>
          <p:cNvSpPr/>
          <p:nvPr/>
        </p:nvSpPr>
        <p:spPr>
          <a:xfrm>
            <a:off x="425196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10" name="Text 8"/>
          <p:cNvSpPr txBox="1"/>
          <p:nvPr/>
        </p:nvSpPr>
        <p:spPr>
          <a:xfrm>
            <a:off x="425196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&lt;10KB</a:t>
            </a:r>
            <a:endParaRPr lang="en-US" sz="3400" dirty="0"/>
          </a:p>
        </p:txBody>
      </p:sp>
      <p:sp>
        <p:nvSpPr>
          <p:cNvPr id="11" name="Text 9"/>
          <p:cNvSpPr txBox="1"/>
          <p:nvPr/>
        </p:nvSpPr>
        <p:spPr>
          <a:xfrm>
            <a:off x="4480560" y="3611880"/>
            <a:ext cx="3063240" cy="685800"/>
          </a:xfrm>
          <a:prstGeom prst="rect">
            <a:avLst/>
          </a:prstGeom>
          <a:noFill/>
          <a:ln/>
        </p:spPr>
        <p:txBody>
          <a:bodyPr wrap="square" lIns="0" tIns="0" rIns="0" bIns="0" rtlCol="0" anchor="ctr"/>
          <a:lstStyle/>
          <a:p>
            <a:pPr marL="0" indent="0" algn="ctr">
              <a:buNone/>
            </a:pPr>
            <a:r>
              <a:rPr lang="en-US" dirty="0">
                <a:solidFill>
                  <a:srgbClr val="D7E4E1"/>
                </a:solidFill>
                <a:latin typeface="Calibri" pitchFamily="34" charset="0"/>
                <a:ea typeface="Calibri" pitchFamily="34" charset="-122"/>
                <a:cs typeface="Calibri" pitchFamily="34" charset="-120"/>
              </a:rPr>
              <a:t>de bundle base — 37% más liviano</a:t>
            </a:r>
            <a:endParaRPr lang="en-US" dirty="0"/>
          </a:p>
        </p:txBody>
      </p:sp>
      <p:sp>
        <p:nvSpPr>
          <p:cNvPr id="12" name="Shape 10"/>
          <p:cNvSpPr/>
          <p:nvPr/>
        </p:nvSpPr>
        <p:spPr>
          <a:xfrm>
            <a:off x="795528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13" name="Text 11"/>
          <p:cNvSpPr txBox="1"/>
          <p:nvPr/>
        </p:nvSpPr>
        <p:spPr>
          <a:xfrm>
            <a:off x="795528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-14%</a:t>
            </a:r>
            <a:endParaRPr lang="en-US" sz="3400" dirty="0"/>
          </a:p>
        </p:txBody>
      </p:sp>
      <p:sp>
        <p:nvSpPr>
          <p:cNvPr id="14" name="Text 12"/>
          <p:cNvSpPr txBox="1"/>
          <p:nvPr/>
        </p:nvSpPr>
        <p:spPr>
          <a:xfrm>
            <a:off x="8183880" y="3611880"/>
            <a:ext cx="3063240" cy="685800"/>
          </a:xfrm>
          <a:prstGeom prst="rect">
            <a:avLst/>
          </a:prstGeom>
          <a:noFill/>
          <a:ln/>
        </p:spPr>
        <p:txBody>
          <a:bodyPr wrap="square" lIns="0" tIns="0" rIns="0" bIns="0" rtlCol="0" anchor="ctr"/>
          <a:lstStyle/>
          <a:p>
            <a:pPr marL="0" indent="0" algn="ctr">
              <a:buNone/>
            </a:pPr>
            <a:r>
              <a:rPr lang="en-US" dirty="0">
                <a:solidFill>
                  <a:srgbClr val="D7E4E1"/>
                </a:solidFill>
                <a:latin typeface="Calibri" pitchFamily="34" charset="0"/>
                <a:ea typeface="Calibri" pitchFamily="34" charset="-122"/>
                <a:cs typeface="Calibri" pitchFamily="34" charset="-120"/>
              </a:rPr>
              <a:t>de memoria usada por cada ref reactiva</a:t>
            </a:r>
            <a:endParaRPr lang="en-US" dirty="0"/>
          </a:p>
        </p:txBody>
      </p:sp>
      <p:sp>
        <p:nvSpPr>
          <p:cNvPr id="15" name="Text 13"/>
          <p:cNvSpPr txBox="1"/>
          <p:nvPr/>
        </p:nvSpPr>
        <p:spPr>
          <a:xfrm>
            <a:off x="548640" y="4709160"/>
            <a:ext cx="11064240" cy="594360"/>
          </a:xfrm>
          <a:prstGeom prst="rect">
            <a:avLst/>
          </a:prstGeom>
          <a:noFill/>
          <a:ln/>
        </p:spPr>
        <p:txBody>
          <a:bodyPr wrap="square" lIns="0" tIns="0" rIns="0" bIns="0" rtlCol="0" anchor="ctr"/>
          <a:lstStyle/>
          <a:p>
            <a:pPr marL="0" indent="0">
              <a:buNone/>
            </a:pPr>
            <a:r>
              <a:rPr lang="en-US" sz="2000" i="1" dirty="0">
                <a:solidFill>
                  <a:srgbClr val="E8B339"/>
                </a:solidFill>
                <a:latin typeface="Calibri" pitchFamily="34" charset="0"/>
                <a:ea typeface="Calibri" pitchFamily="34" charset="-122"/>
                <a:cs typeface="Calibri" pitchFamily="34" charset="-120"/>
              </a:rPr>
              <a:t>"Sin creación de VDOM, sin diffing, sin patching: el cambio de estado dispara exactamente una mutación del DOM."</a:t>
            </a:r>
            <a:endParaRPr lang="en-US" sz="2000" dirty="0"/>
          </a:p>
        </p:txBody>
      </p:sp>
      <p:sp>
        <p:nvSpPr>
          <p:cNvPr id="16" name="Text 14"/>
          <p:cNvSpPr txBox="1"/>
          <p:nvPr/>
        </p:nvSpPr>
        <p:spPr>
          <a:xfrm>
            <a:off x="548640" y="5349240"/>
            <a:ext cx="11064240" cy="640080"/>
          </a:xfrm>
          <a:prstGeom prst="rect">
            <a:avLst/>
          </a:prstGeom>
          <a:noFill/>
          <a:ln/>
        </p:spPr>
        <p:txBody>
          <a:bodyPr wrap="square" lIns="0" tIns="0" rIns="0" bIns="0" rtlCol="0" anchor="ctr"/>
          <a:lstStyle/>
          <a:p>
            <a:pPr marL="0" indent="0">
              <a:buNone/>
            </a:pPr>
            <a:r>
              <a:rPr lang="en-US" sz="1600" dirty="0">
                <a:solidFill>
                  <a:srgbClr val="8FA3A0"/>
                </a:solidFill>
                <a:latin typeface="Calibri" pitchFamily="34" charset="0"/>
                <a:ea typeface="Calibri" pitchFamily="34" charset="-122"/>
                <a:cs typeface="Calibri" pitchFamily="34" charset="-120"/>
              </a:rPr>
              <a:t>Estado: en beta durante 2026 — el equipo de Vue recomienda experimentar mientras se estabiliza para producción. Alcanza paridad de rendimiento con Solid.js y Svelte 5.</a:t>
            </a:r>
            <a:endParaRPr lang="en-US" sz="160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Bloque 3 · Rendimiento</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Alien Signals: el nuevo motor de reactividad</a:t>
            </a:r>
            <a:endParaRPr lang="en-US" sz="3000" dirty="0"/>
          </a:p>
        </p:txBody>
      </p:sp>
      <p:sp>
        <p:nvSpPr>
          <p:cNvPr id="4" name="Text 2"/>
          <p:cNvSpPr txBox="1"/>
          <p:nvPr/>
        </p:nvSpPr>
        <p:spPr>
          <a:xfrm>
            <a:off x="548640" y="1517904"/>
            <a:ext cx="10972800" cy="54864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Vue 3.6 introduce un algoritmo de reactividad "push-pull" que reduce el trabajo de recomputar valores derivados.</a:t>
            </a:r>
            <a:endParaRPr lang="en-US" sz="2000" dirty="0"/>
          </a:p>
        </p:txBody>
      </p:sp>
      <p:sp>
        <p:nvSpPr>
          <p:cNvPr id="5" name="Shape 3"/>
          <p:cNvSpPr/>
          <p:nvPr/>
        </p:nvSpPr>
        <p:spPr>
          <a:xfrm>
            <a:off x="548640" y="2331720"/>
            <a:ext cx="5349240" cy="2011680"/>
          </a:xfrm>
          <a:prstGeom prst="roundRect">
            <a:avLst>
              <a:gd name="adj" fmla="val 4545"/>
            </a:avLst>
          </a:prstGeom>
          <a:solidFill>
            <a:srgbClr val="F1F6F4"/>
          </a:solidFill>
          <a:ln/>
        </p:spPr>
        <p:txBody>
          <a:bodyPr/>
          <a:lstStyle/>
          <a:p>
            <a:endParaRPr lang="es-AR"/>
          </a:p>
        </p:txBody>
      </p:sp>
      <p:sp>
        <p:nvSpPr>
          <p:cNvPr id="6" name="Shape 4"/>
          <p:cNvSpPr/>
          <p:nvPr/>
        </p:nvSpPr>
        <p:spPr>
          <a:xfrm>
            <a:off x="937260" y="2583180"/>
            <a:ext cx="777240" cy="777240"/>
          </a:xfrm>
          <a:prstGeom prst="ellipse">
            <a:avLst/>
          </a:prstGeom>
          <a:solidFill>
            <a:srgbClr val="42B883"/>
          </a:solidFill>
          <a:ln/>
        </p:spPr>
        <p:txBody>
          <a:bodyPr/>
          <a:lstStyle/>
          <a:p>
            <a:endParaRPr lang="es-AR"/>
          </a:p>
        </p:txBody>
      </p:sp>
      <p:pic>
        <p:nvPicPr>
          <p:cNvPr id="7" name="Image 0" descr="/home/claude/vue-poc/assets/icons/bolt_w.png"/>
          <p:cNvPicPr>
            <a:picLocks noChangeAspect="1"/>
          </p:cNvPicPr>
          <p:nvPr/>
        </p:nvPicPr>
        <p:blipFill>
          <a:blip r:embed="rId3"/>
          <a:stretch>
            <a:fillRect/>
          </a:stretch>
        </p:blipFill>
        <p:spPr>
          <a:xfrm>
            <a:off x="1046074" y="2691994"/>
            <a:ext cx="559613" cy="559613"/>
          </a:xfrm>
          <a:prstGeom prst="rect">
            <a:avLst/>
          </a:prstGeom>
        </p:spPr>
      </p:pic>
      <p:sp>
        <p:nvSpPr>
          <p:cNvPr id="8" name="Text 5"/>
          <p:cNvSpPr txBox="1"/>
          <p:nvPr/>
        </p:nvSpPr>
        <p:spPr>
          <a:xfrm>
            <a:off x="1965960" y="2514600"/>
            <a:ext cx="37490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Fase Push</a:t>
            </a:r>
            <a:endParaRPr lang="en-US" sz="2000" dirty="0"/>
          </a:p>
        </p:txBody>
      </p:sp>
      <p:sp>
        <p:nvSpPr>
          <p:cNvPr id="9" name="Text 6"/>
          <p:cNvSpPr txBox="1"/>
          <p:nvPr/>
        </p:nvSpPr>
        <p:spPr>
          <a:xfrm>
            <a:off x="1965960" y="2907792"/>
            <a:ext cx="3749040" cy="132588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Cuando el estado cambia, Vue solo propaga una marca de "sucio" (dirty flag) — barato, sin recalcular nada todavía.</a:t>
            </a:r>
            <a:endParaRPr lang="en-US" dirty="0"/>
          </a:p>
        </p:txBody>
      </p:sp>
      <p:sp>
        <p:nvSpPr>
          <p:cNvPr id="10" name="Shape 7"/>
          <p:cNvSpPr/>
          <p:nvPr/>
        </p:nvSpPr>
        <p:spPr>
          <a:xfrm>
            <a:off x="6263640" y="2331720"/>
            <a:ext cx="5349240" cy="2011680"/>
          </a:xfrm>
          <a:prstGeom prst="roundRect">
            <a:avLst>
              <a:gd name="adj" fmla="val 4545"/>
            </a:avLst>
          </a:prstGeom>
          <a:solidFill>
            <a:srgbClr val="F1F6F4"/>
          </a:solidFill>
          <a:ln/>
        </p:spPr>
        <p:txBody>
          <a:bodyPr/>
          <a:lstStyle/>
          <a:p>
            <a:endParaRPr lang="es-AR"/>
          </a:p>
        </p:txBody>
      </p:sp>
      <p:sp>
        <p:nvSpPr>
          <p:cNvPr id="11" name="Shape 8"/>
          <p:cNvSpPr/>
          <p:nvPr/>
        </p:nvSpPr>
        <p:spPr>
          <a:xfrm>
            <a:off x="6652260" y="2583180"/>
            <a:ext cx="777240" cy="777240"/>
          </a:xfrm>
          <a:prstGeom prst="ellipse">
            <a:avLst/>
          </a:prstGeom>
          <a:solidFill>
            <a:srgbClr val="42B883"/>
          </a:solidFill>
          <a:ln/>
        </p:spPr>
        <p:txBody>
          <a:bodyPr/>
          <a:lstStyle/>
          <a:p>
            <a:endParaRPr lang="es-AR"/>
          </a:p>
        </p:txBody>
      </p:sp>
      <p:pic>
        <p:nvPicPr>
          <p:cNvPr id="12" name="Image 1" descr="/home/claude/vue-poc/assets/icons/magic_w.png"/>
          <p:cNvPicPr>
            <a:picLocks noChangeAspect="1"/>
          </p:cNvPicPr>
          <p:nvPr/>
        </p:nvPicPr>
        <p:blipFill>
          <a:blip r:embed="rId4"/>
          <a:stretch>
            <a:fillRect/>
          </a:stretch>
        </p:blipFill>
        <p:spPr>
          <a:xfrm>
            <a:off x="6761074" y="2691994"/>
            <a:ext cx="559613" cy="559613"/>
          </a:xfrm>
          <a:prstGeom prst="rect">
            <a:avLst/>
          </a:prstGeom>
        </p:spPr>
      </p:pic>
      <p:sp>
        <p:nvSpPr>
          <p:cNvPr id="13" name="Text 9"/>
          <p:cNvSpPr txBox="1"/>
          <p:nvPr/>
        </p:nvSpPr>
        <p:spPr>
          <a:xfrm>
            <a:off x="7680960" y="2514600"/>
            <a:ext cx="37490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Fase Pull</a:t>
            </a:r>
            <a:endParaRPr lang="en-US" sz="2000" dirty="0"/>
          </a:p>
        </p:txBody>
      </p:sp>
      <p:sp>
        <p:nvSpPr>
          <p:cNvPr id="14" name="Text 10"/>
          <p:cNvSpPr txBox="1"/>
          <p:nvPr/>
        </p:nvSpPr>
        <p:spPr>
          <a:xfrm>
            <a:off x="7681562" y="2807208"/>
            <a:ext cx="3749040" cy="132588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El valor recién se recalcula cuando efectivamente se lee, evitando recomputar cosas que nadie usó.</a:t>
            </a:r>
            <a:endParaRPr lang="en-US" dirty="0"/>
          </a:p>
        </p:txBody>
      </p:sp>
      <p:sp>
        <p:nvSpPr>
          <p:cNvPr id="15" name="Shape 11"/>
          <p:cNvSpPr/>
          <p:nvPr/>
        </p:nvSpPr>
        <p:spPr>
          <a:xfrm>
            <a:off x="548640" y="4617720"/>
            <a:ext cx="11064240" cy="1371600"/>
          </a:xfrm>
          <a:prstGeom prst="roundRect">
            <a:avLst>
              <a:gd name="adj" fmla="val 5333"/>
            </a:avLst>
          </a:prstGeom>
          <a:solidFill>
            <a:srgbClr val="1E2A33"/>
          </a:solidFill>
          <a:ln/>
        </p:spPr>
        <p:txBody>
          <a:bodyPr/>
          <a:lstStyle/>
          <a:p>
            <a:endParaRPr lang="es-AR"/>
          </a:p>
        </p:txBody>
      </p:sp>
      <p:sp>
        <p:nvSpPr>
          <p:cNvPr id="16" name="Text 12"/>
          <p:cNvSpPr txBox="1"/>
          <p:nvPr/>
        </p:nvSpPr>
        <p:spPr>
          <a:xfrm>
            <a:off x="868680" y="4800600"/>
            <a:ext cx="10424160" cy="1005840"/>
          </a:xfrm>
          <a:prstGeom prst="rect">
            <a:avLst/>
          </a:prstGeom>
          <a:noFill/>
          <a:ln/>
        </p:spPr>
        <p:txBody>
          <a:bodyPr wrap="square" lIns="0" tIns="0" rIns="0" bIns="0" rtlCol="0" anchor="ctr"/>
          <a:lstStyle/>
          <a:p>
            <a:pPr marL="0" indent="0">
              <a:buNone/>
            </a:pPr>
            <a:r>
              <a:rPr lang="en-US" sz="1600" dirty="0">
                <a:solidFill>
                  <a:srgbClr val="42B883"/>
                </a:solidFill>
                <a:latin typeface="Calibri" pitchFamily="34" charset="0"/>
                <a:ea typeface="Calibri" pitchFamily="34" charset="-122"/>
                <a:cs typeface="Calibri" pitchFamily="34" charset="-120"/>
              </a:rPr>
              <a:t>Resultado medido: aproximadamente 20% de mejora en el rendimiento de propiedades computed frente al motor de reactividad anterior</a:t>
            </a:r>
            <a:r>
              <a:rPr lang="en-US" sz="1350" dirty="0">
                <a:solidFill>
                  <a:srgbClr val="42B883"/>
                </a:solidFill>
                <a:latin typeface="Calibri" pitchFamily="34" charset="0"/>
                <a:ea typeface="Calibri" pitchFamily="34" charset="-122"/>
                <a:cs typeface="Calibri" pitchFamily="34" charset="-120"/>
              </a:rPr>
              <a:t>.</a:t>
            </a:r>
            <a:endParaRPr lang="en-US" sz="1350" dirty="0"/>
          </a:p>
        </p:txBody>
      </p:sp>
      <p:sp>
        <p:nvSpPr>
          <p:cNvPr id="18"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20" name="Text 1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Tamaño de bundle: por qué importa</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Un framework más liviano reduce el tiempo de carga inicial, clave en conexiones lentas o dispositivos de gama baja.</a:t>
            </a:r>
            <a:endParaRPr lang="en-US" sz="2000" dirty="0"/>
          </a:p>
        </p:txBody>
      </p:sp>
      <p:graphicFrame>
        <p:nvGraphicFramePr>
          <p:cNvPr id="5" name="Chart 0"/>
          <p:cNvGraphicFramePr/>
          <p:nvPr>
            <p:extLst>
              <p:ext uri="{D42A27DB-BD31-4B8C-83A1-F6EECF244321}">
                <p14:modId xmlns:p14="http://schemas.microsoft.com/office/powerpoint/2010/main" val="4013446073"/>
              </p:ext>
            </p:extLst>
          </p:nvPr>
        </p:nvGraphicFramePr>
        <p:xfrm>
          <a:off x="548640" y="2148840"/>
          <a:ext cx="7159592" cy="4219876"/>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001000" y="2148840"/>
            <a:ext cx="3611880" cy="3931920"/>
          </a:xfrm>
          <a:prstGeom prst="roundRect">
            <a:avLst>
              <a:gd name="adj" fmla="val 2532"/>
            </a:avLst>
          </a:prstGeom>
          <a:solidFill>
            <a:srgbClr val="F1F6F4"/>
          </a:solidFill>
          <a:ln/>
        </p:spPr>
        <p:txBody>
          <a:bodyPr/>
          <a:lstStyle/>
          <a:p>
            <a:endParaRPr lang="es-AR"/>
          </a:p>
        </p:txBody>
      </p:sp>
      <p:sp>
        <p:nvSpPr>
          <p:cNvPr id="7" name="Text 4"/>
          <p:cNvSpPr txBox="1"/>
          <p:nvPr/>
        </p:nvSpPr>
        <p:spPr>
          <a:xfrm>
            <a:off x="8229600" y="2377440"/>
            <a:ext cx="3200400" cy="146304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Con tree-shaking agresivo y buenas prácticas, React reduce esta diferencia en producción — pero Vue parte con ventaja "out of the box".</a:t>
            </a:r>
            <a:endParaRPr lang="en-US" sz="1600" dirty="0"/>
          </a:p>
        </p:txBody>
      </p:sp>
      <p:sp>
        <p:nvSpPr>
          <p:cNvPr id="8" name="Text 5"/>
          <p:cNvSpPr txBox="1"/>
          <p:nvPr/>
        </p:nvSpPr>
        <p:spPr>
          <a:xfrm>
            <a:off x="8229600" y="4846320"/>
            <a:ext cx="3200400" cy="1097280"/>
          </a:xfrm>
          <a:prstGeom prst="rect">
            <a:avLst/>
          </a:prstGeom>
          <a:noFill/>
          <a:ln/>
        </p:spPr>
        <p:txBody>
          <a:bodyPr wrap="square" lIns="0" tIns="0" rIns="0" bIns="0" rtlCol="0" anchor="ctr"/>
          <a:lstStyle/>
          <a:p>
            <a:pPr marL="0" indent="0">
              <a:buNone/>
            </a:pPr>
            <a:r>
              <a:rPr lang="en-US" sz="1600" i="1" dirty="0">
                <a:solidFill>
                  <a:srgbClr val="5B6B73"/>
                </a:solidFill>
                <a:latin typeface="Calibri" pitchFamily="34" charset="0"/>
                <a:ea typeface="Calibri" pitchFamily="34" charset="-122"/>
                <a:cs typeface="Calibri" pitchFamily="34" charset="-120"/>
              </a:rPr>
              <a:t>Cifras aproximadas y orientativas, según cobertura técnica de la beta de Vue 3.6 (2026). No sustituyen una medición propia.</a:t>
            </a:r>
            <a:endParaRPr lang="en-US" sz="160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scale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4 · </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Vue vs React: la comparación directa</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dirty="0">
                <a:solidFill>
                  <a:srgbClr val="C9D6D3"/>
                </a:solidFill>
                <a:latin typeface="Calibri" pitchFamily="34" charset="0"/>
                <a:ea typeface="Calibri" pitchFamily="34" charset="-122"/>
                <a:cs typeface="Calibri" pitchFamily="34" charset="-120"/>
              </a:rPr>
              <a:t>Adopción real, mercado laboral, nuestra demostración técnica y las conclusiones de la PoC.</a:t>
            </a:r>
            <a:endParaRPr lang="en-US"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Vue.js vs React — comparación directa</a:t>
            </a:r>
            <a:endParaRPr lang="en-US" sz="3000" dirty="0"/>
          </a:p>
        </p:txBody>
      </p:sp>
      <p:sp>
        <p:nvSpPr>
          <p:cNvPr id="4" name="Shape 2"/>
          <p:cNvSpPr/>
          <p:nvPr/>
        </p:nvSpPr>
        <p:spPr>
          <a:xfrm>
            <a:off x="548640" y="1691640"/>
            <a:ext cx="3017520" cy="512064"/>
          </a:xfrm>
          <a:prstGeom prst="rect">
            <a:avLst/>
          </a:prstGeom>
          <a:solidFill>
            <a:srgbClr val="1E2A33"/>
          </a:solidFill>
          <a:ln w="6350">
            <a:solidFill>
              <a:srgbClr val="FFFFFF"/>
            </a:solidFill>
            <a:prstDash val="solid"/>
          </a:ln>
        </p:spPr>
        <p:txBody>
          <a:bodyPr/>
          <a:lstStyle/>
          <a:p>
            <a:endParaRPr lang="es-AR" sz="2000"/>
          </a:p>
        </p:txBody>
      </p:sp>
      <p:sp>
        <p:nvSpPr>
          <p:cNvPr id="5" name="Text 3"/>
          <p:cNvSpPr txBox="1"/>
          <p:nvPr/>
        </p:nvSpPr>
        <p:spPr>
          <a:xfrm>
            <a:off x="548640" y="1691640"/>
            <a:ext cx="301752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Criterio</a:t>
            </a:r>
            <a:endParaRPr lang="en-US" sz="2000" dirty="0"/>
          </a:p>
        </p:txBody>
      </p:sp>
      <p:sp>
        <p:nvSpPr>
          <p:cNvPr id="6" name="Shape 4"/>
          <p:cNvSpPr/>
          <p:nvPr/>
        </p:nvSpPr>
        <p:spPr>
          <a:xfrm>
            <a:off x="3566160" y="1691640"/>
            <a:ext cx="4023360" cy="512064"/>
          </a:xfrm>
          <a:prstGeom prst="rect">
            <a:avLst/>
          </a:prstGeom>
          <a:solidFill>
            <a:srgbClr val="42B883"/>
          </a:solidFill>
          <a:ln w="6350">
            <a:solidFill>
              <a:srgbClr val="FFFFFF"/>
            </a:solidFill>
            <a:prstDash val="solid"/>
          </a:ln>
        </p:spPr>
        <p:txBody>
          <a:bodyPr/>
          <a:lstStyle/>
          <a:p>
            <a:endParaRPr lang="es-AR" sz="2000"/>
          </a:p>
        </p:txBody>
      </p:sp>
      <p:sp>
        <p:nvSpPr>
          <p:cNvPr id="7" name="Text 5"/>
          <p:cNvSpPr txBox="1"/>
          <p:nvPr/>
        </p:nvSpPr>
        <p:spPr>
          <a:xfrm>
            <a:off x="3566160" y="1691640"/>
            <a:ext cx="402336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Vue.js</a:t>
            </a:r>
            <a:endParaRPr lang="en-US" sz="2000" dirty="0"/>
          </a:p>
        </p:txBody>
      </p:sp>
      <p:sp>
        <p:nvSpPr>
          <p:cNvPr id="8" name="Shape 6"/>
          <p:cNvSpPr/>
          <p:nvPr/>
        </p:nvSpPr>
        <p:spPr>
          <a:xfrm>
            <a:off x="7589520" y="1691640"/>
            <a:ext cx="4023360" cy="512064"/>
          </a:xfrm>
          <a:prstGeom prst="rect">
            <a:avLst/>
          </a:prstGeom>
          <a:solidFill>
            <a:srgbClr val="20232A"/>
          </a:solidFill>
          <a:ln w="6350">
            <a:solidFill>
              <a:srgbClr val="FFFFFF"/>
            </a:solidFill>
            <a:prstDash val="solid"/>
          </a:ln>
        </p:spPr>
        <p:txBody>
          <a:bodyPr/>
          <a:lstStyle/>
          <a:p>
            <a:endParaRPr lang="es-AR" sz="2000"/>
          </a:p>
        </p:txBody>
      </p:sp>
      <p:sp>
        <p:nvSpPr>
          <p:cNvPr id="9" name="Text 7"/>
          <p:cNvSpPr txBox="1"/>
          <p:nvPr/>
        </p:nvSpPr>
        <p:spPr>
          <a:xfrm>
            <a:off x="7589520" y="1691640"/>
            <a:ext cx="402336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React</a:t>
            </a:r>
            <a:endParaRPr lang="en-US" sz="2000" dirty="0"/>
          </a:p>
        </p:txBody>
      </p:sp>
      <p:sp>
        <p:nvSpPr>
          <p:cNvPr id="10" name="Shape 8"/>
          <p:cNvSpPr/>
          <p:nvPr/>
        </p:nvSpPr>
        <p:spPr>
          <a:xfrm>
            <a:off x="548640" y="2203704"/>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11" name="Text 9"/>
          <p:cNvSpPr txBox="1"/>
          <p:nvPr/>
        </p:nvSpPr>
        <p:spPr>
          <a:xfrm>
            <a:off x="640080" y="2203704"/>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Sintaxis</a:t>
            </a:r>
            <a:endParaRPr lang="en-US" sz="1600" dirty="0"/>
          </a:p>
        </p:txBody>
      </p:sp>
      <p:sp>
        <p:nvSpPr>
          <p:cNvPr id="12" name="Shape 10"/>
          <p:cNvSpPr/>
          <p:nvPr/>
        </p:nvSpPr>
        <p:spPr>
          <a:xfrm>
            <a:off x="3566160" y="2203704"/>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13" name="Text 11"/>
          <p:cNvSpPr txBox="1"/>
          <p:nvPr/>
        </p:nvSpPr>
        <p:spPr>
          <a:xfrm>
            <a:off x="3657600" y="220370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Templates HTML + directivas</a:t>
            </a:r>
            <a:endParaRPr lang="en-US" sz="1600" dirty="0"/>
          </a:p>
        </p:txBody>
      </p:sp>
      <p:sp>
        <p:nvSpPr>
          <p:cNvPr id="14" name="Shape 12"/>
          <p:cNvSpPr/>
          <p:nvPr/>
        </p:nvSpPr>
        <p:spPr>
          <a:xfrm>
            <a:off x="7589520" y="2203704"/>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15" name="Text 13"/>
          <p:cNvSpPr txBox="1"/>
          <p:nvPr/>
        </p:nvSpPr>
        <p:spPr>
          <a:xfrm>
            <a:off x="7680960" y="220370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JSX (HTML dentro de JS)</a:t>
            </a:r>
            <a:endParaRPr lang="en-US" sz="1600" dirty="0"/>
          </a:p>
        </p:txBody>
      </p:sp>
      <p:sp>
        <p:nvSpPr>
          <p:cNvPr id="16" name="Shape 14"/>
          <p:cNvSpPr/>
          <p:nvPr/>
        </p:nvSpPr>
        <p:spPr>
          <a:xfrm>
            <a:off x="548640" y="2715768"/>
            <a:ext cx="3017520" cy="512064"/>
          </a:xfrm>
          <a:prstGeom prst="rect">
            <a:avLst/>
          </a:prstGeom>
          <a:solidFill>
            <a:srgbClr val="F1F6F4"/>
          </a:solidFill>
          <a:ln w="6350">
            <a:solidFill>
              <a:srgbClr val="E3E9E7"/>
            </a:solidFill>
            <a:prstDash val="solid"/>
          </a:ln>
        </p:spPr>
        <p:txBody>
          <a:bodyPr/>
          <a:lstStyle/>
          <a:p>
            <a:endParaRPr lang="es-AR" sz="1600"/>
          </a:p>
        </p:txBody>
      </p:sp>
      <p:sp>
        <p:nvSpPr>
          <p:cNvPr id="17" name="Text 15"/>
          <p:cNvSpPr txBox="1"/>
          <p:nvPr/>
        </p:nvSpPr>
        <p:spPr>
          <a:xfrm>
            <a:off x="640080" y="2715768"/>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Reactividad</a:t>
            </a:r>
            <a:endParaRPr lang="en-US" sz="1600" dirty="0"/>
          </a:p>
        </p:txBody>
      </p:sp>
      <p:sp>
        <p:nvSpPr>
          <p:cNvPr id="18" name="Shape 16"/>
          <p:cNvSpPr/>
          <p:nvPr/>
        </p:nvSpPr>
        <p:spPr>
          <a:xfrm>
            <a:off x="3566160" y="2715768"/>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19" name="Text 17"/>
          <p:cNvSpPr txBox="1"/>
          <p:nvPr/>
        </p:nvSpPr>
        <p:spPr>
          <a:xfrm>
            <a:off x="3657600" y="271576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Proxies automáticos (ref/reactive)</a:t>
            </a:r>
            <a:endParaRPr lang="en-US" sz="1600" dirty="0"/>
          </a:p>
        </p:txBody>
      </p:sp>
      <p:sp>
        <p:nvSpPr>
          <p:cNvPr id="20" name="Shape 18"/>
          <p:cNvSpPr/>
          <p:nvPr/>
        </p:nvSpPr>
        <p:spPr>
          <a:xfrm>
            <a:off x="7589520" y="2715768"/>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21" name="Text 19"/>
          <p:cNvSpPr txBox="1"/>
          <p:nvPr/>
        </p:nvSpPr>
        <p:spPr>
          <a:xfrm>
            <a:off x="7680960" y="271576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Hooks explícitos (useState)</a:t>
            </a:r>
            <a:endParaRPr lang="en-US" sz="1600" dirty="0"/>
          </a:p>
        </p:txBody>
      </p:sp>
      <p:sp>
        <p:nvSpPr>
          <p:cNvPr id="22" name="Shape 20"/>
          <p:cNvSpPr/>
          <p:nvPr/>
        </p:nvSpPr>
        <p:spPr>
          <a:xfrm>
            <a:off x="548640" y="3227832"/>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23" name="Text 21"/>
          <p:cNvSpPr txBox="1"/>
          <p:nvPr/>
        </p:nvSpPr>
        <p:spPr>
          <a:xfrm>
            <a:off x="640080" y="3227832"/>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Curva de aprendizaje</a:t>
            </a:r>
            <a:endParaRPr lang="en-US" sz="1600" dirty="0"/>
          </a:p>
        </p:txBody>
      </p:sp>
      <p:sp>
        <p:nvSpPr>
          <p:cNvPr id="24" name="Shape 22"/>
          <p:cNvSpPr/>
          <p:nvPr/>
        </p:nvSpPr>
        <p:spPr>
          <a:xfrm>
            <a:off x="3566160" y="3227832"/>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25" name="Text 23"/>
          <p:cNvSpPr txBox="1"/>
          <p:nvPr/>
        </p:nvSpPr>
        <p:spPr>
          <a:xfrm>
            <a:off x="3657600" y="3227832"/>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Más suave</a:t>
            </a:r>
            <a:endParaRPr lang="en-US" sz="1600" dirty="0"/>
          </a:p>
        </p:txBody>
      </p:sp>
      <p:sp>
        <p:nvSpPr>
          <p:cNvPr id="26" name="Shape 24"/>
          <p:cNvSpPr/>
          <p:nvPr/>
        </p:nvSpPr>
        <p:spPr>
          <a:xfrm>
            <a:off x="7589520" y="3227832"/>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27" name="Text 25"/>
          <p:cNvSpPr txBox="1"/>
          <p:nvPr/>
        </p:nvSpPr>
        <p:spPr>
          <a:xfrm>
            <a:off x="7680960" y="3227832"/>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Más pronunciada</a:t>
            </a:r>
            <a:endParaRPr lang="en-US" sz="1600" dirty="0"/>
          </a:p>
        </p:txBody>
      </p:sp>
      <p:sp>
        <p:nvSpPr>
          <p:cNvPr id="28" name="Shape 26"/>
          <p:cNvSpPr/>
          <p:nvPr/>
        </p:nvSpPr>
        <p:spPr>
          <a:xfrm>
            <a:off x="548640" y="3739896"/>
            <a:ext cx="3017520" cy="512064"/>
          </a:xfrm>
          <a:prstGeom prst="rect">
            <a:avLst/>
          </a:prstGeom>
          <a:solidFill>
            <a:srgbClr val="F1F6F4"/>
          </a:solidFill>
          <a:ln w="6350">
            <a:solidFill>
              <a:srgbClr val="E3E9E7"/>
            </a:solidFill>
            <a:prstDash val="solid"/>
          </a:ln>
        </p:spPr>
        <p:txBody>
          <a:bodyPr/>
          <a:lstStyle/>
          <a:p>
            <a:endParaRPr lang="es-AR" sz="1600"/>
          </a:p>
        </p:txBody>
      </p:sp>
      <p:sp>
        <p:nvSpPr>
          <p:cNvPr id="29" name="Text 27"/>
          <p:cNvSpPr txBox="1"/>
          <p:nvPr/>
        </p:nvSpPr>
        <p:spPr>
          <a:xfrm>
            <a:off x="640080" y="3739896"/>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Ecosistema</a:t>
            </a:r>
            <a:endParaRPr lang="en-US" sz="1600" dirty="0"/>
          </a:p>
        </p:txBody>
      </p:sp>
      <p:sp>
        <p:nvSpPr>
          <p:cNvPr id="30" name="Shape 28"/>
          <p:cNvSpPr/>
          <p:nvPr/>
        </p:nvSpPr>
        <p:spPr>
          <a:xfrm>
            <a:off x="3566160" y="3739896"/>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31" name="Text 29"/>
          <p:cNvSpPr txBox="1"/>
          <p:nvPr/>
        </p:nvSpPr>
        <p:spPr>
          <a:xfrm>
            <a:off x="3657600" y="3739896"/>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Oficial y cohesivo (Router, Pinia, Nuxt)</a:t>
            </a:r>
            <a:endParaRPr lang="en-US" sz="1600" dirty="0"/>
          </a:p>
        </p:txBody>
      </p:sp>
      <p:sp>
        <p:nvSpPr>
          <p:cNvPr id="32" name="Shape 30"/>
          <p:cNvSpPr/>
          <p:nvPr/>
        </p:nvSpPr>
        <p:spPr>
          <a:xfrm>
            <a:off x="7589520" y="3739896"/>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33" name="Text 31"/>
          <p:cNvSpPr txBox="1"/>
          <p:nvPr/>
        </p:nvSpPr>
        <p:spPr>
          <a:xfrm>
            <a:off x="7680960" y="3739896"/>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Vasto pero fragmentado (terceros)</a:t>
            </a:r>
            <a:endParaRPr lang="en-US" sz="1600" dirty="0"/>
          </a:p>
        </p:txBody>
      </p:sp>
      <p:sp>
        <p:nvSpPr>
          <p:cNvPr id="34" name="Shape 32"/>
          <p:cNvSpPr/>
          <p:nvPr/>
        </p:nvSpPr>
        <p:spPr>
          <a:xfrm>
            <a:off x="548640" y="4251960"/>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35" name="Text 33"/>
          <p:cNvSpPr txBox="1"/>
          <p:nvPr/>
        </p:nvSpPr>
        <p:spPr>
          <a:xfrm>
            <a:off x="640080" y="4251960"/>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Rendimiento</a:t>
            </a:r>
            <a:endParaRPr lang="en-US" sz="1600" dirty="0"/>
          </a:p>
        </p:txBody>
      </p:sp>
      <p:sp>
        <p:nvSpPr>
          <p:cNvPr id="36" name="Shape 34"/>
          <p:cNvSpPr/>
          <p:nvPr/>
        </p:nvSpPr>
        <p:spPr>
          <a:xfrm>
            <a:off x="3566160" y="4251960"/>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37" name="Text 35"/>
          <p:cNvSpPr txBox="1"/>
          <p:nvPr/>
        </p:nvSpPr>
        <p:spPr>
          <a:xfrm>
            <a:off x="3657600" y="4251960"/>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Excelente; Vapor Mode sin VDOM (3.6)</a:t>
            </a:r>
            <a:endParaRPr lang="en-US" sz="1600" dirty="0"/>
          </a:p>
        </p:txBody>
      </p:sp>
      <p:sp>
        <p:nvSpPr>
          <p:cNvPr id="38" name="Shape 36"/>
          <p:cNvSpPr/>
          <p:nvPr/>
        </p:nvSpPr>
        <p:spPr>
          <a:xfrm>
            <a:off x="7589520" y="4251960"/>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39" name="Text 37"/>
          <p:cNvSpPr txBox="1"/>
          <p:nvPr/>
        </p:nvSpPr>
        <p:spPr>
          <a:xfrm>
            <a:off x="7680960" y="4251960"/>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Excelente; Compiler de React 19</a:t>
            </a:r>
            <a:endParaRPr lang="en-US" sz="1600" dirty="0"/>
          </a:p>
        </p:txBody>
      </p:sp>
      <p:sp>
        <p:nvSpPr>
          <p:cNvPr id="40" name="Shape 38"/>
          <p:cNvSpPr/>
          <p:nvPr/>
        </p:nvSpPr>
        <p:spPr>
          <a:xfrm>
            <a:off x="548640" y="4764024"/>
            <a:ext cx="3017520" cy="512064"/>
          </a:xfrm>
          <a:prstGeom prst="rect">
            <a:avLst/>
          </a:prstGeom>
          <a:solidFill>
            <a:srgbClr val="F1F6F4"/>
          </a:solidFill>
          <a:ln w="6350">
            <a:solidFill>
              <a:srgbClr val="E3E9E7"/>
            </a:solidFill>
            <a:prstDash val="solid"/>
          </a:ln>
        </p:spPr>
        <p:txBody>
          <a:bodyPr/>
          <a:lstStyle/>
          <a:p>
            <a:endParaRPr lang="es-AR" sz="1600"/>
          </a:p>
        </p:txBody>
      </p:sp>
      <p:sp>
        <p:nvSpPr>
          <p:cNvPr id="41" name="Text 39"/>
          <p:cNvSpPr txBox="1"/>
          <p:nvPr/>
        </p:nvSpPr>
        <p:spPr>
          <a:xfrm>
            <a:off x="640080" y="4764024"/>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Tooling con IA</a:t>
            </a:r>
            <a:endParaRPr lang="en-US" sz="1600" dirty="0"/>
          </a:p>
        </p:txBody>
      </p:sp>
      <p:sp>
        <p:nvSpPr>
          <p:cNvPr id="42" name="Shape 40"/>
          <p:cNvSpPr/>
          <p:nvPr/>
        </p:nvSpPr>
        <p:spPr>
          <a:xfrm>
            <a:off x="3566160" y="4764024"/>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43" name="Text 41"/>
          <p:cNvSpPr txBox="1"/>
          <p:nvPr/>
        </p:nvSpPr>
        <p:spPr>
          <a:xfrm>
            <a:off x="3657600" y="476402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Limitado aún</a:t>
            </a:r>
            <a:endParaRPr lang="en-US" sz="1600" dirty="0"/>
          </a:p>
        </p:txBody>
      </p:sp>
      <p:sp>
        <p:nvSpPr>
          <p:cNvPr id="44" name="Shape 42"/>
          <p:cNvSpPr/>
          <p:nvPr/>
        </p:nvSpPr>
        <p:spPr>
          <a:xfrm>
            <a:off x="7589520" y="4764024"/>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45" name="Text 43"/>
          <p:cNvSpPr txBox="1"/>
          <p:nvPr/>
        </p:nvSpPr>
        <p:spPr>
          <a:xfrm>
            <a:off x="7680960" y="476402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Ecosistema maduro (Vercel AI SDK, etc.)</a:t>
            </a:r>
            <a:endParaRPr lang="en-US" sz="1600" dirty="0"/>
          </a:p>
        </p:txBody>
      </p:sp>
      <p:sp>
        <p:nvSpPr>
          <p:cNvPr id="46" name="Shape 44"/>
          <p:cNvSpPr/>
          <p:nvPr/>
        </p:nvSpPr>
        <p:spPr>
          <a:xfrm>
            <a:off x="548640" y="5276088"/>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47" name="Text 45"/>
          <p:cNvSpPr txBox="1"/>
          <p:nvPr/>
        </p:nvSpPr>
        <p:spPr>
          <a:xfrm>
            <a:off x="640080" y="5276088"/>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Bundle size</a:t>
            </a:r>
            <a:endParaRPr lang="en-US" sz="1600" dirty="0"/>
          </a:p>
        </p:txBody>
      </p:sp>
      <p:sp>
        <p:nvSpPr>
          <p:cNvPr id="48" name="Shape 46"/>
          <p:cNvSpPr/>
          <p:nvPr/>
        </p:nvSpPr>
        <p:spPr>
          <a:xfrm>
            <a:off x="3566160" y="5276088"/>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49" name="Text 47"/>
          <p:cNvSpPr txBox="1"/>
          <p:nvPr/>
        </p:nvSpPr>
        <p:spPr>
          <a:xfrm>
            <a:off x="3657600" y="527608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Más liviano por defecto</a:t>
            </a:r>
            <a:endParaRPr lang="en-US" sz="1600" dirty="0"/>
          </a:p>
        </p:txBody>
      </p:sp>
      <p:sp>
        <p:nvSpPr>
          <p:cNvPr id="50" name="Shape 48"/>
          <p:cNvSpPr/>
          <p:nvPr/>
        </p:nvSpPr>
        <p:spPr>
          <a:xfrm>
            <a:off x="7589520" y="5276088"/>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51" name="Text 49"/>
          <p:cNvSpPr txBox="1"/>
          <p:nvPr/>
        </p:nvSpPr>
        <p:spPr>
          <a:xfrm>
            <a:off x="7680960" y="527608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Mayor, mitigado con tree-shaking</a:t>
            </a:r>
            <a:endParaRPr lang="en-US" sz="1600" dirty="0"/>
          </a:p>
        </p:txBody>
      </p:sp>
      <p:sp>
        <p:nvSpPr>
          <p:cNvPr id="53" name="Text 5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55" name="Text 52"/>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85800"/>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Curva de aprendizaje y developer experience</a:t>
            </a:r>
            <a:endParaRPr lang="en-US" sz="3000" dirty="0"/>
          </a:p>
        </p:txBody>
      </p:sp>
      <p:sp>
        <p:nvSpPr>
          <p:cNvPr id="4" name="Shape 2"/>
          <p:cNvSpPr/>
          <p:nvPr/>
        </p:nvSpPr>
        <p:spPr>
          <a:xfrm>
            <a:off x="548640" y="1737360"/>
            <a:ext cx="5349240" cy="4114800"/>
          </a:xfrm>
          <a:prstGeom prst="roundRect">
            <a:avLst>
              <a:gd name="adj" fmla="val 2222"/>
            </a:avLst>
          </a:prstGeom>
          <a:solidFill>
            <a:srgbClr val="F1F6F4"/>
          </a:solidFill>
          <a:ln/>
        </p:spPr>
        <p:txBody>
          <a:bodyPr/>
          <a:lstStyle/>
          <a:p>
            <a:endParaRPr lang="es-AR"/>
          </a:p>
        </p:txBody>
      </p:sp>
      <p:pic>
        <p:nvPicPr>
          <p:cNvPr id="5" name="Image 0" descr="/home/claude/vue-poc/assets/icons/vue.png"/>
          <p:cNvPicPr>
            <a:picLocks noChangeAspect="1"/>
          </p:cNvPicPr>
          <p:nvPr/>
        </p:nvPicPr>
        <p:blipFill>
          <a:blip r:embed="rId3"/>
          <a:stretch>
            <a:fillRect/>
          </a:stretch>
        </p:blipFill>
        <p:spPr>
          <a:xfrm>
            <a:off x="868680" y="1965960"/>
            <a:ext cx="548640" cy="548640"/>
          </a:xfrm>
          <a:prstGeom prst="rect">
            <a:avLst/>
          </a:prstGeom>
        </p:spPr>
      </p:pic>
      <p:sp>
        <p:nvSpPr>
          <p:cNvPr id="6" name="Text 3"/>
          <p:cNvSpPr txBox="1"/>
          <p:nvPr/>
        </p:nvSpPr>
        <p:spPr>
          <a:xfrm>
            <a:off x="1554480" y="2011680"/>
            <a:ext cx="3931920" cy="457200"/>
          </a:xfrm>
          <a:prstGeom prst="rect">
            <a:avLst/>
          </a:prstGeom>
          <a:noFill/>
          <a:ln/>
        </p:spPr>
        <p:txBody>
          <a:bodyPr wrap="square" lIns="0" tIns="0" rIns="0" bIns="0" rtlCol="0" anchor="ctr"/>
          <a:lstStyle/>
          <a:p>
            <a:pPr marL="0" indent="0">
              <a:buNone/>
            </a:pPr>
            <a:r>
              <a:rPr lang="en-US" sz="2400" b="1" dirty="0">
                <a:solidFill>
                  <a:srgbClr val="2E8B63"/>
                </a:solidFill>
                <a:latin typeface="Calibri" pitchFamily="34" charset="0"/>
                <a:ea typeface="Calibri" pitchFamily="34" charset="-122"/>
                <a:cs typeface="Calibri" pitchFamily="34" charset="-120"/>
              </a:rPr>
              <a:t>Vue.js</a:t>
            </a:r>
            <a:endParaRPr lang="en-US" sz="2400" dirty="0"/>
          </a:p>
        </p:txBody>
      </p:sp>
      <p:sp>
        <p:nvSpPr>
          <p:cNvPr id="7" name="Text 4"/>
          <p:cNvSpPr txBox="1"/>
          <p:nvPr/>
        </p:nvSpPr>
        <p:spPr>
          <a:xfrm>
            <a:off x="914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Sintaxis cercana a HTML/CSS/JS estándar</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Convenciones oficiales reducen decisiones</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Documentación in-house extensa y guiada</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SFC separa claramente lógica, marcado y estilos</a:t>
            </a:r>
            <a:endParaRPr lang="en-US" dirty="0"/>
          </a:p>
        </p:txBody>
      </p:sp>
      <p:sp>
        <p:nvSpPr>
          <p:cNvPr id="8" name="Shape 5"/>
          <p:cNvSpPr/>
          <p:nvPr/>
        </p:nvSpPr>
        <p:spPr>
          <a:xfrm>
            <a:off x="6263640" y="1737360"/>
            <a:ext cx="5349240" cy="4114800"/>
          </a:xfrm>
          <a:prstGeom prst="roundRect">
            <a:avLst>
              <a:gd name="adj" fmla="val 2222"/>
            </a:avLst>
          </a:prstGeom>
          <a:solidFill>
            <a:srgbClr val="F1F6F4"/>
          </a:solidFill>
          <a:ln/>
        </p:spPr>
        <p:txBody>
          <a:bodyPr/>
          <a:lstStyle/>
          <a:p>
            <a:endParaRPr lang="es-AR"/>
          </a:p>
        </p:txBody>
      </p:sp>
      <p:pic>
        <p:nvPicPr>
          <p:cNvPr id="9" name="Image 1" descr="/home/claude/vue-poc/assets/icons/react.png"/>
          <p:cNvPicPr>
            <a:picLocks noChangeAspect="1"/>
          </p:cNvPicPr>
          <p:nvPr/>
        </p:nvPicPr>
        <p:blipFill>
          <a:blip r:embed="rId4"/>
          <a:stretch>
            <a:fillRect/>
          </a:stretch>
        </p:blipFill>
        <p:spPr>
          <a:xfrm>
            <a:off x="6583680" y="1965960"/>
            <a:ext cx="548640" cy="548640"/>
          </a:xfrm>
          <a:prstGeom prst="rect">
            <a:avLst/>
          </a:prstGeom>
        </p:spPr>
      </p:pic>
      <p:sp>
        <p:nvSpPr>
          <p:cNvPr id="10" name="Text 6"/>
          <p:cNvSpPr txBox="1"/>
          <p:nvPr/>
        </p:nvSpPr>
        <p:spPr>
          <a:xfrm>
            <a:off x="7269480" y="2011680"/>
            <a:ext cx="3931920" cy="457200"/>
          </a:xfrm>
          <a:prstGeom prst="rect">
            <a:avLst/>
          </a:prstGeom>
          <a:noFill/>
          <a:ln/>
        </p:spPr>
        <p:txBody>
          <a:bodyPr wrap="square" lIns="0" tIns="0" rIns="0" bIns="0" rtlCol="0" anchor="ctr"/>
          <a:lstStyle/>
          <a:p>
            <a:pPr marL="0" indent="0">
              <a:buNone/>
            </a:pPr>
            <a:r>
              <a:rPr lang="en-US" sz="2400" b="1" dirty="0">
                <a:solidFill>
                  <a:srgbClr val="1AA6C9"/>
                </a:solidFill>
                <a:latin typeface="Calibri" pitchFamily="34" charset="0"/>
                <a:ea typeface="Calibri" pitchFamily="34" charset="-122"/>
                <a:cs typeface="Calibri" pitchFamily="34" charset="-120"/>
              </a:rPr>
              <a:t>React</a:t>
            </a:r>
            <a:endParaRPr lang="en-US" sz="2400" dirty="0"/>
          </a:p>
        </p:txBody>
      </p:sp>
      <p:sp>
        <p:nvSpPr>
          <p:cNvPr id="11" name="Text 7"/>
          <p:cNvSpPr txBox="1"/>
          <p:nvPr/>
        </p:nvSpPr>
        <p:spPr>
          <a:xfrm>
            <a:off x="6629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Requiere entender JSX desde el día 1</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Hooks piden entender closures y dependencias</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Mayor flexibilidad, pero más decisiones a tomar</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Curva más empinada, techo más alto a largo plazo</a:t>
            </a:r>
            <a:endParaRPr lang="en-US" dirty="0"/>
          </a:p>
        </p:txBody>
      </p:sp>
      <p:sp>
        <p:nvSpPr>
          <p:cNvPr id="13" name="Text 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5" name="Text 10"/>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Comunidad y adopción</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marL="0" indent="0">
              <a:buNone/>
            </a:pPr>
            <a:r>
              <a:rPr lang="en-US" sz="2000" i="1" dirty="0">
                <a:solidFill>
                  <a:srgbClr val="5B6B73"/>
                </a:solidFill>
                <a:latin typeface="Calibri" pitchFamily="34" charset="0"/>
                <a:ea typeface="Calibri" pitchFamily="34" charset="-122"/>
                <a:cs typeface="Calibri" pitchFamily="34" charset="-120"/>
              </a:rPr>
              <a:t>Descargas semanales en npm (orden de magnitud aproximado, 2026)</a:t>
            </a:r>
            <a:endParaRPr lang="en-US" sz="2000" dirty="0"/>
          </a:p>
        </p:txBody>
      </p:sp>
      <p:graphicFrame>
        <p:nvGraphicFramePr>
          <p:cNvPr id="5" name="Chart 0"/>
          <p:cNvGraphicFramePr/>
          <p:nvPr>
            <p:extLst>
              <p:ext uri="{D42A27DB-BD31-4B8C-83A1-F6EECF244321}">
                <p14:modId xmlns:p14="http://schemas.microsoft.com/office/powerpoint/2010/main" val="2604284718"/>
              </p:ext>
            </p:extLst>
          </p:nvPr>
        </p:nvGraphicFramePr>
        <p:xfrm>
          <a:off x="548640" y="1920240"/>
          <a:ext cx="5731844" cy="427939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315200" y="2011680"/>
            <a:ext cx="4023360" cy="457200"/>
          </a:xfrm>
          <a:prstGeom prst="rect">
            <a:avLst/>
          </a:prstGeom>
          <a:noFill/>
          <a:ln/>
        </p:spPr>
        <p:txBody>
          <a:bodyPr wrap="square" lIns="0" tIns="0" rIns="0" bIns="0" rtlCol="0" anchor="ctr"/>
          <a:lstStyle/>
          <a:p>
            <a:pPr marL="0" indent="0">
              <a:buNone/>
            </a:pPr>
            <a:r>
              <a:rPr lang="en-US" sz="2200" b="1" dirty="0">
                <a:solidFill>
                  <a:srgbClr val="2E8B63"/>
                </a:solidFill>
                <a:latin typeface="Cambria" pitchFamily="34" charset="0"/>
                <a:ea typeface="Cambria" pitchFamily="34" charset="-122"/>
                <a:cs typeface="Cambria" pitchFamily="34" charset="-120"/>
              </a:rPr>
              <a:t>~10:1</a:t>
            </a:r>
            <a:endParaRPr lang="en-US" sz="2200" dirty="0"/>
          </a:p>
        </p:txBody>
      </p:sp>
      <p:sp>
        <p:nvSpPr>
          <p:cNvPr id="7" name="Text 4"/>
          <p:cNvSpPr txBox="1"/>
          <p:nvPr/>
        </p:nvSpPr>
        <p:spPr>
          <a:xfrm>
            <a:off x="7315200" y="2450592"/>
            <a:ext cx="4023360" cy="457200"/>
          </a:xfrm>
          <a:prstGeom prst="rect">
            <a:avLst/>
          </a:prstGeom>
          <a:noFill/>
          <a:ln/>
        </p:spPr>
        <p:txBody>
          <a:bodyPr wrap="square" lIns="0" tIns="0" rIns="0" bIns="0" rtlCol="0" anchor="ctr"/>
          <a:lstStyle/>
          <a:p>
            <a:pPr marL="0" indent="0">
              <a:buNone/>
            </a:pPr>
            <a:r>
              <a:rPr lang="en-US" sz="2000" dirty="0">
                <a:solidFill>
                  <a:srgbClr val="5B6B73"/>
                </a:solidFill>
                <a:latin typeface="Calibri" pitchFamily="34" charset="0"/>
                <a:ea typeface="Calibri" pitchFamily="34" charset="-122"/>
                <a:cs typeface="Calibri" pitchFamily="34" charset="-120"/>
              </a:rPr>
              <a:t>Relación de descargas npm a favor de React</a:t>
            </a:r>
            <a:endParaRPr lang="en-US" sz="2000" dirty="0"/>
          </a:p>
        </p:txBody>
      </p:sp>
      <p:sp>
        <p:nvSpPr>
          <p:cNvPr id="8" name="Text 5"/>
          <p:cNvSpPr txBox="1"/>
          <p:nvPr/>
        </p:nvSpPr>
        <p:spPr>
          <a:xfrm>
            <a:off x="7315200" y="3246120"/>
            <a:ext cx="4023360" cy="457200"/>
          </a:xfrm>
          <a:prstGeom prst="rect">
            <a:avLst/>
          </a:prstGeom>
          <a:noFill/>
          <a:ln/>
        </p:spPr>
        <p:txBody>
          <a:bodyPr wrap="square" lIns="0" tIns="0" rIns="0" bIns="0" rtlCol="0" anchor="ctr"/>
          <a:lstStyle/>
          <a:p>
            <a:pPr marL="0" indent="0">
              <a:buNone/>
            </a:pPr>
            <a:r>
              <a:rPr lang="en-US" sz="2000" b="1" dirty="0">
                <a:solidFill>
                  <a:srgbClr val="2E8B63"/>
                </a:solidFill>
                <a:latin typeface="Cambria" pitchFamily="34" charset="0"/>
                <a:ea typeface="Cambria" pitchFamily="34" charset="-122"/>
                <a:cs typeface="Cambria" pitchFamily="34" charset="-120"/>
              </a:rPr>
              <a:t>150.000+</a:t>
            </a:r>
            <a:endParaRPr lang="en-US" sz="2000" dirty="0"/>
          </a:p>
        </p:txBody>
      </p:sp>
      <p:sp>
        <p:nvSpPr>
          <p:cNvPr id="9" name="Text 6"/>
          <p:cNvSpPr txBox="1"/>
          <p:nvPr/>
        </p:nvSpPr>
        <p:spPr>
          <a:xfrm>
            <a:off x="7315200" y="3685032"/>
            <a:ext cx="4023360" cy="457200"/>
          </a:xfrm>
          <a:prstGeom prst="rect">
            <a:avLst/>
          </a:prstGeom>
          <a:noFill/>
          <a:ln/>
        </p:spPr>
        <p:txBody>
          <a:bodyPr wrap="square" lIns="0" tIns="0" rIns="0" bIns="0" rtlCol="0" anchor="ctr"/>
          <a:lstStyle/>
          <a:p>
            <a:pPr marL="0" indent="0">
              <a:buNone/>
            </a:pPr>
            <a:r>
              <a:rPr lang="en-US" sz="2000" dirty="0">
                <a:solidFill>
                  <a:srgbClr val="5B6B73"/>
                </a:solidFill>
                <a:latin typeface="Calibri" pitchFamily="34" charset="0"/>
                <a:ea typeface="Calibri" pitchFamily="34" charset="-122"/>
                <a:cs typeface="Calibri" pitchFamily="34" charset="-120"/>
              </a:rPr>
              <a:t>Puestos de trabajo activos que piden React</a:t>
            </a:r>
            <a:endParaRPr lang="en-US" sz="2000" dirty="0"/>
          </a:p>
        </p:txBody>
      </p:sp>
      <p:sp>
        <p:nvSpPr>
          <p:cNvPr id="10" name="Text 7"/>
          <p:cNvSpPr txBox="1"/>
          <p:nvPr/>
        </p:nvSpPr>
        <p:spPr>
          <a:xfrm>
            <a:off x="7315200" y="4480560"/>
            <a:ext cx="4023360" cy="457200"/>
          </a:xfrm>
          <a:prstGeom prst="rect">
            <a:avLst/>
          </a:prstGeom>
          <a:noFill/>
          <a:ln/>
        </p:spPr>
        <p:txBody>
          <a:bodyPr wrap="square" lIns="0" tIns="0" rIns="0" bIns="0" rtlCol="0" anchor="ctr"/>
          <a:lstStyle/>
          <a:p>
            <a:pPr marL="0" indent="0">
              <a:buNone/>
            </a:pPr>
            <a:r>
              <a:rPr lang="en-US" sz="2000" b="1" dirty="0">
                <a:solidFill>
                  <a:srgbClr val="2E8B63"/>
                </a:solidFill>
                <a:latin typeface="Cambria" pitchFamily="34" charset="0"/>
                <a:ea typeface="Cambria" pitchFamily="34" charset="-122"/>
                <a:cs typeface="Cambria" pitchFamily="34" charset="-120"/>
              </a:rPr>
              <a:t>44,7% / 17,6%</a:t>
            </a:r>
            <a:endParaRPr lang="en-US" sz="2000" dirty="0"/>
          </a:p>
        </p:txBody>
      </p:sp>
      <p:sp>
        <p:nvSpPr>
          <p:cNvPr id="11" name="Text 8"/>
          <p:cNvSpPr txBox="1"/>
          <p:nvPr/>
        </p:nvSpPr>
        <p:spPr>
          <a:xfrm>
            <a:off x="7315200" y="4919472"/>
            <a:ext cx="4023360" cy="457200"/>
          </a:xfrm>
          <a:prstGeom prst="rect">
            <a:avLst/>
          </a:prstGeom>
          <a:noFill/>
          <a:ln/>
        </p:spPr>
        <p:txBody>
          <a:bodyPr wrap="square" lIns="0" tIns="0" rIns="0" bIns="0" rtlCol="0" anchor="ctr"/>
          <a:lstStyle/>
          <a:p>
            <a:pPr marL="0" indent="0">
              <a:buNone/>
            </a:pPr>
            <a:r>
              <a:rPr lang="en-US" sz="2000" dirty="0">
                <a:solidFill>
                  <a:srgbClr val="5B6B73"/>
                </a:solidFill>
                <a:latin typeface="Calibri" pitchFamily="34" charset="0"/>
                <a:ea typeface="Calibri" pitchFamily="34" charset="-122"/>
                <a:cs typeface="Calibri" pitchFamily="34" charset="-120"/>
              </a:rPr>
              <a:t>Uso reportado: React vs Vue (SO 2025)</a:t>
            </a:r>
            <a:endParaRPr lang="en-US" sz="2000" dirty="0"/>
          </a:p>
        </p:txBody>
      </p:sp>
      <p:sp>
        <p:nvSpPr>
          <p:cNvPr id="13" name="Text 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5" name="Text 1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Casos reales de adopción en la industria</a:t>
            </a:r>
            <a:endParaRPr lang="en-US" sz="3000" dirty="0"/>
          </a:p>
        </p:txBody>
      </p:sp>
      <p:sp>
        <p:nvSpPr>
          <p:cNvPr id="4" name="Text 2"/>
          <p:cNvSpPr txBox="1"/>
          <p:nvPr/>
        </p:nvSpPr>
        <p:spPr>
          <a:xfrm>
            <a:off x="548640" y="1563464"/>
            <a:ext cx="5349240" cy="365760"/>
          </a:xfrm>
          <a:prstGeom prst="rect">
            <a:avLst/>
          </a:prstGeom>
          <a:noFill/>
          <a:ln/>
        </p:spPr>
        <p:txBody>
          <a:bodyPr wrap="square" lIns="0" tIns="0" rIns="0" bIns="0" rtlCol="0" anchor="ctr"/>
          <a:lstStyle/>
          <a:p>
            <a:pPr marL="0" indent="0">
              <a:buNone/>
            </a:pPr>
            <a:r>
              <a:rPr lang="en-US" sz="2400" b="1" dirty="0">
                <a:solidFill>
                  <a:srgbClr val="2E8B63"/>
                </a:solidFill>
                <a:latin typeface="Calibri" pitchFamily="34" charset="0"/>
                <a:ea typeface="Calibri" pitchFamily="34" charset="-122"/>
                <a:cs typeface="Calibri" pitchFamily="34" charset="-120"/>
              </a:rPr>
              <a:t>Vue.js</a:t>
            </a:r>
            <a:endParaRPr lang="en-US" sz="2400" dirty="0"/>
          </a:p>
        </p:txBody>
      </p:sp>
      <p:sp>
        <p:nvSpPr>
          <p:cNvPr id="5" name="Text 3"/>
          <p:cNvSpPr txBox="1"/>
          <p:nvPr/>
        </p:nvSpPr>
        <p:spPr>
          <a:xfrm>
            <a:off x="6263640" y="1600200"/>
            <a:ext cx="5349240" cy="365760"/>
          </a:xfrm>
          <a:prstGeom prst="rect">
            <a:avLst/>
          </a:prstGeom>
          <a:noFill/>
          <a:ln/>
        </p:spPr>
        <p:txBody>
          <a:bodyPr wrap="square" lIns="0" tIns="0" rIns="0" bIns="0" rtlCol="0" anchor="ctr"/>
          <a:lstStyle/>
          <a:p>
            <a:pPr marL="0" indent="0">
              <a:buNone/>
            </a:pPr>
            <a:r>
              <a:rPr lang="en-US" sz="2400" b="1" dirty="0">
                <a:solidFill>
                  <a:srgbClr val="1AA6C9"/>
                </a:solidFill>
                <a:latin typeface="Calibri" pitchFamily="34" charset="0"/>
                <a:ea typeface="Calibri" pitchFamily="34" charset="-122"/>
                <a:cs typeface="Calibri" pitchFamily="34" charset="-120"/>
              </a:rPr>
              <a:t>React</a:t>
            </a:r>
            <a:endParaRPr lang="en-US" sz="2400" dirty="0"/>
          </a:p>
        </p:txBody>
      </p:sp>
      <p:sp>
        <p:nvSpPr>
          <p:cNvPr id="6" name="Shape 4"/>
          <p:cNvSpPr/>
          <p:nvPr/>
        </p:nvSpPr>
        <p:spPr>
          <a:xfrm>
            <a:off x="548640" y="2103120"/>
            <a:ext cx="5349240" cy="868680"/>
          </a:xfrm>
          <a:prstGeom prst="roundRect">
            <a:avLst>
              <a:gd name="adj" fmla="val 8421"/>
            </a:avLst>
          </a:prstGeom>
          <a:solidFill>
            <a:srgbClr val="F1F6F4"/>
          </a:solidFill>
          <a:ln/>
        </p:spPr>
        <p:txBody>
          <a:bodyPr/>
          <a:lstStyle/>
          <a:p>
            <a:endParaRPr lang="es-AR"/>
          </a:p>
        </p:txBody>
      </p:sp>
      <p:pic>
        <p:nvPicPr>
          <p:cNvPr id="7" name="Image 0" descr="/home/claude/vue-poc/assets/icons/alibaba.png"/>
          <p:cNvPicPr>
            <a:picLocks noChangeAspect="1"/>
          </p:cNvPicPr>
          <p:nvPr/>
        </p:nvPicPr>
        <p:blipFill>
          <a:blip r:embed="rId3"/>
          <a:stretch>
            <a:fillRect/>
          </a:stretch>
        </p:blipFill>
        <p:spPr>
          <a:xfrm>
            <a:off x="777240" y="2304288"/>
            <a:ext cx="457200" cy="457200"/>
          </a:xfrm>
          <a:prstGeom prst="rect">
            <a:avLst/>
          </a:prstGeom>
        </p:spPr>
      </p:pic>
      <p:sp>
        <p:nvSpPr>
          <p:cNvPr id="8" name="Text 5"/>
          <p:cNvSpPr txBox="1"/>
          <p:nvPr/>
        </p:nvSpPr>
        <p:spPr>
          <a:xfrm>
            <a:off x="1417320" y="219456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Alibaba</a:t>
            </a:r>
            <a:endParaRPr lang="en-US" sz="2000" dirty="0"/>
          </a:p>
        </p:txBody>
      </p:sp>
      <p:sp>
        <p:nvSpPr>
          <p:cNvPr id="9" name="Text 6"/>
          <p:cNvSpPr txBox="1"/>
          <p:nvPr/>
        </p:nvSpPr>
        <p:spPr>
          <a:xfrm>
            <a:off x="1417320" y="2542032"/>
            <a:ext cx="4206240" cy="32004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Ecosistema e-commerce</a:t>
            </a:r>
            <a:endParaRPr lang="en-US" sz="1600" dirty="0"/>
          </a:p>
        </p:txBody>
      </p:sp>
      <p:sp>
        <p:nvSpPr>
          <p:cNvPr id="10" name="Shape 7"/>
          <p:cNvSpPr/>
          <p:nvPr/>
        </p:nvSpPr>
        <p:spPr>
          <a:xfrm>
            <a:off x="548640" y="3108960"/>
            <a:ext cx="5349240" cy="868680"/>
          </a:xfrm>
          <a:prstGeom prst="roundRect">
            <a:avLst>
              <a:gd name="adj" fmla="val 8421"/>
            </a:avLst>
          </a:prstGeom>
          <a:solidFill>
            <a:srgbClr val="F1F6F4"/>
          </a:solidFill>
          <a:ln/>
        </p:spPr>
        <p:txBody>
          <a:bodyPr/>
          <a:lstStyle/>
          <a:p>
            <a:endParaRPr lang="es-AR"/>
          </a:p>
        </p:txBody>
      </p:sp>
      <p:pic>
        <p:nvPicPr>
          <p:cNvPr id="11" name="Image 1" descr="/home/claude/vue-poc/assets/icons/gitlab.png"/>
          <p:cNvPicPr>
            <a:picLocks noChangeAspect="1"/>
          </p:cNvPicPr>
          <p:nvPr/>
        </p:nvPicPr>
        <p:blipFill>
          <a:blip r:embed="rId4"/>
          <a:stretch>
            <a:fillRect/>
          </a:stretch>
        </p:blipFill>
        <p:spPr>
          <a:xfrm>
            <a:off x="777240" y="3310128"/>
            <a:ext cx="457200" cy="457200"/>
          </a:xfrm>
          <a:prstGeom prst="rect">
            <a:avLst/>
          </a:prstGeom>
        </p:spPr>
      </p:pic>
      <p:sp>
        <p:nvSpPr>
          <p:cNvPr id="12" name="Text 8"/>
          <p:cNvSpPr txBox="1"/>
          <p:nvPr/>
        </p:nvSpPr>
        <p:spPr>
          <a:xfrm>
            <a:off x="1417320" y="320040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GitLab</a:t>
            </a:r>
            <a:endParaRPr lang="en-US" sz="2000" dirty="0"/>
          </a:p>
        </p:txBody>
      </p:sp>
      <p:sp>
        <p:nvSpPr>
          <p:cNvPr id="13" name="Text 9"/>
          <p:cNvSpPr txBox="1"/>
          <p:nvPr/>
        </p:nvSpPr>
        <p:spPr>
          <a:xfrm>
            <a:off x="1417320" y="354787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Plataforma DevOps</a:t>
            </a:r>
            <a:endParaRPr lang="en-US" dirty="0"/>
          </a:p>
        </p:txBody>
      </p:sp>
      <p:sp>
        <p:nvSpPr>
          <p:cNvPr id="14" name="Shape 10"/>
          <p:cNvSpPr/>
          <p:nvPr/>
        </p:nvSpPr>
        <p:spPr>
          <a:xfrm>
            <a:off x="548640" y="4114800"/>
            <a:ext cx="5349240" cy="868680"/>
          </a:xfrm>
          <a:prstGeom prst="roundRect">
            <a:avLst>
              <a:gd name="adj" fmla="val 8421"/>
            </a:avLst>
          </a:prstGeom>
          <a:solidFill>
            <a:srgbClr val="F1F6F4"/>
          </a:solidFill>
          <a:ln/>
        </p:spPr>
        <p:txBody>
          <a:bodyPr/>
          <a:lstStyle/>
          <a:p>
            <a:endParaRPr lang="es-AR"/>
          </a:p>
        </p:txBody>
      </p:sp>
      <p:pic>
        <p:nvPicPr>
          <p:cNvPr id="15" name="Image 2" descr="/home/claude/vue-poc/assets/icons/gamepad_w.png"/>
          <p:cNvPicPr>
            <a:picLocks noChangeAspect="1"/>
          </p:cNvPicPr>
          <p:nvPr/>
        </p:nvPicPr>
        <p:blipFill>
          <a:blip r:embed="rId5"/>
          <a:stretch>
            <a:fillRect/>
          </a:stretch>
        </p:blipFill>
        <p:spPr>
          <a:xfrm>
            <a:off x="777240" y="4315968"/>
            <a:ext cx="457200" cy="457200"/>
          </a:xfrm>
          <a:prstGeom prst="rect">
            <a:avLst/>
          </a:prstGeom>
        </p:spPr>
      </p:pic>
      <p:sp>
        <p:nvSpPr>
          <p:cNvPr id="16" name="Text 11"/>
          <p:cNvSpPr txBox="1"/>
          <p:nvPr/>
        </p:nvSpPr>
        <p:spPr>
          <a:xfrm>
            <a:off x="1417320" y="420624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Nintendo (sitios EU)</a:t>
            </a:r>
            <a:endParaRPr lang="en-US" sz="2000" dirty="0"/>
          </a:p>
        </p:txBody>
      </p:sp>
      <p:sp>
        <p:nvSpPr>
          <p:cNvPr id="17" name="Text 12"/>
          <p:cNvSpPr txBox="1"/>
          <p:nvPr/>
        </p:nvSpPr>
        <p:spPr>
          <a:xfrm>
            <a:off x="1417320" y="455371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Portales de la marca</a:t>
            </a:r>
            <a:endParaRPr lang="en-US" dirty="0"/>
          </a:p>
        </p:txBody>
      </p:sp>
      <p:sp>
        <p:nvSpPr>
          <p:cNvPr id="18" name="Shape 13"/>
          <p:cNvSpPr/>
          <p:nvPr/>
        </p:nvSpPr>
        <p:spPr>
          <a:xfrm>
            <a:off x="6263640" y="2103120"/>
            <a:ext cx="5349240" cy="868680"/>
          </a:xfrm>
          <a:prstGeom prst="roundRect">
            <a:avLst>
              <a:gd name="adj" fmla="val 8421"/>
            </a:avLst>
          </a:prstGeom>
          <a:solidFill>
            <a:srgbClr val="F1F6F4"/>
          </a:solidFill>
          <a:ln/>
        </p:spPr>
        <p:txBody>
          <a:bodyPr/>
          <a:lstStyle/>
          <a:p>
            <a:endParaRPr lang="es-AR"/>
          </a:p>
        </p:txBody>
      </p:sp>
      <p:pic>
        <p:nvPicPr>
          <p:cNvPr id="19" name="Image 3" descr="/home/claude/vue-poc/assets/icons/netflix.png"/>
          <p:cNvPicPr>
            <a:picLocks noChangeAspect="1"/>
          </p:cNvPicPr>
          <p:nvPr/>
        </p:nvPicPr>
        <p:blipFill>
          <a:blip r:embed="rId6"/>
          <a:stretch>
            <a:fillRect/>
          </a:stretch>
        </p:blipFill>
        <p:spPr>
          <a:xfrm>
            <a:off x="6492240" y="2304288"/>
            <a:ext cx="457200" cy="457200"/>
          </a:xfrm>
          <a:prstGeom prst="rect">
            <a:avLst/>
          </a:prstGeom>
        </p:spPr>
      </p:pic>
      <p:sp>
        <p:nvSpPr>
          <p:cNvPr id="20" name="Text 14"/>
          <p:cNvSpPr txBox="1"/>
          <p:nvPr/>
        </p:nvSpPr>
        <p:spPr>
          <a:xfrm>
            <a:off x="7132320" y="219456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Netflix</a:t>
            </a:r>
            <a:endParaRPr lang="en-US" sz="2000" dirty="0"/>
          </a:p>
        </p:txBody>
      </p:sp>
      <p:sp>
        <p:nvSpPr>
          <p:cNvPr id="21" name="Text 15"/>
          <p:cNvSpPr txBox="1"/>
          <p:nvPr/>
        </p:nvSpPr>
        <p:spPr>
          <a:xfrm>
            <a:off x="7132320" y="2542032"/>
            <a:ext cx="4206240" cy="32004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Interfaz de streaming</a:t>
            </a:r>
            <a:endParaRPr lang="en-US" sz="1600" dirty="0"/>
          </a:p>
        </p:txBody>
      </p:sp>
      <p:sp>
        <p:nvSpPr>
          <p:cNvPr id="22" name="Shape 16"/>
          <p:cNvSpPr/>
          <p:nvPr/>
        </p:nvSpPr>
        <p:spPr>
          <a:xfrm>
            <a:off x="6263640" y="3108960"/>
            <a:ext cx="5349240" cy="868680"/>
          </a:xfrm>
          <a:prstGeom prst="roundRect">
            <a:avLst>
              <a:gd name="adj" fmla="val 8421"/>
            </a:avLst>
          </a:prstGeom>
          <a:solidFill>
            <a:srgbClr val="F1F6F4"/>
          </a:solidFill>
          <a:ln/>
        </p:spPr>
        <p:txBody>
          <a:bodyPr/>
          <a:lstStyle/>
          <a:p>
            <a:endParaRPr lang="es-AR"/>
          </a:p>
        </p:txBody>
      </p:sp>
      <p:pic>
        <p:nvPicPr>
          <p:cNvPr id="23" name="Image 4" descr="/home/claude/vue-poc/assets/icons/airbnb.png"/>
          <p:cNvPicPr>
            <a:picLocks noChangeAspect="1"/>
          </p:cNvPicPr>
          <p:nvPr/>
        </p:nvPicPr>
        <p:blipFill>
          <a:blip r:embed="rId7"/>
          <a:stretch>
            <a:fillRect/>
          </a:stretch>
        </p:blipFill>
        <p:spPr>
          <a:xfrm>
            <a:off x="6492240" y="3310128"/>
            <a:ext cx="457200" cy="457200"/>
          </a:xfrm>
          <a:prstGeom prst="rect">
            <a:avLst/>
          </a:prstGeom>
        </p:spPr>
      </p:pic>
      <p:sp>
        <p:nvSpPr>
          <p:cNvPr id="24" name="Text 17"/>
          <p:cNvSpPr txBox="1"/>
          <p:nvPr/>
        </p:nvSpPr>
        <p:spPr>
          <a:xfrm>
            <a:off x="7132320" y="320040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Airbnb</a:t>
            </a:r>
            <a:endParaRPr lang="en-US" sz="2000" dirty="0"/>
          </a:p>
        </p:txBody>
      </p:sp>
      <p:sp>
        <p:nvSpPr>
          <p:cNvPr id="25" name="Text 18"/>
          <p:cNvSpPr txBox="1"/>
          <p:nvPr/>
        </p:nvSpPr>
        <p:spPr>
          <a:xfrm>
            <a:off x="7132320" y="354787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Plataforma web</a:t>
            </a:r>
            <a:endParaRPr lang="en-US" dirty="0"/>
          </a:p>
        </p:txBody>
      </p:sp>
      <p:sp>
        <p:nvSpPr>
          <p:cNvPr id="26" name="Shape 19"/>
          <p:cNvSpPr/>
          <p:nvPr/>
        </p:nvSpPr>
        <p:spPr>
          <a:xfrm>
            <a:off x="6263640" y="4114800"/>
            <a:ext cx="5349240" cy="868680"/>
          </a:xfrm>
          <a:prstGeom prst="roundRect">
            <a:avLst>
              <a:gd name="adj" fmla="val 8421"/>
            </a:avLst>
          </a:prstGeom>
          <a:solidFill>
            <a:srgbClr val="F1F6F4"/>
          </a:solidFill>
          <a:ln/>
        </p:spPr>
        <p:txBody>
          <a:bodyPr/>
          <a:lstStyle/>
          <a:p>
            <a:endParaRPr lang="es-AR"/>
          </a:p>
        </p:txBody>
      </p:sp>
      <p:pic>
        <p:nvPicPr>
          <p:cNvPr id="27" name="Image 5" descr="/home/claude/vue-poc/assets/icons/github.png"/>
          <p:cNvPicPr>
            <a:picLocks noChangeAspect="1"/>
          </p:cNvPicPr>
          <p:nvPr/>
        </p:nvPicPr>
        <p:blipFill>
          <a:blip r:embed="rId8"/>
          <a:stretch>
            <a:fillRect/>
          </a:stretch>
        </p:blipFill>
        <p:spPr>
          <a:xfrm>
            <a:off x="6492240" y="4315968"/>
            <a:ext cx="457200" cy="457200"/>
          </a:xfrm>
          <a:prstGeom prst="rect">
            <a:avLst/>
          </a:prstGeom>
        </p:spPr>
      </p:pic>
      <p:sp>
        <p:nvSpPr>
          <p:cNvPr id="28" name="Text 20"/>
          <p:cNvSpPr txBox="1"/>
          <p:nvPr/>
        </p:nvSpPr>
        <p:spPr>
          <a:xfrm>
            <a:off x="7132320" y="420624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Meta / Instagram</a:t>
            </a:r>
            <a:endParaRPr lang="en-US" sz="2000" dirty="0"/>
          </a:p>
        </p:txBody>
      </p:sp>
      <p:sp>
        <p:nvSpPr>
          <p:cNvPr id="29" name="Text 21"/>
          <p:cNvSpPr txBox="1"/>
          <p:nvPr/>
        </p:nvSpPr>
        <p:spPr>
          <a:xfrm>
            <a:off x="7132320" y="455371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Creador de React</a:t>
            </a:r>
            <a:endParaRPr lang="en-US" dirty="0"/>
          </a:p>
        </p:txBody>
      </p:sp>
      <p:sp>
        <p:nvSpPr>
          <p:cNvPr id="30" name="Text 22"/>
          <p:cNvSpPr txBox="1"/>
          <p:nvPr/>
        </p:nvSpPr>
        <p:spPr>
          <a:xfrm>
            <a:off x="548640" y="5257800"/>
            <a:ext cx="11064240" cy="502920"/>
          </a:xfrm>
          <a:prstGeom prst="rect">
            <a:avLst/>
          </a:prstGeom>
          <a:noFill/>
          <a:ln/>
        </p:spPr>
        <p:txBody>
          <a:bodyPr wrap="square" lIns="0" tIns="0" rIns="0" bIns="0" rtlCol="0" anchor="ctr"/>
          <a:lstStyle/>
          <a:p>
            <a:pPr marL="0" indent="0">
              <a:buNone/>
            </a:pPr>
            <a:r>
              <a:rPr lang="en-US" sz="1600" i="1" dirty="0">
                <a:solidFill>
                  <a:srgbClr val="5B6B73"/>
                </a:solidFill>
                <a:latin typeface="Calibri" pitchFamily="34" charset="0"/>
                <a:ea typeface="Calibri" pitchFamily="34" charset="-122"/>
                <a:cs typeface="Calibri" pitchFamily="34" charset="-120"/>
              </a:rPr>
              <a:t>React domina la adopción corporativa global (Fortune 500); Vue tiene fuerte tracción en Asia y presencia creciente en Europa.</a:t>
            </a:r>
            <a:endParaRPr lang="en-US" sz="1600" dirty="0"/>
          </a:p>
        </p:txBody>
      </p:sp>
      <p:sp>
        <p:nvSpPr>
          <p:cNvPr id="32" name="Text 2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34" name="Text 2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Mercado laboral: ¿qué conviene aprender?</a:t>
            </a:r>
            <a:endParaRPr lang="en-US" sz="3000" dirty="0"/>
          </a:p>
        </p:txBody>
      </p:sp>
      <p:sp>
        <p:nvSpPr>
          <p:cNvPr id="4" name="Shape 2"/>
          <p:cNvSpPr/>
          <p:nvPr/>
        </p:nvSpPr>
        <p:spPr>
          <a:xfrm>
            <a:off x="1188720" y="2560320"/>
            <a:ext cx="1463040" cy="1463040"/>
          </a:xfrm>
          <a:prstGeom prst="ellipse">
            <a:avLst/>
          </a:prstGeom>
          <a:solidFill>
            <a:srgbClr val="1E2A33"/>
          </a:solidFill>
          <a:ln/>
        </p:spPr>
        <p:txBody>
          <a:bodyPr/>
          <a:lstStyle/>
          <a:p>
            <a:endParaRPr lang="es-AR"/>
          </a:p>
        </p:txBody>
      </p:sp>
      <p:pic>
        <p:nvPicPr>
          <p:cNvPr id="5" name="Image 0" descr="/home/claude/vue-poc/assets/icons/briefcase_w.png"/>
          <p:cNvPicPr>
            <a:picLocks noChangeAspect="1"/>
          </p:cNvPicPr>
          <p:nvPr/>
        </p:nvPicPr>
        <p:blipFill>
          <a:blip r:embed="rId3"/>
          <a:stretch>
            <a:fillRect/>
          </a:stretch>
        </p:blipFill>
        <p:spPr>
          <a:xfrm>
            <a:off x="1393546" y="2765146"/>
            <a:ext cx="1053389" cy="1053389"/>
          </a:xfrm>
          <a:prstGeom prst="rect">
            <a:avLst/>
          </a:prstGeom>
        </p:spPr>
      </p:pic>
      <p:sp>
        <p:nvSpPr>
          <p:cNvPr id="6" name="Text 3"/>
          <p:cNvSpPr txBox="1"/>
          <p:nvPr/>
        </p:nvSpPr>
        <p:spPr>
          <a:xfrm>
            <a:off x="3200400" y="1965960"/>
            <a:ext cx="8412480" cy="2926080"/>
          </a:xfrm>
          <a:prstGeom prst="rect">
            <a:avLst/>
          </a:prstGeom>
          <a:noFill/>
          <a:ln/>
        </p:spPr>
        <p:txBody>
          <a:bodyPr wrap="square" lIns="0" tIns="0" rIns="0" bIns="0" rtlCol="0" anchor="ctr"/>
          <a:lstStyle/>
          <a:p>
            <a:pPr marL="342900" indent="-342900">
              <a:spcAft>
                <a:spcPts val="1600"/>
              </a:spcAft>
              <a:buSzPct val="100000"/>
              <a:buChar char="•"/>
            </a:pPr>
            <a:r>
              <a:rPr lang="en-US" dirty="0">
                <a:solidFill>
                  <a:srgbClr val="1E2A33"/>
                </a:solidFill>
                <a:latin typeface="Calibri" pitchFamily="34" charset="0"/>
                <a:ea typeface="Calibri" pitchFamily="34" charset="-122"/>
                <a:cs typeface="Calibri" pitchFamily="34" charset="-120"/>
              </a:rPr>
              <a:t>React concentra la mayor cantidad de búsquedas laborales activas — mayor demanda, pero también más competencia entre postulantes.</a:t>
            </a:r>
            <a:endParaRPr lang="en-US" dirty="0"/>
          </a:p>
          <a:p>
            <a:pPr marL="342900" indent="-342900">
              <a:spcAft>
                <a:spcPts val="1600"/>
              </a:spcAft>
              <a:buSzPct val="100000"/>
              <a:buChar char="•"/>
            </a:pPr>
            <a:r>
              <a:rPr lang="en-US" dirty="0">
                <a:solidFill>
                  <a:srgbClr val="1E2A33"/>
                </a:solidFill>
                <a:latin typeface="Calibri" pitchFamily="34" charset="0"/>
                <a:ea typeface="Calibri" pitchFamily="34" charset="-122"/>
                <a:cs typeface="Calibri" pitchFamily="34" charset="-120"/>
              </a:rPr>
              <a:t>Vue es muy solicitado en mercados específicos (agencias, admin dashboards, empresas con base en Asia y Europa).</a:t>
            </a:r>
            <a:endParaRPr lang="en-US" dirty="0"/>
          </a:p>
          <a:p>
            <a:pPr marL="342900" indent="-342900">
              <a:spcAft>
                <a:spcPts val="1600"/>
              </a:spcAft>
              <a:buSzPct val="100000"/>
              <a:buChar char="•"/>
            </a:pPr>
            <a:r>
              <a:rPr lang="en-US" dirty="0">
                <a:solidFill>
                  <a:srgbClr val="1E2A33"/>
                </a:solidFill>
                <a:latin typeface="Calibri" pitchFamily="34" charset="0"/>
                <a:ea typeface="Calibri" pitchFamily="34" charset="-122"/>
                <a:cs typeface="Calibri" pitchFamily="34" charset="-120"/>
              </a:rPr>
              <a:t>Conocer ambos con Composition API / Hooks reduce la distancia de aprendizaje entre uno y otro — son cada vez más similares conceptualmente.</a:t>
            </a:r>
            <a:endParaRPr lang="en-US" dirty="0"/>
          </a:p>
        </p:txBody>
      </p:sp>
      <p:sp>
        <p:nvSpPr>
          <p:cNvPr id="7" name="Shape 4"/>
          <p:cNvSpPr/>
          <p:nvPr/>
        </p:nvSpPr>
        <p:spPr>
          <a:xfrm>
            <a:off x="3200400" y="5029200"/>
            <a:ext cx="8412480" cy="1051560"/>
          </a:xfrm>
          <a:prstGeom prst="roundRect">
            <a:avLst>
              <a:gd name="adj" fmla="val 6957"/>
            </a:avLst>
          </a:prstGeom>
          <a:solidFill>
            <a:srgbClr val="F1F6F4"/>
          </a:solidFill>
          <a:ln/>
        </p:spPr>
        <p:txBody>
          <a:bodyPr/>
          <a:lstStyle/>
          <a:p>
            <a:endParaRPr lang="es-AR"/>
          </a:p>
        </p:txBody>
      </p:sp>
      <p:sp>
        <p:nvSpPr>
          <p:cNvPr id="8" name="Text 5"/>
          <p:cNvSpPr txBox="1"/>
          <p:nvPr/>
        </p:nvSpPr>
        <p:spPr>
          <a:xfrm>
            <a:off x="3429000" y="5166360"/>
            <a:ext cx="7955280" cy="822960"/>
          </a:xfrm>
          <a:prstGeom prst="rect">
            <a:avLst/>
          </a:prstGeom>
          <a:noFill/>
          <a:ln/>
        </p:spPr>
        <p:txBody>
          <a:bodyPr wrap="square" lIns="0" tIns="0" rIns="0" bIns="0" rtlCol="0" anchor="ctr"/>
          <a:lstStyle/>
          <a:p>
            <a:pPr marL="0" indent="0">
              <a:buNone/>
            </a:pPr>
            <a:r>
              <a:rPr lang="en-US" sz="1600" i="1" dirty="0">
                <a:solidFill>
                  <a:srgbClr val="1E2A33"/>
                </a:solidFill>
                <a:latin typeface="Calibri" pitchFamily="34" charset="0"/>
                <a:ea typeface="Calibri" pitchFamily="34" charset="-122"/>
                <a:cs typeface="Calibri" pitchFamily="34" charset="-120"/>
              </a:rPr>
              <a:t>Para un/a desarrollador/a que recién empieza: Vue baja la barrera de entrada. Para maximizar oportunidades laborales inmediatas: React sigue siendo la apuesta más segura hoy.</a:t>
            </a:r>
            <a:endParaRPr lang="en-US" sz="160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CONCLUSIONES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Vue.js: pros y contras</a:t>
            </a:r>
            <a:endParaRPr lang="en-US" sz="3000" dirty="0"/>
          </a:p>
        </p:txBody>
      </p:sp>
      <p:sp>
        <p:nvSpPr>
          <p:cNvPr id="4" name="Shape 2"/>
          <p:cNvSpPr/>
          <p:nvPr/>
        </p:nvSpPr>
        <p:spPr>
          <a:xfrm>
            <a:off x="548640" y="1645920"/>
            <a:ext cx="5349240" cy="4206240"/>
          </a:xfrm>
          <a:prstGeom prst="roundRect">
            <a:avLst>
              <a:gd name="adj" fmla="val 2174"/>
            </a:avLst>
          </a:prstGeom>
          <a:solidFill>
            <a:srgbClr val="EAF6F0"/>
          </a:solidFill>
          <a:ln/>
        </p:spPr>
        <p:txBody>
          <a:bodyPr/>
          <a:lstStyle/>
          <a:p>
            <a:endParaRPr lang="es-AR"/>
          </a:p>
        </p:txBody>
      </p:sp>
      <p:sp>
        <p:nvSpPr>
          <p:cNvPr id="5" name="Text 3"/>
          <p:cNvSpPr txBox="1"/>
          <p:nvPr/>
        </p:nvSpPr>
        <p:spPr>
          <a:xfrm>
            <a:off x="868680" y="1828800"/>
            <a:ext cx="4754880" cy="36576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A favor</a:t>
            </a:r>
            <a:endParaRPr lang="en-US" sz="2000" dirty="0"/>
          </a:p>
        </p:txBody>
      </p:sp>
      <p:pic>
        <p:nvPicPr>
          <p:cNvPr id="6" name="Image 0" descr="/home/claude/vue-poc/assets/icons/check_green.png"/>
          <p:cNvPicPr>
            <a:picLocks noChangeAspect="1"/>
          </p:cNvPicPr>
          <p:nvPr/>
        </p:nvPicPr>
        <p:blipFill>
          <a:blip r:embed="rId3"/>
          <a:stretch>
            <a:fillRect/>
          </a:stretch>
        </p:blipFill>
        <p:spPr>
          <a:xfrm>
            <a:off x="868680" y="2404872"/>
            <a:ext cx="292608" cy="292608"/>
          </a:xfrm>
          <a:prstGeom prst="rect">
            <a:avLst/>
          </a:prstGeom>
        </p:spPr>
      </p:pic>
      <p:sp>
        <p:nvSpPr>
          <p:cNvPr id="7" name="Text 4"/>
          <p:cNvSpPr txBox="1"/>
          <p:nvPr/>
        </p:nvSpPr>
        <p:spPr>
          <a:xfrm>
            <a:off x="1325880" y="2304288"/>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Curva de aprendizaje suave</a:t>
            </a:r>
            <a:endParaRPr lang="en-US" dirty="0"/>
          </a:p>
        </p:txBody>
      </p:sp>
      <p:pic>
        <p:nvPicPr>
          <p:cNvPr id="8" name="Image 1" descr="/home/claude/vue-poc/assets/icons/check_green.png"/>
          <p:cNvPicPr>
            <a:picLocks noChangeAspect="1"/>
          </p:cNvPicPr>
          <p:nvPr/>
        </p:nvPicPr>
        <p:blipFill>
          <a:blip r:embed="rId3"/>
          <a:stretch>
            <a:fillRect/>
          </a:stretch>
        </p:blipFill>
        <p:spPr>
          <a:xfrm>
            <a:off x="868680" y="2990088"/>
            <a:ext cx="292608" cy="292608"/>
          </a:xfrm>
          <a:prstGeom prst="rect">
            <a:avLst/>
          </a:prstGeom>
        </p:spPr>
      </p:pic>
      <p:sp>
        <p:nvSpPr>
          <p:cNvPr id="9" name="Text 5"/>
          <p:cNvSpPr txBox="1"/>
          <p:nvPr/>
        </p:nvSpPr>
        <p:spPr>
          <a:xfrm>
            <a:off x="1325880" y="2962656"/>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Ecosistema oficial cohesivo (Router, Pinia, Nuxt, Vite)</a:t>
            </a:r>
            <a:endParaRPr lang="en-US" dirty="0"/>
          </a:p>
        </p:txBody>
      </p:sp>
      <p:pic>
        <p:nvPicPr>
          <p:cNvPr id="10" name="Image 2" descr="/home/claude/vue-poc/assets/icons/check_green.png"/>
          <p:cNvPicPr>
            <a:picLocks noChangeAspect="1"/>
          </p:cNvPicPr>
          <p:nvPr/>
        </p:nvPicPr>
        <p:blipFill>
          <a:blip r:embed="rId3"/>
          <a:stretch>
            <a:fillRect/>
          </a:stretch>
        </p:blipFill>
        <p:spPr>
          <a:xfrm>
            <a:off x="868680" y="3712464"/>
            <a:ext cx="292608" cy="292608"/>
          </a:xfrm>
          <a:prstGeom prst="rect">
            <a:avLst/>
          </a:prstGeom>
        </p:spPr>
      </p:pic>
      <p:sp>
        <p:nvSpPr>
          <p:cNvPr id="11" name="Text 6"/>
          <p:cNvSpPr txBox="1"/>
          <p:nvPr/>
        </p:nvSpPr>
        <p:spPr>
          <a:xfrm>
            <a:off x="1325880" y="3621024"/>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Excelente documentación</a:t>
            </a:r>
            <a:endParaRPr lang="en-US" dirty="0"/>
          </a:p>
        </p:txBody>
      </p:sp>
      <p:pic>
        <p:nvPicPr>
          <p:cNvPr id="12" name="Image 3" descr="/home/claude/vue-poc/assets/icons/check_green.png"/>
          <p:cNvPicPr>
            <a:picLocks noChangeAspect="1"/>
          </p:cNvPicPr>
          <p:nvPr/>
        </p:nvPicPr>
        <p:blipFill>
          <a:blip r:embed="rId3"/>
          <a:stretch>
            <a:fillRect/>
          </a:stretch>
        </p:blipFill>
        <p:spPr>
          <a:xfrm>
            <a:off x="868680" y="4306824"/>
            <a:ext cx="292608" cy="292608"/>
          </a:xfrm>
          <a:prstGeom prst="rect">
            <a:avLst/>
          </a:prstGeom>
        </p:spPr>
      </p:pic>
      <p:sp>
        <p:nvSpPr>
          <p:cNvPr id="13" name="Text 7"/>
          <p:cNvSpPr txBox="1"/>
          <p:nvPr/>
        </p:nvSpPr>
        <p:spPr>
          <a:xfrm>
            <a:off x="1325880" y="4238886"/>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Rendimiento de punta con Vapor Mode (3.6)</a:t>
            </a:r>
            <a:endParaRPr lang="en-US" dirty="0"/>
          </a:p>
        </p:txBody>
      </p:sp>
      <p:pic>
        <p:nvPicPr>
          <p:cNvPr id="14" name="Image 4" descr="/home/claude/vue-poc/assets/icons/check_green.png"/>
          <p:cNvPicPr>
            <a:picLocks noChangeAspect="1"/>
          </p:cNvPicPr>
          <p:nvPr/>
        </p:nvPicPr>
        <p:blipFill>
          <a:blip r:embed="rId3"/>
          <a:stretch>
            <a:fillRect/>
          </a:stretch>
        </p:blipFill>
        <p:spPr>
          <a:xfrm>
            <a:off x="868680" y="4965192"/>
            <a:ext cx="292608" cy="292608"/>
          </a:xfrm>
          <a:prstGeom prst="rect">
            <a:avLst/>
          </a:prstGeom>
        </p:spPr>
      </p:pic>
      <p:sp>
        <p:nvSpPr>
          <p:cNvPr id="15" name="Text 8"/>
          <p:cNvSpPr txBox="1"/>
          <p:nvPr/>
        </p:nvSpPr>
        <p:spPr>
          <a:xfrm>
            <a:off x="1325880" y="4873752"/>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Bundle liviano por defecto</a:t>
            </a:r>
            <a:endParaRPr lang="en-US" dirty="0"/>
          </a:p>
        </p:txBody>
      </p:sp>
      <p:sp>
        <p:nvSpPr>
          <p:cNvPr id="16" name="Shape 9"/>
          <p:cNvSpPr/>
          <p:nvPr/>
        </p:nvSpPr>
        <p:spPr>
          <a:xfrm>
            <a:off x="6263640" y="1645920"/>
            <a:ext cx="5349240" cy="4206240"/>
          </a:xfrm>
          <a:prstGeom prst="roundRect">
            <a:avLst>
              <a:gd name="adj" fmla="val 2174"/>
            </a:avLst>
          </a:prstGeom>
          <a:solidFill>
            <a:srgbClr val="FBEDED"/>
          </a:solidFill>
          <a:ln/>
        </p:spPr>
        <p:txBody>
          <a:bodyPr/>
          <a:lstStyle/>
          <a:p>
            <a:endParaRPr lang="es-AR"/>
          </a:p>
        </p:txBody>
      </p:sp>
      <p:sp>
        <p:nvSpPr>
          <p:cNvPr id="17" name="Text 10"/>
          <p:cNvSpPr txBox="1"/>
          <p:nvPr/>
        </p:nvSpPr>
        <p:spPr>
          <a:xfrm>
            <a:off x="6583680" y="1828800"/>
            <a:ext cx="4754880" cy="365760"/>
          </a:xfrm>
          <a:prstGeom prst="rect">
            <a:avLst/>
          </a:prstGeom>
          <a:noFill/>
          <a:ln/>
        </p:spPr>
        <p:txBody>
          <a:bodyPr wrap="square" lIns="0" tIns="0" rIns="0" bIns="0" rtlCol="0" anchor="ctr"/>
          <a:lstStyle/>
          <a:p>
            <a:pPr marL="0" indent="0">
              <a:buNone/>
            </a:pPr>
            <a:r>
              <a:rPr lang="en-US" sz="2000" b="1" dirty="0">
                <a:solidFill>
                  <a:srgbClr val="D64545"/>
                </a:solidFill>
                <a:latin typeface="Calibri" pitchFamily="34" charset="0"/>
                <a:ea typeface="Calibri" pitchFamily="34" charset="-122"/>
                <a:cs typeface="Calibri" pitchFamily="34" charset="-120"/>
              </a:rPr>
              <a:t>En contra</a:t>
            </a:r>
            <a:endParaRPr lang="en-US" sz="2000" dirty="0"/>
          </a:p>
        </p:txBody>
      </p:sp>
      <p:pic>
        <p:nvPicPr>
          <p:cNvPr id="18" name="Image 5" descr="/home/claude/vue-poc/assets/icons/x_red.png"/>
          <p:cNvPicPr>
            <a:picLocks noChangeAspect="1"/>
          </p:cNvPicPr>
          <p:nvPr/>
        </p:nvPicPr>
        <p:blipFill>
          <a:blip r:embed="rId4"/>
          <a:stretch>
            <a:fillRect/>
          </a:stretch>
        </p:blipFill>
        <p:spPr>
          <a:xfrm>
            <a:off x="6583680" y="2331720"/>
            <a:ext cx="292608" cy="292608"/>
          </a:xfrm>
          <a:prstGeom prst="rect">
            <a:avLst/>
          </a:prstGeom>
        </p:spPr>
      </p:pic>
      <p:sp>
        <p:nvSpPr>
          <p:cNvPr id="19" name="Text 11"/>
          <p:cNvSpPr txBox="1"/>
          <p:nvPr/>
        </p:nvSpPr>
        <p:spPr>
          <a:xfrm>
            <a:off x="7040880" y="2304288"/>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Comunidad y mercado laboral más chicos que React</a:t>
            </a:r>
            <a:endParaRPr lang="en-US" dirty="0"/>
          </a:p>
        </p:txBody>
      </p:sp>
      <p:pic>
        <p:nvPicPr>
          <p:cNvPr id="20" name="Image 6" descr="/home/claude/vue-poc/assets/icons/x_red.png"/>
          <p:cNvPicPr>
            <a:picLocks noChangeAspect="1"/>
          </p:cNvPicPr>
          <p:nvPr/>
        </p:nvPicPr>
        <p:blipFill>
          <a:blip r:embed="rId4"/>
          <a:stretch>
            <a:fillRect/>
          </a:stretch>
        </p:blipFill>
        <p:spPr>
          <a:xfrm>
            <a:off x="6583680" y="3157247"/>
            <a:ext cx="292608" cy="292608"/>
          </a:xfrm>
          <a:prstGeom prst="rect">
            <a:avLst/>
          </a:prstGeom>
        </p:spPr>
      </p:pic>
      <p:sp>
        <p:nvSpPr>
          <p:cNvPr id="21" name="Text 12"/>
          <p:cNvSpPr txBox="1"/>
          <p:nvPr/>
        </p:nvSpPr>
        <p:spPr>
          <a:xfrm>
            <a:off x="7040880" y="3054096"/>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Menos librerías de terceros e integraciones de IA</a:t>
            </a:r>
            <a:endParaRPr lang="en-US" dirty="0"/>
          </a:p>
        </p:txBody>
      </p:sp>
      <p:pic>
        <p:nvPicPr>
          <p:cNvPr id="22" name="Image 7" descr="/home/claude/vue-poc/assets/icons/x_red.png"/>
          <p:cNvPicPr>
            <a:picLocks noChangeAspect="1"/>
          </p:cNvPicPr>
          <p:nvPr/>
        </p:nvPicPr>
        <p:blipFill>
          <a:blip r:embed="rId4"/>
          <a:stretch>
            <a:fillRect/>
          </a:stretch>
        </p:blipFill>
        <p:spPr>
          <a:xfrm>
            <a:off x="6583680" y="3892296"/>
            <a:ext cx="292608" cy="292608"/>
          </a:xfrm>
          <a:prstGeom prst="rect">
            <a:avLst/>
          </a:prstGeom>
        </p:spPr>
      </p:pic>
      <p:sp>
        <p:nvSpPr>
          <p:cNvPr id="23" name="Text 13"/>
          <p:cNvSpPr txBox="1"/>
          <p:nvPr/>
        </p:nvSpPr>
        <p:spPr>
          <a:xfrm>
            <a:off x="7040880" y="3730752"/>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Vapor Mode aún en beta durante 2026</a:t>
            </a:r>
            <a:endParaRPr lang="en-US" dirty="0"/>
          </a:p>
        </p:txBody>
      </p:sp>
      <p:pic>
        <p:nvPicPr>
          <p:cNvPr id="24" name="Image 8" descr="/home/claude/vue-poc/assets/icons/x_red.png"/>
          <p:cNvPicPr>
            <a:picLocks noChangeAspect="1"/>
          </p:cNvPicPr>
          <p:nvPr/>
        </p:nvPicPr>
        <p:blipFill>
          <a:blip r:embed="rId4"/>
          <a:stretch>
            <a:fillRect/>
          </a:stretch>
        </p:blipFill>
        <p:spPr>
          <a:xfrm>
            <a:off x="6583680" y="4581144"/>
            <a:ext cx="292608" cy="292608"/>
          </a:xfrm>
          <a:prstGeom prst="rect">
            <a:avLst/>
          </a:prstGeom>
        </p:spPr>
      </p:pic>
      <p:sp>
        <p:nvSpPr>
          <p:cNvPr id="25" name="Text 14"/>
          <p:cNvSpPr txBox="1"/>
          <p:nvPr/>
        </p:nvSpPr>
        <p:spPr>
          <a:xfrm>
            <a:off x="7040880" y="4553712"/>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Menor presencia en grandes empresas occidentales</a:t>
            </a:r>
            <a:endParaRPr lang="en-US" dirty="0"/>
          </a:p>
        </p:txBody>
      </p:sp>
      <p:sp>
        <p:nvSpPr>
          <p:cNvPr id="27"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Conclusiones</a:t>
            </a:r>
            <a:endParaRPr lang="en-US" sz="1000" dirty="0"/>
          </a:p>
        </p:txBody>
      </p:sp>
      <p:sp>
        <p:nvSpPr>
          <p:cNvPr id="28" name="Text 16"/>
          <p:cNvSpPr txBox="1"/>
          <p:nvPr/>
        </p:nvSpPr>
        <p:spPr>
          <a:xfrm>
            <a:off x="8899855" y="6473952"/>
            <a:ext cx="274320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9"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IMPLEMENTACIÓN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Demo: buscador en vivo</a:t>
            </a:r>
            <a:endParaRPr lang="en-US" sz="3000" dirty="0"/>
          </a:p>
        </p:txBody>
      </p:sp>
      <p:sp>
        <p:nvSpPr>
          <p:cNvPr id="4" name="Text 2"/>
          <p:cNvSpPr txBox="1"/>
          <p:nvPr/>
        </p:nvSpPr>
        <p:spPr>
          <a:xfrm>
            <a:off x="548640" y="1378017"/>
            <a:ext cx="11064240" cy="731520"/>
          </a:xfrm>
          <a:prstGeom prst="rect">
            <a:avLst/>
          </a:prstGeom>
          <a:noFill/>
          <a:ln/>
        </p:spPr>
        <p:txBody>
          <a:bodyPr wrap="square" lIns="0" tIns="0" rIns="0" bIns="0" rtlCol="0" anchor="ctr"/>
          <a:lstStyle/>
          <a:p>
            <a:pPr marL="0" indent="0">
              <a:lnSpc>
                <a:spcPct val="112000"/>
              </a:lnSpc>
              <a:buNone/>
            </a:pPr>
            <a:r>
              <a:rPr lang="en-US" sz="1600" b="1" dirty="0">
                <a:solidFill>
                  <a:srgbClr val="2E8B63"/>
                </a:solidFill>
                <a:latin typeface="Calibri" pitchFamily="34" charset="0"/>
                <a:ea typeface="Calibri" pitchFamily="34" charset="-122"/>
                <a:cs typeface="Calibri" pitchFamily="34" charset="-120"/>
              </a:rPr>
              <a:t>Buscador de tecnologías</a:t>
            </a:r>
            <a:r>
              <a:rPr lang="en-US" sz="1600" dirty="0">
                <a:solidFill>
                  <a:srgbClr val="1E2A33"/>
                </a:solidFill>
                <a:latin typeface="Calibri" pitchFamily="34" charset="0"/>
                <a:ea typeface="Calibri" pitchFamily="34" charset="-122"/>
                <a:cs typeface="Calibri" pitchFamily="34" charset="-120"/>
              </a:rPr>
              <a:t>: un subprograma corto, pensado para mostrar una faceta de la reactividad de Vue — un filtro en vivo que combina texto libre y categoría sobre un catálogo de herramientas del ecosistema Vue/React. Sirve para ilustrar un computed() con más de una dependencia reactiva a la vez, y componentes chicos comunicados por props y eventos.</a:t>
            </a:r>
            <a:endParaRPr lang="en-US" sz="1600" dirty="0"/>
          </a:p>
        </p:txBody>
      </p:sp>
      <p:sp>
        <p:nvSpPr>
          <p:cNvPr id="5" name="Text 3"/>
          <p:cNvSpPr txBox="1"/>
          <p:nvPr/>
        </p:nvSpPr>
        <p:spPr>
          <a:xfrm>
            <a:off x="576072" y="2331720"/>
            <a:ext cx="5120640" cy="256032"/>
          </a:xfrm>
          <a:prstGeom prst="rect">
            <a:avLst/>
          </a:prstGeom>
          <a:noFill/>
          <a:ln/>
        </p:spPr>
        <p:txBody>
          <a:bodyPr wrap="square" lIns="0" tIns="0" rIns="0" bIns="0" rtlCol="0" anchor="ctr"/>
          <a:lstStyle/>
          <a:p>
            <a:pPr marL="0" indent="0">
              <a:buNone/>
            </a:pPr>
            <a:r>
              <a:rPr lang="en-US" sz="1600" b="1" kern="0" spc="200" dirty="0">
                <a:solidFill>
                  <a:srgbClr val="2E8B63"/>
                </a:solidFill>
                <a:latin typeface="Calibri" pitchFamily="34" charset="0"/>
                <a:ea typeface="Calibri" pitchFamily="34" charset="-122"/>
                <a:cs typeface="Calibri" pitchFamily="34" charset="-120"/>
              </a:rPr>
              <a:t>LA APP EN VIVO</a:t>
            </a:r>
            <a:endParaRPr lang="en-US" sz="1600" dirty="0"/>
          </a:p>
        </p:txBody>
      </p:sp>
      <p:sp>
        <p:nvSpPr>
          <p:cNvPr id="6" name="Shape 4"/>
          <p:cNvSpPr/>
          <p:nvPr/>
        </p:nvSpPr>
        <p:spPr>
          <a:xfrm>
            <a:off x="548640" y="2633472"/>
            <a:ext cx="5120640" cy="3035808"/>
          </a:xfrm>
          <a:prstGeom prst="roundRect">
            <a:avLst>
              <a:gd name="adj" fmla="val 3012"/>
            </a:avLst>
          </a:prstGeom>
          <a:solidFill>
            <a:srgbClr val="FFFFFF"/>
          </a:solidFill>
          <a:ln w="12700">
            <a:solidFill>
              <a:srgbClr val="E3E9E7"/>
            </a:solidFill>
            <a:prstDash val="solid"/>
          </a:ln>
        </p:spPr>
        <p:txBody>
          <a:bodyPr/>
          <a:lstStyle/>
          <a:p>
            <a:endParaRPr lang="es-AR"/>
          </a:p>
        </p:txBody>
      </p:sp>
      <p:sp>
        <p:nvSpPr>
          <p:cNvPr id="7" name="Shape 5"/>
          <p:cNvSpPr/>
          <p:nvPr/>
        </p:nvSpPr>
        <p:spPr>
          <a:xfrm>
            <a:off x="576072" y="2651760"/>
            <a:ext cx="5065776" cy="566928"/>
          </a:xfrm>
          <a:prstGeom prst="rect">
            <a:avLst/>
          </a:prstGeom>
          <a:solidFill>
            <a:srgbClr val="1E2A33"/>
          </a:solidFill>
          <a:ln/>
        </p:spPr>
        <p:txBody>
          <a:bodyPr/>
          <a:lstStyle/>
          <a:p>
            <a:endParaRPr lang="es-AR"/>
          </a:p>
        </p:txBody>
      </p:sp>
      <p:sp>
        <p:nvSpPr>
          <p:cNvPr id="8" name="Text 6"/>
          <p:cNvSpPr txBox="1"/>
          <p:nvPr/>
        </p:nvSpPr>
        <p:spPr>
          <a:xfrm>
            <a:off x="786384" y="2706624"/>
            <a:ext cx="46634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Buscador de tecnologías</a:t>
            </a:r>
            <a:endParaRPr lang="en-US" sz="1350" dirty="0"/>
          </a:p>
        </p:txBody>
      </p:sp>
      <p:sp>
        <p:nvSpPr>
          <p:cNvPr id="9" name="Text 7"/>
          <p:cNvSpPr txBox="1"/>
          <p:nvPr/>
        </p:nvSpPr>
        <p:spPr>
          <a:xfrm>
            <a:off x="786384" y="2980944"/>
            <a:ext cx="4663440" cy="219456"/>
          </a:xfrm>
          <a:prstGeom prst="rect">
            <a:avLst/>
          </a:prstGeom>
          <a:noFill/>
          <a:ln/>
        </p:spPr>
        <p:txBody>
          <a:bodyPr wrap="square" lIns="0" tIns="0" rIns="0" bIns="0" rtlCol="0" anchor="ctr"/>
          <a:lstStyle/>
          <a:p>
            <a:pPr marL="0" indent="0">
              <a:buNone/>
            </a:pPr>
            <a:r>
              <a:rPr lang="en-US" sz="900" dirty="0">
                <a:solidFill>
                  <a:srgbClr val="8FA3A0"/>
                </a:solidFill>
                <a:latin typeface="Calibri" pitchFamily="34" charset="0"/>
                <a:ea typeface="Calibri" pitchFamily="34" charset="-122"/>
                <a:cs typeface="Calibri" pitchFamily="34" charset="-120"/>
              </a:rPr>
              <a:t>Demo — filtro en vivo con reactividad de Vue</a:t>
            </a:r>
            <a:endParaRPr lang="en-US" sz="900" dirty="0"/>
          </a:p>
        </p:txBody>
      </p:sp>
      <p:sp>
        <p:nvSpPr>
          <p:cNvPr id="10" name="Shape 8"/>
          <p:cNvSpPr/>
          <p:nvPr/>
        </p:nvSpPr>
        <p:spPr>
          <a:xfrm>
            <a:off x="786384" y="3328416"/>
            <a:ext cx="4645152" cy="347472"/>
          </a:xfrm>
          <a:prstGeom prst="roundRect">
            <a:avLst>
              <a:gd name="adj" fmla="val 15789"/>
            </a:avLst>
          </a:prstGeom>
          <a:solidFill>
            <a:srgbClr val="FFFFFF"/>
          </a:solidFill>
          <a:ln w="12700">
            <a:solidFill>
              <a:srgbClr val="D6E2DF"/>
            </a:solidFill>
            <a:prstDash val="solid"/>
          </a:ln>
        </p:spPr>
        <p:txBody>
          <a:bodyPr/>
          <a:lstStyle/>
          <a:p>
            <a:endParaRPr lang="es-AR"/>
          </a:p>
        </p:txBody>
      </p:sp>
      <p:sp>
        <p:nvSpPr>
          <p:cNvPr id="11" name="Text 9"/>
          <p:cNvSpPr txBox="1"/>
          <p:nvPr/>
        </p:nvSpPr>
        <p:spPr>
          <a:xfrm>
            <a:off x="932688" y="3328416"/>
            <a:ext cx="4297680" cy="347472"/>
          </a:xfrm>
          <a:prstGeom prst="rect">
            <a:avLst/>
          </a:prstGeom>
          <a:noFill/>
          <a:ln/>
        </p:spPr>
        <p:txBody>
          <a:bodyPr wrap="square" lIns="0" tIns="0" rIns="0" bIns="0" rtlCol="0" anchor="ctr"/>
          <a:lstStyle/>
          <a:p>
            <a:pPr marL="0" indent="0">
              <a:buNone/>
            </a:pPr>
            <a:r>
              <a:rPr lang="en-US" sz="1050" dirty="0">
                <a:solidFill>
                  <a:srgbClr val="000000"/>
                </a:solidFill>
                <a:latin typeface="Calibri" pitchFamily="34" charset="0"/>
                <a:ea typeface="Calibri" pitchFamily="34" charset="-122"/>
                <a:cs typeface="Calibri" pitchFamily="34" charset="-120"/>
              </a:rPr>
              <a:t>🔎  </a:t>
            </a:r>
            <a:r>
              <a:rPr lang="en-US" sz="1050" dirty="0">
                <a:solidFill>
                  <a:srgbClr val="1E2A33"/>
                </a:solidFill>
                <a:latin typeface="Calibri" pitchFamily="34" charset="0"/>
                <a:ea typeface="Calibri" pitchFamily="34" charset="-122"/>
                <a:cs typeface="Calibri" pitchFamily="34" charset="-120"/>
              </a:rPr>
              <a:t>router</a:t>
            </a:r>
            <a:endParaRPr lang="en-US" sz="1050" dirty="0"/>
          </a:p>
        </p:txBody>
      </p:sp>
      <p:sp>
        <p:nvSpPr>
          <p:cNvPr id="12" name="Shape 10"/>
          <p:cNvSpPr/>
          <p:nvPr/>
        </p:nvSpPr>
        <p:spPr>
          <a:xfrm>
            <a:off x="786384" y="3785616"/>
            <a:ext cx="909828" cy="292608"/>
          </a:xfrm>
          <a:prstGeom prst="roundRect">
            <a:avLst>
              <a:gd name="adj" fmla="val 50000"/>
            </a:avLst>
          </a:prstGeom>
          <a:solidFill>
            <a:srgbClr val="42B883"/>
          </a:solidFill>
          <a:ln w="12700">
            <a:solidFill>
              <a:srgbClr val="42B883"/>
            </a:solidFill>
            <a:prstDash val="solid"/>
          </a:ln>
        </p:spPr>
        <p:txBody>
          <a:bodyPr/>
          <a:lstStyle/>
          <a:p>
            <a:endParaRPr lang="es-AR"/>
          </a:p>
        </p:txBody>
      </p:sp>
      <p:sp>
        <p:nvSpPr>
          <p:cNvPr id="13" name="Text 11"/>
          <p:cNvSpPr txBox="1"/>
          <p:nvPr/>
        </p:nvSpPr>
        <p:spPr>
          <a:xfrm>
            <a:off x="786384" y="3785616"/>
            <a:ext cx="909828"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Todas</a:t>
            </a:r>
            <a:endParaRPr lang="en-US" sz="950" dirty="0"/>
          </a:p>
        </p:txBody>
      </p:sp>
      <p:sp>
        <p:nvSpPr>
          <p:cNvPr id="14" name="Shape 12"/>
          <p:cNvSpPr/>
          <p:nvPr/>
        </p:nvSpPr>
        <p:spPr>
          <a:xfrm>
            <a:off x="1805940" y="3785616"/>
            <a:ext cx="772668" cy="292608"/>
          </a:xfrm>
          <a:prstGeom prst="roundRect">
            <a:avLst>
              <a:gd name="adj" fmla="val 50000"/>
            </a:avLst>
          </a:prstGeom>
          <a:solidFill>
            <a:srgbClr val="FFFFFF"/>
          </a:solidFill>
          <a:ln w="12700">
            <a:solidFill>
              <a:srgbClr val="D6E2DF"/>
            </a:solidFill>
            <a:prstDash val="solid"/>
          </a:ln>
        </p:spPr>
        <p:txBody>
          <a:bodyPr/>
          <a:lstStyle/>
          <a:p>
            <a:endParaRPr lang="es-AR"/>
          </a:p>
        </p:txBody>
      </p:sp>
      <p:sp>
        <p:nvSpPr>
          <p:cNvPr id="15" name="Text 13"/>
          <p:cNvSpPr txBox="1"/>
          <p:nvPr/>
        </p:nvSpPr>
        <p:spPr>
          <a:xfrm>
            <a:off x="1805940" y="3785616"/>
            <a:ext cx="772668" cy="292608"/>
          </a:xfrm>
          <a:prstGeom prst="rect">
            <a:avLst/>
          </a:prstGeom>
          <a:noFill/>
          <a:ln/>
        </p:spPr>
        <p:txBody>
          <a:bodyPr wrap="square" lIns="0" tIns="0" rIns="0" bIns="0" rtlCol="0" anchor="ctr"/>
          <a:lstStyle/>
          <a:p>
            <a:pPr marL="0" indent="0" algn="ctr">
              <a:buNone/>
            </a:pPr>
            <a:r>
              <a:rPr lang="en-US" sz="950" b="1" dirty="0">
                <a:solidFill>
                  <a:srgbClr val="5B6B73"/>
                </a:solidFill>
                <a:latin typeface="Calibri" pitchFamily="34" charset="0"/>
                <a:ea typeface="Calibri" pitchFamily="34" charset="-122"/>
                <a:cs typeface="Calibri" pitchFamily="34" charset="-120"/>
              </a:rPr>
              <a:t>Vue</a:t>
            </a:r>
            <a:endParaRPr lang="en-US" sz="950" dirty="0"/>
          </a:p>
        </p:txBody>
      </p:sp>
      <p:sp>
        <p:nvSpPr>
          <p:cNvPr id="16" name="Shape 14"/>
          <p:cNvSpPr/>
          <p:nvPr/>
        </p:nvSpPr>
        <p:spPr>
          <a:xfrm>
            <a:off x="2688336" y="3785616"/>
            <a:ext cx="909828" cy="292608"/>
          </a:xfrm>
          <a:prstGeom prst="roundRect">
            <a:avLst>
              <a:gd name="adj" fmla="val 50000"/>
            </a:avLst>
          </a:prstGeom>
          <a:solidFill>
            <a:srgbClr val="FFFFFF"/>
          </a:solidFill>
          <a:ln w="12700">
            <a:solidFill>
              <a:srgbClr val="D6E2DF"/>
            </a:solidFill>
            <a:prstDash val="solid"/>
          </a:ln>
        </p:spPr>
        <p:txBody>
          <a:bodyPr/>
          <a:lstStyle/>
          <a:p>
            <a:endParaRPr lang="es-AR"/>
          </a:p>
        </p:txBody>
      </p:sp>
      <p:sp>
        <p:nvSpPr>
          <p:cNvPr id="17" name="Text 15"/>
          <p:cNvSpPr txBox="1"/>
          <p:nvPr/>
        </p:nvSpPr>
        <p:spPr>
          <a:xfrm>
            <a:off x="2688336" y="3785616"/>
            <a:ext cx="909828" cy="292608"/>
          </a:xfrm>
          <a:prstGeom prst="rect">
            <a:avLst/>
          </a:prstGeom>
          <a:noFill/>
          <a:ln/>
        </p:spPr>
        <p:txBody>
          <a:bodyPr wrap="square" lIns="0" tIns="0" rIns="0" bIns="0" rtlCol="0" anchor="ctr"/>
          <a:lstStyle/>
          <a:p>
            <a:pPr marL="0" indent="0" algn="ctr">
              <a:buNone/>
            </a:pPr>
            <a:r>
              <a:rPr lang="en-US" sz="950" b="1" dirty="0">
                <a:solidFill>
                  <a:srgbClr val="5B6B73"/>
                </a:solidFill>
                <a:latin typeface="Calibri" pitchFamily="34" charset="0"/>
                <a:ea typeface="Calibri" pitchFamily="34" charset="-122"/>
                <a:cs typeface="Calibri" pitchFamily="34" charset="-120"/>
              </a:rPr>
              <a:t>React</a:t>
            </a:r>
            <a:endParaRPr lang="en-US" sz="950" dirty="0"/>
          </a:p>
        </p:txBody>
      </p:sp>
      <p:sp>
        <p:nvSpPr>
          <p:cNvPr id="18" name="Shape 16"/>
          <p:cNvSpPr/>
          <p:nvPr/>
        </p:nvSpPr>
        <p:spPr>
          <a:xfrm>
            <a:off x="3707892" y="3785616"/>
            <a:ext cx="909828" cy="292608"/>
          </a:xfrm>
          <a:prstGeom prst="roundRect">
            <a:avLst>
              <a:gd name="adj" fmla="val 50000"/>
            </a:avLst>
          </a:prstGeom>
          <a:solidFill>
            <a:srgbClr val="FFFFFF"/>
          </a:solidFill>
          <a:ln w="12700">
            <a:solidFill>
              <a:srgbClr val="D6E2DF"/>
            </a:solidFill>
            <a:prstDash val="solid"/>
          </a:ln>
        </p:spPr>
        <p:txBody>
          <a:bodyPr/>
          <a:lstStyle/>
          <a:p>
            <a:endParaRPr lang="es-AR"/>
          </a:p>
        </p:txBody>
      </p:sp>
      <p:sp>
        <p:nvSpPr>
          <p:cNvPr id="19" name="Text 17"/>
          <p:cNvSpPr txBox="1"/>
          <p:nvPr/>
        </p:nvSpPr>
        <p:spPr>
          <a:xfrm>
            <a:off x="3707892" y="3785616"/>
            <a:ext cx="909828" cy="292608"/>
          </a:xfrm>
          <a:prstGeom prst="rect">
            <a:avLst/>
          </a:prstGeom>
          <a:noFill/>
          <a:ln/>
        </p:spPr>
        <p:txBody>
          <a:bodyPr wrap="square" lIns="0" tIns="0" rIns="0" bIns="0" rtlCol="0" anchor="ctr"/>
          <a:lstStyle/>
          <a:p>
            <a:pPr marL="0" indent="0" algn="ctr">
              <a:buNone/>
            </a:pPr>
            <a:r>
              <a:rPr lang="en-US" sz="950" b="1" dirty="0">
                <a:solidFill>
                  <a:srgbClr val="5B6B73"/>
                </a:solidFill>
                <a:latin typeface="Calibri" pitchFamily="34" charset="0"/>
                <a:ea typeface="Calibri" pitchFamily="34" charset="-122"/>
                <a:cs typeface="Calibri" pitchFamily="34" charset="-120"/>
              </a:rPr>
              <a:t>Ambos</a:t>
            </a:r>
            <a:endParaRPr lang="en-US" sz="950" dirty="0"/>
          </a:p>
        </p:txBody>
      </p:sp>
      <p:sp>
        <p:nvSpPr>
          <p:cNvPr id="20" name="Shape 18"/>
          <p:cNvSpPr/>
          <p:nvPr/>
        </p:nvSpPr>
        <p:spPr>
          <a:xfrm>
            <a:off x="786384" y="4242816"/>
            <a:ext cx="603504" cy="237744"/>
          </a:xfrm>
          <a:prstGeom prst="roundRect">
            <a:avLst>
              <a:gd name="adj" fmla="val 50000"/>
            </a:avLst>
          </a:prstGeom>
          <a:solidFill>
            <a:srgbClr val="42B883"/>
          </a:solidFill>
          <a:ln/>
        </p:spPr>
        <p:txBody>
          <a:bodyPr/>
          <a:lstStyle/>
          <a:p>
            <a:endParaRPr lang="es-AR"/>
          </a:p>
        </p:txBody>
      </p:sp>
      <p:sp>
        <p:nvSpPr>
          <p:cNvPr id="21" name="Text 19"/>
          <p:cNvSpPr txBox="1"/>
          <p:nvPr/>
        </p:nvSpPr>
        <p:spPr>
          <a:xfrm>
            <a:off x="786384" y="4242816"/>
            <a:ext cx="60350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Vue</a:t>
            </a:r>
            <a:endParaRPr lang="en-US" sz="850" dirty="0"/>
          </a:p>
        </p:txBody>
      </p:sp>
      <p:sp>
        <p:nvSpPr>
          <p:cNvPr id="22" name="Text 20"/>
          <p:cNvSpPr txBox="1"/>
          <p:nvPr/>
        </p:nvSpPr>
        <p:spPr>
          <a:xfrm>
            <a:off x="1508760" y="4224528"/>
            <a:ext cx="2651760" cy="274320"/>
          </a:xfrm>
          <a:prstGeom prst="rect">
            <a:avLst/>
          </a:prstGeom>
          <a:noFill/>
          <a:ln/>
        </p:spPr>
        <p:txBody>
          <a:bodyPr wrap="square" lIns="0" tIns="0" rIns="0" bIns="0" rtlCol="0" anchor="ctr"/>
          <a:lstStyle/>
          <a:p>
            <a:pPr marL="0" indent="0">
              <a:buNone/>
            </a:pPr>
            <a:r>
              <a:rPr lang="en-US" sz="1150" b="1" dirty="0">
                <a:solidFill>
                  <a:srgbClr val="1E2A33"/>
                </a:solidFill>
                <a:latin typeface="Calibri" pitchFamily="34" charset="0"/>
                <a:ea typeface="Calibri" pitchFamily="34" charset="-122"/>
                <a:cs typeface="Calibri" pitchFamily="34" charset="-120"/>
              </a:rPr>
              <a:t>Vue Router</a:t>
            </a:r>
            <a:endParaRPr lang="en-US" sz="1150" dirty="0"/>
          </a:p>
        </p:txBody>
      </p:sp>
      <p:sp>
        <p:nvSpPr>
          <p:cNvPr id="23" name="Text 21"/>
          <p:cNvSpPr txBox="1"/>
          <p:nvPr/>
        </p:nvSpPr>
        <p:spPr>
          <a:xfrm>
            <a:off x="4480560" y="4224528"/>
            <a:ext cx="960120" cy="274320"/>
          </a:xfrm>
          <a:prstGeom prst="rect">
            <a:avLst/>
          </a:prstGeom>
          <a:noFill/>
          <a:ln/>
        </p:spPr>
        <p:txBody>
          <a:bodyPr wrap="square" lIns="0" tIns="0" rIns="0" bIns="0" rtlCol="0" anchor="ctr"/>
          <a:lstStyle/>
          <a:p>
            <a:pPr marL="0" indent="0" algn="r">
              <a:buNone/>
            </a:pPr>
            <a:r>
              <a:rPr lang="en-US" sz="950" dirty="0">
                <a:solidFill>
                  <a:srgbClr val="5B6B73"/>
                </a:solidFill>
                <a:latin typeface="Calibri" pitchFamily="34" charset="0"/>
                <a:ea typeface="Calibri" pitchFamily="34" charset="-122"/>
                <a:cs typeface="Calibri" pitchFamily="34" charset="-120"/>
              </a:rPr>
              <a:t>Ruteo</a:t>
            </a:r>
            <a:endParaRPr lang="en-US" sz="950" dirty="0"/>
          </a:p>
        </p:txBody>
      </p:sp>
      <p:sp>
        <p:nvSpPr>
          <p:cNvPr id="24" name="Shape 22"/>
          <p:cNvSpPr/>
          <p:nvPr/>
        </p:nvSpPr>
        <p:spPr>
          <a:xfrm>
            <a:off x="786384" y="4626864"/>
            <a:ext cx="603504" cy="237744"/>
          </a:xfrm>
          <a:prstGeom prst="roundRect">
            <a:avLst>
              <a:gd name="adj" fmla="val 50000"/>
            </a:avLst>
          </a:prstGeom>
          <a:solidFill>
            <a:srgbClr val="61DAFB"/>
          </a:solidFill>
          <a:ln/>
        </p:spPr>
        <p:txBody>
          <a:bodyPr/>
          <a:lstStyle/>
          <a:p>
            <a:endParaRPr lang="es-AR"/>
          </a:p>
        </p:txBody>
      </p:sp>
      <p:sp>
        <p:nvSpPr>
          <p:cNvPr id="25" name="Text 23"/>
          <p:cNvSpPr txBox="1"/>
          <p:nvPr/>
        </p:nvSpPr>
        <p:spPr>
          <a:xfrm>
            <a:off x="786384" y="4626864"/>
            <a:ext cx="603504" cy="237744"/>
          </a:xfrm>
          <a:prstGeom prst="rect">
            <a:avLst/>
          </a:prstGeom>
          <a:noFill/>
          <a:ln/>
        </p:spPr>
        <p:txBody>
          <a:bodyPr wrap="square" lIns="0" tIns="0" rIns="0" bIns="0" rtlCol="0" anchor="ctr"/>
          <a:lstStyle/>
          <a:p>
            <a:pPr marL="0" indent="0" algn="ctr">
              <a:buNone/>
            </a:pPr>
            <a:r>
              <a:rPr lang="en-US" sz="850" b="1" dirty="0">
                <a:solidFill>
                  <a:srgbClr val="20232A"/>
                </a:solidFill>
                <a:latin typeface="Calibri" pitchFamily="34" charset="0"/>
                <a:ea typeface="Calibri" pitchFamily="34" charset="-122"/>
                <a:cs typeface="Calibri" pitchFamily="34" charset="-120"/>
              </a:rPr>
              <a:t>React</a:t>
            </a:r>
            <a:endParaRPr lang="en-US" sz="850" dirty="0"/>
          </a:p>
        </p:txBody>
      </p:sp>
      <p:sp>
        <p:nvSpPr>
          <p:cNvPr id="26" name="Text 24"/>
          <p:cNvSpPr txBox="1"/>
          <p:nvPr/>
        </p:nvSpPr>
        <p:spPr>
          <a:xfrm>
            <a:off x="1508760" y="4608576"/>
            <a:ext cx="2651760" cy="274320"/>
          </a:xfrm>
          <a:prstGeom prst="rect">
            <a:avLst/>
          </a:prstGeom>
          <a:noFill/>
          <a:ln/>
        </p:spPr>
        <p:txBody>
          <a:bodyPr wrap="square" lIns="0" tIns="0" rIns="0" bIns="0" rtlCol="0" anchor="ctr"/>
          <a:lstStyle/>
          <a:p>
            <a:pPr marL="0" indent="0">
              <a:buNone/>
            </a:pPr>
            <a:r>
              <a:rPr lang="en-US" sz="1150" b="1" dirty="0">
                <a:solidFill>
                  <a:srgbClr val="1E2A33"/>
                </a:solidFill>
                <a:latin typeface="Calibri" pitchFamily="34" charset="0"/>
                <a:ea typeface="Calibri" pitchFamily="34" charset="-122"/>
                <a:cs typeface="Calibri" pitchFamily="34" charset="-120"/>
              </a:rPr>
              <a:t>React Router</a:t>
            </a:r>
            <a:endParaRPr lang="en-US" sz="1150" dirty="0"/>
          </a:p>
        </p:txBody>
      </p:sp>
      <p:sp>
        <p:nvSpPr>
          <p:cNvPr id="27" name="Text 25"/>
          <p:cNvSpPr txBox="1"/>
          <p:nvPr/>
        </p:nvSpPr>
        <p:spPr>
          <a:xfrm>
            <a:off x="4480560" y="4608576"/>
            <a:ext cx="960120" cy="274320"/>
          </a:xfrm>
          <a:prstGeom prst="rect">
            <a:avLst/>
          </a:prstGeom>
          <a:noFill/>
          <a:ln/>
        </p:spPr>
        <p:txBody>
          <a:bodyPr wrap="square" lIns="0" tIns="0" rIns="0" bIns="0" rtlCol="0" anchor="ctr"/>
          <a:lstStyle/>
          <a:p>
            <a:pPr marL="0" indent="0" algn="r">
              <a:buNone/>
            </a:pPr>
            <a:r>
              <a:rPr lang="en-US" sz="950" dirty="0">
                <a:solidFill>
                  <a:srgbClr val="5B6B73"/>
                </a:solidFill>
                <a:latin typeface="Calibri" pitchFamily="34" charset="0"/>
                <a:ea typeface="Calibri" pitchFamily="34" charset="-122"/>
                <a:cs typeface="Calibri" pitchFamily="34" charset="-120"/>
              </a:rPr>
              <a:t>Ruteo</a:t>
            </a:r>
            <a:endParaRPr lang="en-US" sz="950" dirty="0"/>
          </a:p>
        </p:txBody>
      </p:sp>
      <p:sp>
        <p:nvSpPr>
          <p:cNvPr id="28" name="Shape 26"/>
          <p:cNvSpPr/>
          <p:nvPr/>
        </p:nvSpPr>
        <p:spPr>
          <a:xfrm>
            <a:off x="786384" y="5230368"/>
            <a:ext cx="4645152" cy="0"/>
          </a:xfrm>
          <a:prstGeom prst="line">
            <a:avLst/>
          </a:prstGeom>
          <a:noFill/>
          <a:ln w="12700">
            <a:solidFill>
              <a:srgbClr val="EEF3F1"/>
            </a:solidFill>
            <a:prstDash val="solid"/>
          </a:ln>
        </p:spPr>
        <p:txBody>
          <a:bodyPr/>
          <a:lstStyle/>
          <a:p>
            <a:endParaRPr lang="es-AR"/>
          </a:p>
        </p:txBody>
      </p:sp>
      <p:sp>
        <p:nvSpPr>
          <p:cNvPr id="29" name="Text 27"/>
          <p:cNvSpPr txBox="1"/>
          <p:nvPr/>
        </p:nvSpPr>
        <p:spPr>
          <a:xfrm>
            <a:off x="786384" y="5285232"/>
            <a:ext cx="2560320" cy="274320"/>
          </a:xfrm>
          <a:prstGeom prst="rect">
            <a:avLst/>
          </a:prstGeom>
          <a:noFill/>
          <a:ln/>
        </p:spPr>
        <p:txBody>
          <a:bodyPr wrap="square" lIns="0" tIns="0" rIns="0" bIns="0" rtlCol="0" anchor="ctr"/>
          <a:lstStyle/>
          <a:p>
            <a:pPr marL="0" indent="0">
              <a:buNone/>
            </a:pPr>
            <a:r>
              <a:rPr lang="en-US" sz="1000" b="1" dirty="0">
                <a:solidFill>
                  <a:srgbClr val="2E8B63"/>
                </a:solidFill>
                <a:latin typeface="Calibri" pitchFamily="34" charset="0"/>
                <a:ea typeface="Calibri" pitchFamily="34" charset="-122"/>
                <a:cs typeface="Calibri" pitchFamily="34" charset="-120"/>
              </a:rPr>
              <a:t>2</a:t>
            </a:r>
            <a:r>
              <a:rPr lang="en-US" sz="1000" dirty="0">
                <a:solidFill>
                  <a:srgbClr val="5B6B73"/>
                </a:solidFill>
                <a:latin typeface="Calibri" pitchFamily="34" charset="0"/>
                <a:ea typeface="Calibri" pitchFamily="34" charset="-122"/>
                <a:cs typeface="Calibri" pitchFamily="34" charset="-120"/>
              </a:rPr>
              <a:t> de 12 tecnologías</a:t>
            </a:r>
            <a:endParaRPr lang="en-US" sz="1000" dirty="0"/>
          </a:p>
        </p:txBody>
      </p:sp>
      <p:sp>
        <p:nvSpPr>
          <p:cNvPr id="30" name="Text 28"/>
          <p:cNvSpPr txBox="1"/>
          <p:nvPr/>
        </p:nvSpPr>
        <p:spPr>
          <a:xfrm>
            <a:off x="3383280" y="5285232"/>
            <a:ext cx="2011680" cy="274320"/>
          </a:xfrm>
          <a:prstGeom prst="rect">
            <a:avLst/>
          </a:prstGeom>
          <a:noFill/>
          <a:ln/>
        </p:spPr>
        <p:txBody>
          <a:bodyPr wrap="square" lIns="0" tIns="0" rIns="0" bIns="0" rtlCol="0" anchor="ctr"/>
          <a:lstStyle/>
          <a:p>
            <a:pPr marL="0" indent="0" algn="r">
              <a:buNone/>
            </a:pPr>
            <a:r>
              <a:rPr lang="en-US" sz="950" dirty="0">
                <a:solidFill>
                  <a:srgbClr val="5B6B73"/>
                </a:solidFill>
                <a:latin typeface="Calibri" pitchFamily="34" charset="0"/>
                <a:ea typeface="Calibri" pitchFamily="34" charset="-122"/>
                <a:cs typeface="Calibri" pitchFamily="34" charset="-120"/>
              </a:rPr>
              <a:t>Vue 3 · Composition API</a:t>
            </a:r>
            <a:endParaRPr lang="en-US" sz="950" dirty="0"/>
          </a:p>
        </p:txBody>
      </p:sp>
      <p:sp>
        <p:nvSpPr>
          <p:cNvPr id="31" name="Text 29"/>
          <p:cNvSpPr txBox="1"/>
          <p:nvPr/>
        </p:nvSpPr>
        <p:spPr>
          <a:xfrm>
            <a:off x="6263640" y="2331720"/>
            <a:ext cx="5120640" cy="256032"/>
          </a:xfrm>
          <a:prstGeom prst="rect">
            <a:avLst/>
          </a:prstGeom>
          <a:noFill/>
          <a:ln/>
        </p:spPr>
        <p:txBody>
          <a:bodyPr wrap="square" lIns="0" tIns="0" rIns="0" bIns="0" rtlCol="0" anchor="ctr"/>
          <a:lstStyle/>
          <a:p>
            <a:pPr marL="0" indent="0">
              <a:buNone/>
            </a:pPr>
            <a:r>
              <a:rPr lang="en-US" sz="1600" b="1" kern="0" spc="200" dirty="0">
                <a:solidFill>
                  <a:srgbClr val="2E8B63"/>
                </a:solidFill>
                <a:latin typeface="Calibri" pitchFamily="34" charset="0"/>
                <a:ea typeface="Calibri" pitchFamily="34" charset="-122"/>
                <a:cs typeface="Calibri" pitchFamily="34" charset="-120"/>
              </a:rPr>
              <a:t>COMPUTED() — EXTRACTO</a:t>
            </a:r>
            <a:endParaRPr lang="en-US" sz="1600" dirty="0"/>
          </a:p>
        </p:txBody>
      </p:sp>
      <p:sp>
        <p:nvSpPr>
          <p:cNvPr id="32" name="Shape 30"/>
          <p:cNvSpPr/>
          <p:nvPr/>
        </p:nvSpPr>
        <p:spPr>
          <a:xfrm>
            <a:off x="6263640" y="2633472"/>
            <a:ext cx="5120640" cy="3035808"/>
          </a:xfrm>
          <a:prstGeom prst="roundRect">
            <a:avLst>
              <a:gd name="adj" fmla="val 2410"/>
            </a:avLst>
          </a:prstGeom>
          <a:solidFill>
            <a:srgbClr val="1E2A33"/>
          </a:solidFill>
          <a:ln/>
        </p:spPr>
        <p:txBody>
          <a:bodyPr/>
          <a:lstStyle/>
          <a:p>
            <a:endParaRPr lang="es-AR"/>
          </a:p>
        </p:txBody>
      </p:sp>
      <p:sp>
        <p:nvSpPr>
          <p:cNvPr id="33" name="Text 31"/>
          <p:cNvSpPr txBox="1"/>
          <p:nvPr/>
        </p:nvSpPr>
        <p:spPr>
          <a:xfrm>
            <a:off x="6492240" y="2798064"/>
            <a:ext cx="4663440" cy="2743200"/>
          </a:xfrm>
          <a:prstGeom prst="rect">
            <a:avLst/>
          </a:prstGeom>
          <a:noFill/>
          <a:ln/>
        </p:spPr>
        <p:txBody>
          <a:bodyPr wrap="square" lIns="0" tIns="0" rIns="0" bIns="0" rtlCol="0" anchor="ctr"/>
          <a:lstStyle/>
          <a:p>
            <a:pPr marL="0" indent="0">
              <a:buNone/>
            </a:pPr>
            <a:r>
              <a:rPr lang="en-US" sz="1050" dirty="0">
                <a:solidFill>
                  <a:srgbClr val="D7E4E1"/>
                </a:solidFill>
                <a:latin typeface="Courier New" pitchFamily="34" charset="0"/>
                <a:ea typeface="Courier New" pitchFamily="34" charset="-122"/>
                <a:cs typeface="Courier New" pitchFamily="34" charset="-120"/>
              </a:rPr>
              <a:t>const resultados = computed(() =&gt;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const texto = busqueda.value</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.trim().toLowerCase()</a:t>
            </a:r>
            <a:endParaRPr lang="en-US" sz="1050" dirty="0"/>
          </a:p>
          <a:p>
            <a:pPr marL="0" indent="0">
              <a:buNone/>
            </a:pP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return tecnologias.filter(tec =&gt;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const okCategoria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categoriaActiva.value === 'Todas'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tec.categoria === categoriaActiva.value</a:t>
            </a:r>
            <a:endParaRPr lang="en-US" sz="1050" dirty="0"/>
          </a:p>
          <a:p>
            <a:pPr marL="0" indent="0">
              <a:buNone/>
            </a:pP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const okTexto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texto === ''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tec.nombre.toLowerCase().includes(texto)</a:t>
            </a:r>
            <a:endParaRPr lang="en-US" sz="1050" dirty="0"/>
          </a:p>
          <a:p>
            <a:pPr marL="0" indent="0">
              <a:buNone/>
            </a:pP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return okCategoria &amp;&amp; okTexto</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D7E4E1"/>
                </a:solidFill>
                <a:latin typeface="Courier New" pitchFamily="34" charset="0"/>
                <a:ea typeface="Courier New" pitchFamily="34" charset="-122"/>
                <a:cs typeface="Courier New" pitchFamily="34" charset="-120"/>
              </a:rPr>
              <a:t>})</a:t>
            </a:r>
            <a:endParaRPr lang="en-US" sz="1050" dirty="0"/>
          </a:p>
        </p:txBody>
      </p:sp>
      <p:sp>
        <p:nvSpPr>
          <p:cNvPr id="34" name="Shape 32"/>
          <p:cNvSpPr/>
          <p:nvPr/>
        </p:nvSpPr>
        <p:spPr>
          <a:xfrm>
            <a:off x="548640" y="5779008"/>
            <a:ext cx="11064240" cy="475488"/>
          </a:xfrm>
          <a:prstGeom prst="roundRect">
            <a:avLst>
              <a:gd name="adj" fmla="val 15385"/>
            </a:avLst>
          </a:prstGeom>
          <a:solidFill>
            <a:srgbClr val="F1F6F4"/>
          </a:solidFill>
          <a:ln/>
        </p:spPr>
        <p:txBody>
          <a:bodyPr/>
          <a:lstStyle/>
          <a:p>
            <a:endParaRPr lang="es-AR"/>
          </a:p>
        </p:txBody>
      </p:sp>
      <p:sp>
        <p:nvSpPr>
          <p:cNvPr id="35" name="Text 33"/>
          <p:cNvSpPr txBox="1"/>
          <p:nvPr/>
        </p:nvSpPr>
        <p:spPr>
          <a:xfrm>
            <a:off x="777240" y="5779008"/>
            <a:ext cx="10607040" cy="475488"/>
          </a:xfrm>
          <a:prstGeom prst="rect">
            <a:avLst/>
          </a:prstGeom>
          <a:noFill/>
          <a:ln/>
        </p:spPr>
        <p:txBody>
          <a:bodyPr wrap="square" lIns="0" tIns="0" rIns="0" bIns="0" rtlCol="0" anchor="ctr"/>
          <a:lstStyle/>
          <a:p>
            <a:pPr marL="0" indent="0">
              <a:buNone/>
            </a:pPr>
            <a:r>
              <a:rPr lang="en-US" sz="1600" b="1" dirty="0">
                <a:solidFill>
                  <a:srgbClr val="2E8B63"/>
                </a:solidFill>
                <a:latin typeface="Calibri" pitchFamily="34" charset="0"/>
                <a:ea typeface="Calibri" pitchFamily="34" charset="-122"/>
                <a:cs typeface="Calibri" pitchFamily="34" charset="-120"/>
              </a:rPr>
              <a:t>Ilustra: </a:t>
            </a:r>
            <a:r>
              <a:rPr lang="en-US" sz="1600" dirty="0">
                <a:solidFill>
                  <a:srgbClr val="1E2A33"/>
                </a:solidFill>
                <a:latin typeface="Calibri" pitchFamily="34" charset="0"/>
                <a:ea typeface="Calibri" pitchFamily="34" charset="-122"/>
                <a:cs typeface="Calibri" pitchFamily="34" charset="-120"/>
              </a:rPr>
              <a:t>computed con dos dependencias reactivas a la vez, componentes chicos por props/eventos y v-for. Código completo en </a:t>
            </a:r>
            <a:r>
              <a:rPr lang="en-US" sz="1600" b="1" dirty="0">
                <a:solidFill>
                  <a:srgbClr val="2E8B63"/>
                </a:solidFill>
                <a:latin typeface="Courier New" pitchFamily="34" charset="0"/>
                <a:ea typeface="Courier New" pitchFamily="34" charset="-122"/>
                <a:cs typeface="Courier New" pitchFamily="34" charset="-120"/>
              </a:rPr>
              <a:t>demo/buscador_filtro.html</a:t>
            </a:r>
            <a:r>
              <a:rPr lang="en-US" sz="1600" dirty="0">
                <a:solidFill>
                  <a:srgbClr val="1E2A33"/>
                </a:solidFill>
                <a:latin typeface="Calibri" pitchFamily="34" charset="0"/>
                <a:ea typeface="Calibri" pitchFamily="34" charset="-122"/>
                <a:cs typeface="Calibri" pitchFamily="34" charset="-120"/>
              </a:rPr>
              <a:t> del repositorio.</a:t>
            </a:r>
            <a:endParaRPr lang="en-US" sz="1600" dirty="0"/>
          </a:p>
        </p:txBody>
      </p:sp>
      <p:sp>
        <p:nvSpPr>
          <p:cNvPr id="37" name="Text 3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Implementación</a:t>
            </a:r>
            <a:endParaRPr lang="en-US" sz="1000" dirty="0"/>
          </a:p>
        </p:txBody>
      </p:sp>
      <p:sp>
        <p:nvSpPr>
          <p:cNvPr id="39" name="Text 3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1E2A33"/>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Conclusiones generales</a:t>
            </a:r>
            <a:endParaRPr lang="en-US" sz="3200" dirty="0"/>
          </a:p>
        </p:txBody>
      </p:sp>
      <p:sp>
        <p:nvSpPr>
          <p:cNvPr id="3" name="Shape 1"/>
          <p:cNvSpPr/>
          <p:nvPr/>
        </p:nvSpPr>
        <p:spPr>
          <a:xfrm>
            <a:off x="594360" y="1536192"/>
            <a:ext cx="640080" cy="640080"/>
          </a:xfrm>
          <a:prstGeom prst="ellipse">
            <a:avLst/>
          </a:prstGeom>
          <a:solidFill>
            <a:srgbClr val="42B883"/>
          </a:solidFill>
          <a:ln/>
        </p:spPr>
        <p:txBody>
          <a:bodyPr/>
          <a:lstStyle/>
          <a:p>
            <a:endParaRPr lang="es-AR"/>
          </a:p>
        </p:txBody>
      </p:sp>
      <p:pic>
        <p:nvPicPr>
          <p:cNvPr id="4" name="Image 0" descr="/home/claude/vue-poc/assets/icons/grad_w.png"/>
          <p:cNvPicPr>
            <a:picLocks noChangeAspect="1"/>
          </p:cNvPicPr>
          <p:nvPr/>
        </p:nvPicPr>
        <p:blipFill>
          <a:blip r:embed="rId3"/>
          <a:stretch>
            <a:fillRect/>
          </a:stretch>
        </p:blipFill>
        <p:spPr>
          <a:xfrm>
            <a:off x="683971" y="1625803"/>
            <a:ext cx="460858" cy="460858"/>
          </a:xfrm>
          <a:prstGeom prst="rect">
            <a:avLst/>
          </a:prstGeom>
        </p:spPr>
      </p:pic>
      <p:sp>
        <p:nvSpPr>
          <p:cNvPr id="5" name="Text 2"/>
          <p:cNvSpPr txBox="1"/>
          <p:nvPr/>
        </p:nvSpPr>
        <p:spPr>
          <a:xfrm>
            <a:off x="1463040" y="1508760"/>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aprender frontend por primera vez</a:t>
            </a:r>
            <a:endParaRPr lang="en-US" dirty="0"/>
          </a:p>
        </p:txBody>
      </p:sp>
      <p:sp>
        <p:nvSpPr>
          <p:cNvPr id="6" name="Text 3"/>
          <p:cNvSpPr txBox="1"/>
          <p:nvPr/>
        </p:nvSpPr>
        <p:spPr>
          <a:xfrm>
            <a:off x="1463040" y="1828800"/>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Vue ofrece la curva más suave y una documentación excepcional.</a:t>
            </a:r>
            <a:endParaRPr lang="en-US" sz="1600" dirty="0"/>
          </a:p>
        </p:txBody>
      </p:sp>
      <p:sp>
        <p:nvSpPr>
          <p:cNvPr id="7" name="Shape 4"/>
          <p:cNvSpPr/>
          <p:nvPr/>
        </p:nvSpPr>
        <p:spPr>
          <a:xfrm>
            <a:off x="594360" y="2468880"/>
            <a:ext cx="640080" cy="640080"/>
          </a:xfrm>
          <a:prstGeom prst="ellipse">
            <a:avLst/>
          </a:prstGeom>
          <a:solidFill>
            <a:srgbClr val="42B883"/>
          </a:solidFill>
          <a:ln/>
        </p:spPr>
        <p:txBody>
          <a:bodyPr/>
          <a:lstStyle/>
          <a:p>
            <a:endParaRPr lang="es-AR"/>
          </a:p>
        </p:txBody>
      </p:sp>
      <p:pic>
        <p:nvPicPr>
          <p:cNvPr id="8" name="Image 1" descr="/home/claude/vue-poc/assets/icons/rocket_w.png"/>
          <p:cNvPicPr>
            <a:picLocks noChangeAspect="1"/>
          </p:cNvPicPr>
          <p:nvPr/>
        </p:nvPicPr>
        <p:blipFill>
          <a:blip r:embed="rId4"/>
          <a:stretch>
            <a:fillRect/>
          </a:stretch>
        </p:blipFill>
        <p:spPr>
          <a:xfrm>
            <a:off x="683971" y="2558491"/>
            <a:ext cx="460858" cy="460858"/>
          </a:xfrm>
          <a:prstGeom prst="rect">
            <a:avLst/>
          </a:prstGeom>
        </p:spPr>
      </p:pic>
      <p:sp>
        <p:nvSpPr>
          <p:cNvPr id="9" name="Text 5"/>
          <p:cNvSpPr txBox="1"/>
          <p:nvPr/>
        </p:nvSpPr>
        <p:spPr>
          <a:xfrm>
            <a:off x="1463040" y="2441448"/>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proyectos pequeños o medianos, con equipos chicos</a:t>
            </a:r>
            <a:endParaRPr lang="en-US" dirty="0"/>
          </a:p>
        </p:txBody>
      </p:sp>
      <p:sp>
        <p:nvSpPr>
          <p:cNvPr id="10" name="Text 6"/>
          <p:cNvSpPr txBox="1"/>
          <p:nvPr/>
        </p:nvSpPr>
        <p:spPr>
          <a:xfrm>
            <a:off x="1463040" y="2761488"/>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El ecosistema oficial de Vue reduce decisiones y tiempo de configuración.</a:t>
            </a:r>
            <a:endParaRPr lang="en-US" sz="1600" dirty="0"/>
          </a:p>
        </p:txBody>
      </p:sp>
      <p:sp>
        <p:nvSpPr>
          <p:cNvPr id="11" name="Shape 7"/>
          <p:cNvSpPr/>
          <p:nvPr/>
        </p:nvSpPr>
        <p:spPr>
          <a:xfrm>
            <a:off x="594360" y="3401568"/>
            <a:ext cx="640080" cy="640080"/>
          </a:xfrm>
          <a:prstGeom prst="ellipse">
            <a:avLst/>
          </a:prstGeom>
          <a:solidFill>
            <a:srgbClr val="42B883"/>
          </a:solidFill>
          <a:ln/>
        </p:spPr>
        <p:txBody>
          <a:bodyPr/>
          <a:lstStyle/>
          <a:p>
            <a:endParaRPr lang="es-AR"/>
          </a:p>
        </p:txBody>
      </p:sp>
      <p:pic>
        <p:nvPicPr>
          <p:cNvPr id="12" name="Image 2" descr="/home/claude/vue-poc/assets/icons/briefcase_w.png"/>
          <p:cNvPicPr>
            <a:picLocks noChangeAspect="1"/>
          </p:cNvPicPr>
          <p:nvPr/>
        </p:nvPicPr>
        <p:blipFill>
          <a:blip r:embed="rId5"/>
          <a:stretch>
            <a:fillRect/>
          </a:stretch>
        </p:blipFill>
        <p:spPr>
          <a:xfrm>
            <a:off x="683971" y="3491179"/>
            <a:ext cx="460858" cy="460858"/>
          </a:xfrm>
          <a:prstGeom prst="rect">
            <a:avLst/>
          </a:prstGeom>
        </p:spPr>
      </p:pic>
      <p:sp>
        <p:nvSpPr>
          <p:cNvPr id="13" name="Text 8"/>
          <p:cNvSpPr txBox="1"/>
          <p:nvPr/>
        </p:nvSpPr>
        <p:spPr>
          <a:xfrm>
            <a:off x="1463040" y="3374136"/>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maximizar empleabilidad inmediata</a:t>
            </a:r>
            <a:endParaRPr lang="en-US" dirty="0"/>
          </a:p>
        </p:txBody>
      </p:sp>
      <p:sp>
        <p:nvSpPr>
          <p:cNvPr id="14" name="Text 9"/>
          <p:cNvSpPr txBox="1"/>
          <p:nvPr/>
        </p:nvSpPr>
        <p:spPr>
          <a:xfrm>
            <a:off x="1463040" y="3694176"/>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React sigue siendo la opción con más demanda laboral y comunidad.</a:t>
            </a:r>
            <a:endParaRPr lang="en-US" sz="1600" dirty="0"/>
          </a:p>
        </p:txBody>
      </p:sp>
      <p:sp>
        <p:nvSpPr>
          <p:cNvPr id="15" name="Shape 10"/>
          <p:cNvSpPr/>
          <p:nvPr/>
        </p:nvSpPr>
        <p:spPr>
          <a:xfrm>
            <a:off x="594360" y="4334256"/>
            <a:ext cx="640080" cy="640080"/>
          </a:xfrm>
          <a:prstGeom prst="ellipse">
            <a:avLst/>
          </a:prstGeom>
          <a:solidFill>
            <a:srgbClr val="42B883"/>
          </a:solidFill>
          <a:ln/>
        </p:spPr>
        <p:txBody>
          <a:bodyPr/>
          <a:lstStyle/>
          <a:p>
            <a:endParaRPr lang="es-AR"/>
          </a:p>
        </p:txBody>
      </p:sp>
      <p:pic>
        <p:nvPicPr>
          <p:cNvPr id="16" name="Image 3" descr="/home/claude/vue-poc/assets/icons/gauge_w.png"/>
          <p:cNvPicPr>
            <a:picLocks noChangeAspect="1"/>
          </p:cNvPicPr>
          <p:nvPr/>
        </p:nvPicPr>
        <p:blipFill>
          <a:blip r:embed="rId6"/>
          <a:stretch>
            <a:fillRect/>
          </a:stretch>
        </p:blipFill>
        <p:spPr>
          <a:xfrm>
            <a:off x="683971" y="4423867"/>
            <a:ext cx="460858" cy="460858"/>
          </a:xfrm>
          <a:prstGeom prst="rect">
            <a:avLst/>
          </a:prstGeom>
        </p:spPr>
      </p:pic>
      <p:sp>
        <p:nvSpPr>
          <p:cNvPr id="17" name="Text 11"/>
          <p:cNvSpPr txBox="1"/>
          <p:nvPr/>
        </p:nvSpPr>
        <p:spPr>
          <a:xfrm>
            <a:off x="1463040" y="4306824"/>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apps que priorizan rendimiento de punta</a:t>
            </a:r>
            <a:endParaRPr lang="en-US" dirty="0"/>
          </a:p>
        </p:txBody>
      </p:sp>
      <p:sp>
        <p:nvSpPr>
          <p:cNvPr id="18" name="Text 12"/>
          <p:cNvSpPr txBox="1"/>
          <p:nvPr/>
        </p:nvSpPr>
        <p:spPr>
          <a:xfrm>
            <a:off x="1463040" y="4626864"/>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Ambos son competitivos; Vue 3.6 con Vapor Mode cierra la brecha frente a frameworks sin VDOM.</a:t>
            </a:r>
            <a:endParaRPr lang="en-US" sz="1600" dirty="0"/>
          </a:p>
        </p:txBody>
      </p:sp>
      <p:sp>
        <p:nvSpPr>
          <p:cNvPr id="19" name="Shape 13"/>
          <p:cNvSpPr/>
          <p:nvPr/>
        </p:nvSpPr>
        <p:spPr>
          <a:xfrm>
            <a:off x="548640" y="5394960"/>
            <a:ext cx="11064240" cy="868680"/>
          </a:xfrm>
          <a:prstGeom prst="roundRect">
            <a:avLst>
              <a:gd name="adj" fmla="val 8421"/>
            </a:avLst>
          </a:prstGeom>
          <a:solidFill>
            <a:srgbClr val="16202A"/>
          </a:solidFill>
          <a:ln w="12700">
            <a:solidFill>
              <a:srgbClr val="42B883"/>
            </a:solidFill>
            <a:prstDash val="solid"/>
          </a:ln>
        </p:spPr>
        <p:txBody>
          <a:bodyPr/>
          <a:lstStyle/>
          <a:p>
            <a:endParaRPr lang="es-AR"/>
          </a:p>
        </p:txBody>
      </p:sp>
      <p:sp>
        <p:nvSpPr>
          <p:cNvPr id="20" name="Text 14"/>
          <p:cNvSpPr txBox="1"/>
          <p:nvPr/>
        </p:nvSpPr>
        <p:spPr>
          <a:xfrm>
            <a:off x="868680" y="5394960"/>
            <a:ext cx="10424160" cy="868680"/>
          </a:xfrm>
          <a:prstGeom prst="rect">
            <a:avLst/>
          </a:prstGeom>
          <a:noFill/>
          <a:ln/>
        </p:spPr>
        <p:txBody>
          <a:bodyPr wrap="square" lIns="0" tIns="0" rIns="0" bIns="0" rtlCol="0" anchor="ctr"/>
          <a:lstStyle/>
          <a:p>
            <a:pPr marL="0" indent="0">
              <a:buNone/>
            </a:pPr>
            <a:r>
              <a:rPr lang="en-US" i="1" dirty="0">
                <a:solidFill>
                  <a:srgbClr val="42B883"/>
                </a:solidFill>
                <a:latin typeface="Calibri" pitchFamily="34" charset="0"/>
                <a:ea typeface="Calibri" pitchFamily="34" charset="-122"/>
                <a:cs typeface="Calibri" pitchFamily="34" charset="-120"/>
              </a:rPr>
              <a:t>No hay un "ganador" absoluto: la elección correcta depende del equipo, el proyecto y el horizonte de tiempo — que es, precisamente, lo que una PoC ayuda a decidir con evidencia.</a:t>
            </a:r>
            <a:endParaRPr lang="en-US" dirty="0"/>
          </a:p>
        </p:txBody>
      </p:sp>
      <p:sp>
        <p:nvSpPr>
          <p:cNvPr id="22"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Conclusiones</a:t>
            </a:r>
            <a:endParaRPr lang="en-US" sz="1000" dirty="0"/>
          </a:p>
        </p:txBody>
      </p:sp>
      <p:sp>
        <p:nvSpPr>
          <p:cNvPr id="23" name="Text 16"/>
          <p:cNvSpPr txBox="1"/>
          <p:nvPr/>
        </p:nvSpPr>
        <p:spPr>
          <a:xfrm>
            <a:off x="8899855" y="6473952"/>
            <a:ext cx="274320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4"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202A"/>
          </a:solidFill>
          <a:ln/>
        </p:spPr>
        <p:txBody>
          <a:bodyPr/>
          <a:lstStyle/>
          <a:p>
            <a:endParaRPr lang="es-AR"/>
          </a:p>
        </p:txBody>
      </p:sp>
      <p:sp>
        <p:nvSpPr>
          <p:cNvPr id="3" name="Shape 1"/>
          <p:cNvSpPr/>
          <p:nvPr/>
        </p:nvSpPr>
        <p:spPr>
          <a:xfrm>
            <a:off x="5364328" y="1920240"/>
            <a:ext cx="1463040" cy="1463040"/>
          </a:xfrm>
          <a:prstGeom prst="ellipse">
            <a:avLst/>
          </a:prstGeom>
          <a:solidFill>
            <a:srgbClr val="42B883"/>
          </a:solidFill>
          <a:ln/>
        </p:spPr>
        <p:txBody>
          <a:bodyPr/>
          <a:lstStyle/>
          <a:p>
            <a:endParaRPr lang="es-AR"/>
          </a:p>
        </p:txBody>
      </p:sp>
      <p:pic>
        <p:nvPicPr>
          <p:cNvPr id="4" name="Image 0" descr="/home/claude/vue-poc/assets/icons/comments_w.png"/>
          <p:cNvPicPr>
            <a:picLocks noChangeAspect="1"/>
          </p:cNvPicPr>
          <p:nvPr/>
        </p:nvPicPr>
        <p:blipFill>
          <a:blip r:embed="rId3"/>
          <a:stretch>
            <a:fillRect/>
          </a:stretch>
        </p:blipFill>
        <p:spPr>
          <a:xfrm>
            <a:off x="5569153" y="2125066"/>
            <a:ext cx="1053389" cy="1053389"/>
          </a:xfrm>
          <a:prstGeom prst="rect">
            <a:avLst/>
          </a:prstGeom>
        </p:spPr>
      </p:pic>
      <p:sp>
        <p:nvSpPr>
          <p:cNvPr id="5" name="Text 2"/>
          <p:cNvSpPr txBox="1"/>
          <p:nvPr/>
        </p:nvSpPr>
        <p:spPr>
          <a:xfrm>
            <a:off x="0" y="365760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6" name="Text 3"/>
          <p:cNvSpPr txBox="1"/>
          <p:nvPr/>
        </p:nvSpPr>
        <p:spPr>
          <a:xfrm>
            <a:off x="0" y="4480560"/>
            <a:ext cx="12191695" cy="457200"/>
          </a:xfrm>
          <a:prstGeom prst="rect">
            <a:avLst/>
          </a:prstGeom>
          <a:noFill/>
          <a:ln/>
        </p:spPr>
        <p:txBody>
          <a:bodyPr wrap="square" lIns="0" tIns="0" rIns="0" bIns="0" rtlCol="0" anchor="ctr"/>
          <a:lstStyle/>
          <a:p>
            <a:pPr marL="0" indent="0" algn="ctr">
              <a:buNone/>
            </a:pPr>
            <a:r>
              <a:rPr lang="en-US" sz="2400" dirty="0">
                <a:solidFill>
                  <a:srgbClr val="42B883"/>
                </a:solidFill>
                <a:latin typeface="Calibri" pitchFamily="34" charset="0"/>
                <a:ea typeface="Calibri" pitchFamily="34" charset="-122"/>
                <a:cs typeface="Calibri" pitchFamily="34" charset="-120"/>
              </a:rPr>
              <a:t>Espacio de preguntas</a:t>
            </a:r>
            <a:endParaRPr lang="en-US" sz="2400" dirty="0"/>
          </a:p>
        </p:txBody>
      </p:sp>
      <p:sp>
        <p:nvSpPr>
          <p:cNvPr id="7" name="Text 4"/>
          <p:cNvSpPr txBox="1"/>
          <p:nvPr/>
        </p:nvSpPr>
        <p:spPr>
          <a:xfrm>
            <a:off x="0" y="6126480"/>
            <a:ext cx="12191695" cy="365760"/>
          </a:xfrm>
          <a:prstGeom prst="rect">
            <a:avLst/>
          </a:prstGeom>
          <a:noFill/>
          <a:ln/>
        </p:spPr>
        <p:txBody>
          <a:bodyPr wrap="square" lIns="0" tIns="0" rIns="0" bIns="0" rtlCol="0" anchor="ctr"/>
          <a:lstStyle/>
          <a:p>
            <a:pPr marL="0" indent="0" algn="ctr">
              <a:buNone/>
            </a:pPr>
            <a:r>
              <a:rPr lang="en-US" sz="1300" dirty="0">
                <a:solidFill>
                  <a:srgbClr val="8FA3A0"/>
                </a:solidFill>
                <a:latin typeface="Calibri" pitchFamily="34" charset="0"/>
                <a:ea typeface="Calibri" pitchFamily="34" charset="-122"/>
                <a:cs typeface="Calibri" pitchFamily="34" charset="-120"/>
              </a:rPr>
              <a:t>Mateo  ·  Manuel  ·  Marco  ·  Victoria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TotalTime>
  <Words>4800</Words>
  <Application>Microsoft Office PowerPoint</Application>
  <PresentationFormat>Panorámica</PresentationFormat>
  <Paragraphs>598</Paragraphs>
  <Slides>37</Slides>
  <Notes>36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37</vt:i4>
      </vt:variant>
    </vt:vector>
  </HeadingPairs>
  <TitlesOfParts>
    <vt:vector size="42"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Mateo Jager</cp:lastModifiedBy>
  <cp:revision>4</cp:revision>
  <dcterms:created xsi:type="dcterms:W3CDTF">2026-09-22T14:01:25Z</dcterms:created>
  <dcterms:modified xsi:type="dcterms:W3CDTF">2026-09-24T16:23:16Z</dcterms:modified>
</cp:coreProperties>
</file>